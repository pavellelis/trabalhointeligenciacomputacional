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3" r:id="rId4"/>
    <p:sldId id="275" r:id="rId5"/>
    <p:sldId id="269" r:id="rId6"/>
    <p:sldId id="277" r:id="rId7"/>
    <p:sldId id="270" r:id="rId8"/>
    <p:sldId id="276" r:id="rId9"/>
    <p:sldId id="271" r:id="rId10"/>
    <p:sldId id="272" r:id="rId11"/>
    <p:sldId id="267" r:id="rId12"/>
  </p:sldIdLst>
  <p:sldSz cx="12192000" cy="6856413"/>
  <p:notesSz cx="12192000" cy="8305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6EEA"/>
    <a:srgbClr val="2D6AE8"/>
    <a:srgbClr val="2F6DEA"/>
    <a:srgbClr val="3476EF"/>
    <a:srgbClr val="60A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94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415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415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0DB4F3-B1AC-4443-AB4B-431FB9B66074}" type="datetimeFigureOut">
              <a:rPr lang="pt-BR" smtClean="0"/>
              <a:t>17/06/2025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603625" y="1038225"/>
            <a:ext cx="4984750" cy="2803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997325"/>
            <a:ext cx="9753600" cy="32702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889875"/>
            <a:ext cx="5283200" cy="415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7889875"/>
            <a:ext cx="5283200" cy="415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9D7-1DEC-4D18-8A67-88A4D1609C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5171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299208"/>
            <a:ext cx="10363200" cy="15575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B3D4F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4153408"/>
            <a:ext cx="8534400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2B3D4F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B3D4F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2B3D4F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B3D4F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705864"/>
            <a:ext cx="5303520" cy="48950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705864"/>
            <a:ext cx="5303520" cy="48950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2B3D4F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76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899" y="389933"/>
            <a:ext cx="6149975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B3D4F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26163" y="1974214"/>
            <a:ext cx="8339673" cy="1731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2B3D4F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897624"/>
            <a:ext cx="3901440" cy="370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897624"/>
            <a:ext cx="2804160" cy="370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897624"/>
            <a:ext cx="2804160" cy="370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doi.org/10.1145/3604812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48740"/>
            <a:chOff x="0" y="0"/>
            <a:chExt cx="12191999" cy="741578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741578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8598" y="118268"/>
              <a:ext cx="11887200" cy="7086600"/>
            </a:xfrm>
            <a:custGeom>
              <a:avLst/>
              <a:gdLst/>
              <a:ahLst/>
              <a:cxnLst/>
              <a:rect l="l" t="t" r="r" b="b"/>
              <a:pathLst>
                <a:path w="11887200" h="7086600">
                  <a:moveTo>
                    <a:pt x="11816002" y="7086598"/>
                  </a:moveTo>
                  <a:lnTo>
                    <a:pt x="71196" y="7086598"/>
                  </a:lnTo>
                  <a:lnTo>
                    <a:pt x="66241" y="7086109"/>
                  </a:lnTo>
                  <a:lnTo>
                    <a:pt x="29705" y="7070976"/>
                  </a:lnTo>
                  <a:lnTo>
                    <a:pt x="3885" y="7034936"/>
                  </a:lnTo>
                  <a:lnTo>
                    <a:pt x="0" y="7015402"/>
                  </a:lnTo>
                  <a:lnTo>
                    <a:pt x="0" y="70103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2" y="3885"/>
                  </a:lnTo>
                  <a:lnTo>
                    <a:pt x="71196" y="0"/>
                  </a:lnTo>
                  <a:lnTo>
                    <a:pt x="11816002" y="0"/>
                  </a:lnTo>
                  <a:lnTo>
                    <a:pt x="11857492" y="15621"/>
                  </a:lnTo>
                  <a:lnTo>
                    <a:pt x="11883312" y="51661"/>
                  </a:lnTo>
                  <a:lnTo>
                    <a:pt x="11887197" y="71196"/>
                  </a:lnTo>
                  <a:lnTo>
                    <a:pt x="11887197" y="7015402"/>
                  </a:lnTo>
                  <a:lnTo>
                    <a:pt x="11871575" y="7056893"/>
                  </a:lnTo>
                  <a:lnTo>
                    <a:pt x="11835535" y="7082712"/>
                  </a:lnTo>
                  <a:lnTo>
                    <a:pt x="11820956" y="7086110"/>
                  </a:lnTo>
                  <a:lnTo>
                    <a:pt x="11816002" y="70865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161924"/>
              <a:ext cx="11887199" cy="761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91729" y="1214919"/>
              <a:ext cx="7516495" cy="2033905"/>
            </a:xfrm>
            <a:custGeom>
              <a:avLst/>
              <a:gdLst/>
              <a:ahLst/>
              <a:cxnLst/>
              <a:rect l="l" t="t" r="r" b="b"/>
              <a:pathLst>
                <a:path w="7516495" h="2033905">
                  <a:moveTo>
                    <a:pt x="571500" y="554558"/>
                  </a:moveTo>
                  <a:lnTo>
                    <a:pt x="568413" y="512635"/>
                  </a:lnTo>
                  <a:lnTo>
                    <a:pt x="559193" y="471614"/>
                  </a:lnTo>
                  <a:lnTo>
                    <a:pt x="544068" y="432384"/>
                  </a:lnTo>
                  <a:lnTo>
                    <a:pt x="523341" y="395808"/>
                  </a:lnTo>
                  <a:lnTo>
                    <a:pt x="497484" y="362661"/>
                  </a:lnTo>
                  <a:lnTo>
                    <a:pt x="467029" y="333667"/>
                  </a:lnTo>
                  <a:lnTo>
                    <a:pt x="432663" y="309460"/>
                  </a:lnTo>
                  <a:lnTo>
                    <a:pt x="395109" y="290563"/>
                  </a:lnTo>
                  <a:lnTo>
                    <a:pt x="355180" y="277368"/>
                  </a:lnTo>
                  <a:lnTo>
                    <a:pt x="313766" y="270179"/>
                  </a:lnTo>
                  <a:lnTo>
                    <a:pt x="285750" y="268808"/>
                  </a:lnTo>
                  <a:lnTo>
                    <a:pt x="271729" y="269151"/>
                  </a:lnTo>
                  <a:lnTo>
                    <a:pt x="230009" y="274294"/>
                  </a:lnTo>
                  <a:lnTo>
                    <a:pt x="189484" y="285508"/>
                  </a:lnTo>
                  <a:lnTo>
                    <a:pt x="151053" y="302552"/>
                  </a:lnTo>
                  <a:lnTo>
                    <a:pt x="115531" y="325043"/>
                  </a:lnTo>
                  <a:lnTo>
                    <a:pt x="83693" y="352501"/>
                  </a:lnTo>
                  <a:lnTo>
                    <a:pt x="56235" y="384340"/>
                  </a:lnTo>
                  <a:lnTo>
                    <a:pt x="33743" y="419862"/>
                  </a:lnTo>
                  <a:lnTo>
                    <a:pt x="16700" y="458292"/>
                  </a:lnTo>
                  <a:lnTo>
                    <a:pt x="5499" y="498817"/>
                  </a:lnTo>
                  <a:lnTo>
                    <a:pt x="342" y="540537"/>
                  </a:lnTo>
                  <a:lnTo>
                    <a:pt x="0" y="554558"/>
                  </a:lnTo>
                  <a:lnTo>
                    <a:pt x="342" y="568579"/>
                  </a:lnTo>
                  <a:lnTo>
                    <a:pt x="5499" y="610311"/>
                  </a:lnTo>
                  <a:lnTo>
                    <a:pt x="16700" y="650824"/>
                  </a:lnTo>
                  <a:lnTo>
                    <a:pt x="33743" y="689254"/>
                  </a:lnTo>
                  <a:lnTo>
                    <a:pt x="56235" y="724776"/>
                  </a:lnTo>
                  <a:lnTo>
                    <a:pt x="83693" y="756615"/>
                  </a:lnTo>
                  <a:lnTo>
                    <a:pt x="115531" y="784072"/>
                  </a:lnTo>
                  <a:lnTo>
                    <a:pt x="151053" y="806564"/>
                  </a:lnTo>
                  <a:lnTo>
                    <a:pt x="189484" y="823607"/>
                  </a:lnTo>
                  <a:lnTo>
                    <a:pt x="230009" y="834821"/>
                  </a:lnTo>
                  <a:lnTo>
                    <a:pt x="271729" y="839965"/>
                  </a:lnTo>
                  <a:lnTo>
                    <a:pt x="285750" y="840308"/>
                  </a:lnTo>
                  <a:lnTo>
                    <a:pt x="299770" y="839965"/>
                  </a:lnTo>
                  <a:lnTo>
                    <a:pt x="341503" y="834821"/>
                  </a:lnTo>
                  <a:lnTo>
                    <a:pt x="382016" y="823607"/>
                  </a:lnTo>
                  <a:lnTo>
                    <a:pt x="420458" y="806564"/>
                  </a:lnTo>
                  <a:lnTo>
                    <a:pt x="455968" y="784072"/>
                  </a:lnTo>
                  <a:lnTo>
                    <a:pt x="487807" y="756615"/>
                  </a:lnTo>
                  <a:lnTo>
                    <a:pt x="515264" y="724776"/>
                  </a:lnTo>
                  <a:lnTo>
                    <a:pt x="537756" y="689254"/>
                  </a:lnTo>
                  <a:lnTo>
                    <a:pt x="554799" y="650824"/>
                  </a:lnTo>
                  <a:lnTo>
                    <a:pt x="566013" y="610311"/>
                  </a:lnTo>
                  <a:lnTo>
                    <a:pt x="571157" y="568579"/>
                  </a:lnTo>
                  <a:lnTo>
                    <a:pt x="571500" y="554558"/>
                  </a:lnTo>
                  <a:close/>
                </a:path>
                <a:path w="7516495" h="2033905">
                  <a:moveTo>
                    <a:pt x="1446326" y="1891017"/>
                  </a:moveTo>
                  <a:lnTo>
                    <a:pt x="1440167" y="1849539"/>
                  </a:lnTo>
                  <a:lnTo>
                    <a:pt x="1422247" y="1811642"/>
                  </a:lnTo>
                  <a:lnTo>
                    <a:pt x="1394091" y="1780578"/>
                  </a:lnTo>
                  <a:lnTo>
                    <a:pt x="1358125" y="1759026"/>
                  </a:lnTo>
                  <a:lnTo>
                    <a:pt x="1317447" y="1748828"/>
                  </a:lnTo>
                  <a:lnTo>
                    <a:pt x="1303451" y="1748142"/>
                  </a:lnTo>
                  <a:lnTo>
                    <a:pt x="1296428" y="1748320"/>
                  </a:lnTo>
                  <a:lnTo>
                    <a:pt x="1255318" y="1756498"/>
                  </a:lnTo>
                  <a:lnTo>
                    <a:pt x="1218323" y="1776260"/>
                  </a:lnTo>
                  <a:lnTo>
                    <a:pt x="1188694" y="1805901"/>
                  </a:lnTo>
                  <a:lnTo>
                    <a:pt x="1168920" y="1842897"/>
                  </a:lnTo>
                  <a:lnTo>
                    <a:pt x="1160741" y="1884006"/>
                  </a:lnTo>
                  <a:lnTo>
                    <a:pt x="1160576" y="1891017"/>
                  </a:lnTo>
                  <a:lnTo>
                    <a:pt x="1160741" y="1898040"/>
                  </a:lnTo>
                  <a:lnTo>
                    <a:pt x="1168920" y="1939150"/>
                  </a:lnTo>
                  <a:lnTo>
                    <a:pt x="1188694" y="1976132"/>
                  </a:lnTo>
                  <a:lnTo>
                    <a:pt x="1218323" y="2005774"/>
                  </a:lnTo>
                  <a:lnTo>
                    <a:pt x="1255318" y="2025548"/>
                  </a:lnTo>
                  <a:lnTo>
                    <a:pt x="1296428" y="2033727"/>
                  </a:lnTo>
                  <a:lnTo>
                    <a:pt x="1303451" y="2033892"/>
                  </a:lnTo>
                  <a:lnTo>
                    <a:pt x="1310462" y="2033727"/>
                  </a:lnTo>
                  <a:lnTo>
                    <a:pt x="1351572" y="2025548"/>
                  </a:lnTo>
                  <a:lnTo>
                    <a:pt x="1388567" y="2005774"/>
                  </a:lnTo>
                  <a:lnTo>
                    <a:pt x="1418196" y="1976132"/>
                  </a:lnTo>
                  <a:lnTo>
                    <a:pt x="1437970" y="1939150"/>
                  </a:lnTo>
                  <a:lnTo>
                    <a:pt x="1446149" y="1898040"/>
                  </a:lnTo>
                  <a:lnTo>
                    <a:pt x="1446326" y="1891017"/>
                  </a:lnTo>
                  <a:close/>
                </a:path>
                <a:path w="7516495" h="2033905">
                  <a:moveTo>
                    <a:pt x="7516279" y="207302"/>
                  </a:moveTo>
                  <a:lnTo>
                    <a:pt x="7510793" y="165620"/>
                  </a:lnTo>
                  <a:lnTo>
                    <a:pt x="7497280" y="125818"/>
                  </a:lnTo>
                  <a:lnTo>
                    <a:pt x="7476261" y="89420"/>
                  </a:lnTo>
                  <a:lnTo>
                    <a:pt x="7448550" y="57810"/>
                  </a:lnTo>
                  <a:lnTo>
                    <a:pt x="7415200" y="32219"/>
                  </a:lnTo>
                  <a:lnTo>
                    <a:pt x="7377493" y="13627"/>
                  </a:lnTo>
                  <a:lnTo>
                    <a:pt x="7336891" y="2755"/>
                  </a:lnTo>
                  <a:lnTo>
                    <a:pt x="7308990" y="0"/>
                  </a:lnTo>
                  <a:lnTo>
                    <a:pt x="7294943" y="0"/>
                  </a:lnTo>
                  <a:lnTo>
                    <a:pt x="7253275" y="5486"/>
                  </a:lnTo>
                  <a:lnTo>
                    <a:pt x="7213473" y="18999"/>
                  </a:lnTo>
                  <a:lnTo>
                    <a:pt x="7177062" y="40017"/>
                  </a:lnTo>
                  <a:lnTo>
                    <a:pt x="7145464" y="67741"/>
                  </a:lnTo>
                  <a:lnTo>
                    <a:pt x="7119874" y="101092"/>
                  </a:lnTo>
                  <a:lnTo>
                    <a:pt x="7101281" y="138785"/>
                  </a:lnTo>
                  <a:lnTo>
                    <a:pt x="7090410" y="179387"/>
                  </a:lnTo>
                  <a:lnTo>
                    <a:pt x="7087654" y="207302"/>
                  </a:lnTo>
                  <a:lnTo>
                    <a:pt x="7087654" y="221335"/>
                  </a:lnTo>
                  <a:lnTo>
                    <a:pt x="7093140" y="263004"/>
                  </a:lnTo>
                  <a:lnTo>
                    <a:pt x="7106653" y="302818"/>
                  </a:lnTo>
                  <a:lnTo>
                    <a:pt x="7127672" y="339217"/>
                  </a:lnTo>
                  <a:lnTo>
                    <a:pt x="7155383" y="370827"/>
                  </a:lnTo>
                  <a:lnTo>
                    <a:pt x="7188733" y="396405"/>
                  </a:lnTo>
                  <a:lnTo>
                    <a:pt x="7226440" y="414997"/>
                  </a:lnTo>
                  <a:lnTo>
                    <a:pt x="7267041" y="425881"/>
                  </a:lnTo>
                  <a:lnTo>
                    <a:pt x="7294943" y="428625"/>
                  </a:lnTo>
                  <a:lnTo>
                    <a:pt x="7308990" y="428625"/>
                  </a:lnTo>
                  <a:lnTo>
                    <a:pt x="7350658" y="423138"/>
                  </a:lnTo>
                  <a:lnTo>
                    <a:pt x="7390460" y="409625"/>
                  </a:lnTo>
                  <a:lnTo>
                    <a:pt x="7426871" y="388607"/>
                  </a:lnTo>
                  <a:lnTo>
                    <a:pt x="7458469" y="360895"/>
                  </a:lnTo>
                  <a:lnTo>
                    <a:pt x="7484059" y="327545"/>
                  </a:lnTo>
                  <a:lnTo>
                    <a:pt x="7502652" y="289839"/>
                  </a:lnTo>
                  <a:lnTo>
                    <a:pt x="7513536" y="249237"/>
                  </a:lnTo>
                  <a:lnTo>
                    <a:pt x="7516279" y="221335"/>
                  </a:lnTo>
                  <a:lnTo>
                    <a:pt x="7516279" y="214312"/>
                  </a:lnTo>
                  <a:lnTo>
                    <a:pt x="7516279" y="207302"/>
                  </a:lnTo>
                  <a:close/>
                </a:path>
              </a:pathLst>
            </a:custGeom>
            <a:solidFill>
              <a:srgbClr val="3398DA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58349" y="4410074"/>
              <a:ext cx="238124" cy="2381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905375" y="547687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20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90"/>
                  </a:lnTo>
                  <a:lnTo>
                    <a:pt x="35798" y="363935"/>
                  </a:lnTo>
                  <a:lnTo>
                    <a:pt x="15141" y="322046"/>
                  </a:lnTo>
                  <a:lnTo>
                    <a:pt x="3054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20"/>
                  </a:lnTo>
                  <a:lnTo>
                    <a:pt x="21110" y="139793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4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4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8"/>
                  </a:lnTo>
                  <a:lnTo>
                    <a:pt x="476249" y="230326"/>
                  </a:lnTo>
                  <a:lnTo>
                    <a:pt x="476249" y="238124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9"/>
                  </a:lnTo>
                  <a:lnTo>
                    <a:pt x="363935" y="440451"/>
                  </a:lnTo>
                  <a:lnTo>
                    <a:pt x="322046" y="461108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3398DA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399" y="7172324"/>
              <a:ext cx="11887199" cy="7619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2002361" y="2163762"/>
            <a:ext cx="8339673" cy="173164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 algn="ctr">
              <a:lnSpc>
                <a:spcPct val="89800"/>
              </a:lnSpc>
              <a:spcBef>
                <a:spcPts val="595"/>
              </a:spcBef>
            </a:pPr>
            <a:r>
              <a:rPr b="0" spc="-260" dirty="0"/>
              <a:t>SPSO+AP+AD:</a:t>
            </a:r>
            <a:r>
              <a:rPr b="0" spc="-50" dirty="0"/>
              <a:t> </a:t>
            </a:r>
            <a:r>
              <a:rPr b="0" spc="-220" dirty="0" err="1"/>
              <a:t>Otimização</a:t>
            </a:r>
            <a:r>
              <a:rPr b="0" spc="-50" dirty="0"/>
              <a:t> </a:t>
            </a:r>
            <a:r>
              <a:rPr b="0" spc="-215" dirty="0" err="1"/>
              <a:t>por</a:t>
            </a:r>
            <a:r>
              <a:rPr b="0" spc="-50" dirty="0"/>
              <a:t> </a:t>
            </a:r>
            <a:r>
              <a:rPr b="0" spc="-45" dirty="0"/>
              <a:t>Enxame </a:t>
            </a:r>
            <a:r>
              <a:rPr b="0" spc="-240" dirty="0"/>
              <a:t>de</a:t>
            </a:r>
            <a:r>
              <a:rPr b="0" spc="-60" dirty="0"/>
              <a:t> </a:t>
            </a:r>
            <a:r>
              <a:rPr b="0" spc="-190" dirty="0" err="1"/>
              <a:t>Partículas</a:t>
            </a:r>
            <a:r>
              <a:rPr b="0" spc="-60" dirty="0"/>
              <a:t> </a:t>
            </a:r>
            <a:r>
              <a:rPr b="0" spc="-240" dirty="0" err="1"/>
              <a:t>Baseada</a:t>
            </a:r>
            <a:r>
              <a:rPr b="0" spc="-55" dirty="0"/>
              <a:t> </a:t>
            </a:r>
            <a:r>
              <a:rPr b="0" spc="-295" dirty="0"/>
              <a:t>em</a:t>
            </a:r>
            <a:r>
              <a:rPr b="0" spc="-60" dirty="0"/>
              <a:t> </a:t>
            </a:r>
            <a:r>
              <a:rPr b="0" spc="-220" dirty="0"/>
              <a:t>Espécies</a:t>
            </a:r>
            <a:r>
              <a:rPr b="0" spc="-55" dirty="0"/>
              <a:t> </a:t>
            </a:r>
            <a:r>
              <a:rPr b="0" spc="-275" dirty="0"/>
              <a:t>para </a:t>
            </a:r>
            <a:r>
              <a:rPr lang="pt-BR" b="0" spc="-240" dirty="0"/>
              <a:t>Problemas</a:t>
            </a:r>
            <a:r>
              <a:rPr lang="pt-BR" b="0" spc="-40" dirty="0"/>
              <a:t> </a:t>
            </a:r>
            <a:r>
              <a:rPr lang="pt-BR" b="0" spc="-100" dirty="0"/>
              <a:t>Dinâmicos</a:t>
            </a:r>
            <a:endParaRPr b="0" spc="-100" dirty="0"/>
          </a:p>
        </p:txBody>
      </p:sp>
      <p:sp>
        <p:nvSpPr>
          <p:cNvPr id="12" name="object 12"/>
          <p:cNvSpPr txBox="1"/>
          <p:nvPr/>
        </p:nvSpPr>
        <p:spPr>
          <a:xfrm>
            <a:off x="2693739" y="3895407"/>
            <a:ext cx="6804659" cy="1005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65"/>
              </a:spcBef>
            </a:pPr>
            <a:endParaRPr sz="1800" dirty="0">
              <a:latin typeface="Roboto Medium"/>
              <a:cs typeface="Roboto Medium"/>
            </a:endParaRPr>
          </a:p>
          <a:p>
            <a:pPr algn="ctr">
              <a:lnSpc>
                <a:spcPct val="100000"/>
              </a:lnSpc>
            </a:pPr>
            <a:r>
              <a:rPr sz="1650" spc="-85" dirty="0">
                <a:solidFill>
                  <a:srgbClr val="566573"/>
                </a:solidFill>
                <a:latin typeface="Roboto"/>
                <a:cs typeface="Roboto"/>
              </a:rPr>
              <a:t>Apresentado</a:t>
            </a:r>
            <a:r>
              <a:rPr sz="1650" spc="-5" dirty="0">
                <a:solidFill>
                  <a:srgbClr val="566573"/>
                </a:solidFill>
                <a:latin typeface="Roboto"/>
                <a:cs typeface="Roboto"/>
              </a:rPr>
              <a:t> </a:t>
            </a:r>
            <a:r>
              <a:rPr sz="1650" spc="-25" dirty="0">
                <a:solidFill>
                  <a:srgbClr val="566573"/>
                </a:solidFill>
                <a:latin typeface="Roboto"/>
                <a:cs typeface="Roboto"/>
              </a:rPr>
              <a:t>por</a:t>
            </a:r>
            <a:endParaRPr sz="1650" dirty="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195"/>
              </a:spcBef>
            </a:pPr>
            <a:r>
              <a:rPr sz="2000" b="0" spc="-120" dirty="0">
                <a:solidFill>
                  <a:srgbClr val="566573"/>
                </a:solidFill>
                <a:latin typeface="Roboto Medium"/>
                <a:cs typeface="Roboto Medium"/>
              </a:rPr>
              <a:t>Pável</a:t>
            </a:r>
            <a:r>
              <a:rPr sz="2000" b="0" spc="-5" dirty="0">
                <a:solidFill>
                  <a:srgbClr val="566573"/>
                </a:solidFill>
                <a:latin typeface="Roboto Medium"/>
                <a:cs typeface="Roboto Medium"/>
              </a:rPr>
              <a:t> </a:t>
            </a:r>
            <a:r>
              <a:rPr sz="2000" b="0" spc="-130" dirty="0">
                <a:solidFill>
                  <a:srgbClr val="566573"/>
                </a:solidFill>
                <a:latin typeface="Roboto Medium"/>
                <a:cs typeface="Roboto Medium"/>
              </a:rPr>
              <a:t>Emmanuel</a:t>
            </a:r>
            <a:r>
              <a:rPr sz="2000" b="0" dirty="0">
                <a:solidFill>
                  <a:srgbClr val="566573"/>
                </a:solidFill>
                <a:latin typeface="Roboto Medium"/>
                <a:cs typeface="Roboto Medium"/>
              </a:rPr>
              <a:t> </a:t>
            </a:r>
            <a:r>
              <a:rPr sz="2000" b="0" spc="-114" dirty="0">
                <a:solidFill>
                  <a:srgbClr val="566573"/>
                </a:solidFill>
                <a:latin typeface="Roboto Medium"/>
                <a:cs typeface="Roboto Medium"/>
              </a:rPr>
              <a:t>Pereira</a:t>
            </a:r>
            <a:r>
              <a:rPr sz="2000" b="0" dirty="0">
                <a:solidFill>
                  <a:srgbClr val="566573"/>
                </a:solidFill>
                <a:latin typeface="Roboto Medium"/>
                <a:cs typeface="Roboto Medium"/>
              </a:rPr>
              <a:t> </a:t>
            </a:r>
            <a:r>
              <a:rPr sz="2000" b="0" spc="-20" dirty="0">
                <a:solidFill>
                  <a:srgbClr val="566573"/>
                </a:solidFill>
                <a:latin typeface="Roboto Medium"/>
                <a:cs typeface="Roboto Medium"/>
              </a:rPr>
              <a:t>Lelis</a:t>
            </a:r>
            <a:endParaRPr sz="2000" dirty="0">
              <a:latin typeface="Roboto Medium"/>
              <a:cs typeface="Roboto Medi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16598" y="5902372"/>
            <a:ext cx="29591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6095" marR="5080" indent="-494030">
              <a:lnSpc>
                <a:spcPct val="150000"/>
              </a:lnSpc>
              <a:spcBef>
                <a:spcPts val="100"/>
              </a:spcBef>
            </a:pPr>
            <a:r>
              <a:rPr sz="1500" spc="-95" dirty="0">
                <a:solidFill>
                  <a:srgbClr val="566573"/>
                </a:solidFill>
                <a:latin typeface="Roboto"/>
                <a:cs typeface="Roboto"/>
              </a:rPr>
              <a:t>SIN5006</a:t>
            </a:r>
            <a:r>
              <a:rPr sz="1500" spc="-10" dirty="0">
                <a:solidFill>
                  <a:srgbClr val="566573"/>
                </a:solidFill>
                <a:latin typeface="Roboto"/>
                <a:cs typeface="Roboto"/>
              </a:rPr>
              <a:t> </a:t>
            </a:r>
            <a:r>
              <a:rPr sz="1500" spc="-110" dirty="0">
                <a:solidFill>
                  <a:srgbClr val="566573"/>
                </a:solidFill>
                <a:latin typeface="Roboto"/>
                <a:cs typeface="Roboto"/>
              </a:rPr>
              <a:t>–</a:t>
            </a:r>
            <a:r>
              <a:rPr sz="1500" spc="-5" dirty="0">
                <a:solidFill>
                  <a:srgbClr val="566573"/>
                </a:solidFill>
                <a:latin typeface="Roboto"/>
                <a:cs typeface="Roboto"/>
              </a:rPr>
              <a:t> </a:t>
            </a:r>
            <a:r>
              <a:rPr sz="1500" spc="-70" dirty="0">
                <a:solidFill>
                  <a:srgbClr val="566573"/>
                </a:solidFill>
                <a:latin typeface="Roboto"/>
                <a:cs typeface="Roboto"/>
              </a:rPr>
              <a:t>Inteligência</a:t>
            </a:r>
            <a:r>
              <a:rPr sz="1500" spc="-5" dirty="0">
                <a:solidFill>
                  <a:srgbClr val="566573"/>
                </a:solidFill>
                <a:latin typeface="Roboto"/>
                <a:cs typeface="Roboto"/>
              </a:rPr>
              <a:t> </a:t>
            </a:r>
            <a:r>
              <a:rPr sz="1500" spc="-80" dirty="0">
                <a:solidFill>
                  <a:srgbClr val="566573"/>
                </a:solidFill>
                <a:latin typeface="Roboto"/>
                <a:cs typeface="Roboto"/>
              </a:rPr>
              <a:t>Computacional </a:t>
            </a:r>
            <a:r>
              <a:rPr sz="1500" spc="-75" dirty="0">
                <a:solidFill>
                  <a:srgbClr val="566573"/>
                </a:solidFill>
                <a:latin typeface="Roboto"/>
                <a:cs typeface="Roboto"/>
              </a:rPr>
              <a:t>Prof.</a:t>
            </a:r>
            <a:r>
              <a:rPr sz="1500" spc="-15" dirty="0">
                <a:solidFill>
                  <a:srgbClr val="566573"/>
                </a:solidFill>
                <a:latin typeface="Roboto"/>
                <a:cs typeface="Roboto"/>
              </a:rPr>
              <a:t> </a:t>
            </a:r>
            <a:r>
              <a:rPr sz="1500" spc="-90" dirty="0">
                <a:solidFill>
                  <a:srgbClr val="566573"/>
                </a:solidFill>
                <a:latin typeface="Roboto"/>
                <a:cs typeface="Roboto"/>
              </a:rPr>
              <a:t>Dra.</a:t>
            </a:r>
            <a:r>
              <a:rPr sz="1500" spc="-15" dirty="0">
                <a:solidFill>
                  <a:srgbClr val="566573"/>
                </a:solidFill>
                <a:latin typeface="Roboto"/>
                <a:cs typeface="Roboto"/>
              </a:rPr>
              <a:t> </a:t>
            </a:r>
            <a:r>
              <a:rPr sz="1500" spc="-70" dirty="0">
                <a:solidFill>
                  <a:srgbClr val="566573"/>
                </a:solidFill>
                <a:latin typeface="Roboto"/>
                <a:cs typeface="Roboto"/>
              </a:rPr>
              <a:t>Patrícia</a:t>
            </a:r>
            <a:r>
              <a:rPr sz="1500" spc="-15" dirty="0">
                <a:solidFill>
                  <a:srgbClr val="56657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566573"/>
                </a:solidFill>
                <a:latin typeface="Roboto"/>
                <a:cs typeface="Roboto"/>
              </a:rPr>
              <a:t>Oliveira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Problemas</a:t>
            </a:r>
            <a:r>
              <a:rPr spc="-20" dirty="0"/>
              <a:t> </a:t>
            </a:r>
            <a:r>
              <a:rPr spc="-145" dirty="0"/>
              <a:t>de</a:t>
            </a:r>
            <a:r>
              <a:rPr spc="-15" dirty="0"/>
              <a:t> </a:t>
            </a:r>
            <a:r>
              <a:rPr spc="-145" dirty="0"/>
              <a:t>Otimização</a:t>
            </a:r>
            <a:r>
              <a:rPr spc="-15" dirty="0"/>
              <a:t> </a:t>
            </a:r>
            <a:r>
              <a:rPr spc="-110" dirty="0"/>
              <a:t>Dinâmica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6899" y="1001847"/>
            <a:ext cx="202946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0" spc="-90" dirty="0">
                <a:solidFill>
                  <a:srgbClr val="3398DA"/>
                </a:solidFill>
                <a:latin typeface="Roboto Medium"/>
                <a:cs typeface="Roboto Medium"/>
              </a:rPr>
              <a:t>Desafios</a:t>
            </a:r>
            <a:r>
              <a:rPr sz="1650" b="0" spc="15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650" b="0" spc="-80" dirty="0">
                <a:solidFill>
                  <a:srgbClr val="3398DA"/>
                </a:solidFill>
                <a:latin typeface="Roboto Medium"/>
                <a:cs typeface="Roboto Medium"/>
              </a:rPr>
              <a:t>Fundamentais</a:t>
            </a:r>
            <a:endParaRPr sz="1650">
              <a:latin typeface="Roboto Medium"/>
              <a:cs typeface="Roboto Mediu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362" y="1571613"/>
            <a:ext cx="142874" cy="1333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3600" y="1478533"/>
            <a:ext cx="4903470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b="0" spc="-65" dirty="0">
                <a:solidFill>
                  <a:srgbClr val="3398DA"/>
                </a:solidFill>
                <a:latin typeface="Roboto Medium"/>
                <a:cs typeface="Roboto Medium"/>
              </a:rPr>
              <a:t>Ambientes</a:t>
            </a:r>
            <a:r>
              <a:rPr sz="1300" b="0" spc="-15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300" b="0" spc="-55" dirty="0">
                <a:solidFill>
                  <a:srgbClr val="3398DA"/>
                </a:solidFill>
                <a:latin typeface="Roboto Medium"/>
                <a:cs typeface="Roboto Medium"/>
              </a:rPr>
              <a:t>Mutáveis:</a:t>
            </a:r>
            <a:r>
              <a:rPr sz="1300" b="0" spc="-10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300" spc="-85" dirty="0">
                <a:solidFill>
                  <a:srgbClr val="4A5462"/>
                </a:solidFill>
                <a:latin typeface="Roboto"/>
                <a:cs typeface="Roboto"/>
              </a:rPr>
              <a:t>A</a:t>
            </a:r>
            <a:r>
              <a:rPr sz="1300" spc="-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função</a:t>
            </a:r>
            <a:r>
              <a:rPr sz="1300" spc="-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45" dirty="0">
                <a:solidFill>
                  <a:srgbClr val="4A5462"/>
                </a:solidFill>
                <a:latin typeface="Roboto"/>
                <a:cs typeface="Roboto"/>
              </a:rPr>
              <a:t>objetivo,</a:t>
            </a:r>
            <a:r>
              <a:rPr sz="130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4A5462"/>
                </a:solidFill>
                <a:latin typeface="Roboto"/>
                <a:cs typeface="Roboto"/>
              </a:rPr>
              <a:t>restrições</a:t>
            </a:r>
            <a:r>
              <a:rPr sz="1300" spc="-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4A5462"/>
                </a:solidFill>
                <a:latin typeface="Roboto"/>
                <a:cs typeface="Roboto"/>
              </a:rPr>
              <a:t>ou</a:t>
            </a:r>
            <a:r>
              <a:rPr sz="1300" spc="-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75" dirty="0">
                <a:solidFill>
                  <a:srgbClr val="4A5462"/>
                </a:solidFill>
                <a:latin typeface="Roboto"/>
                <a:cs typeface="Roboto"/>
              </a:rPr>
              <a:t>ambos</a:t>
            </a:r>
            <a:r>
              <a:rPr sz="1300" spc="-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80" dirty="0">
                <a:solidFill>
                  <a:srgbClr val="4A5462"/>
                </a:solidFill>
                <a:latin typeface="Roboto"/>
                <a:cs typeface="Roboto"/>
              </a:rPr>
              <a:t>mudam</a:t>
            </a:r>
            <a:r>
              <a:rPr sz="1300" spc="-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25" dirty="0">
                <a:solidFill>
                  <a:srgbClr val="4A5462"/>
                </a:solidFill>
                <a:latin typeface="Roboto"/>
                <a:cs typeface="Roboto"/>
              </a:rPr>
              <a:t>ao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longo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4A5462"/>
                </a:solidFill>
                <a:latin typeface="Roboto"/>
                <a:cs typeface="Roboto"/>
              </a:rPr>
              <a:t>do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tempo,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4A5462"/>
                </a:solidFill>
                <a:latin typeface="Roboto"/>
                <a:cs typeface="Roboto"/>
              </a:rPr>
              <a:t>invalidando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4A5462"/>
                </a:solidFill>
                <a:latin typeface="Roboto"/>
                <a:cs typeface="Roboto"/>
              </a:rPr>
              <a:t>soluções</a:t>
            </a:r>
            <a:r>
              <a:rPr sz="1300" spc="1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Roboto"/>
                <a:cs typeface="Roboto"/>
              </a:rPr>
              <a:t>anteriores.</a:t>
            </a:r>
            <a:endParaRPr sz="1300" dirty="0">
              <a:latin typeface="Roboto"/>
              <a:cs typeface="Roboto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2181224"/>
            <a:ext cx="152399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3600" y="2088133"/>
            <a:ext cx="4946650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b="0" spc="-70" dirty="0">
                <a:solidFill>
                  <a:srgbClr val="3398DA"/>
                </a:solidFill>
                <a:latin typeface="Roboto Medium"/>
                <a:cs typeface="Roboto Medium"/>
              </a:rPr>
              <a:t>Perda</a:t>
            </a:r>
            <a:r>
              <a:rPr sz="1300" b="0" spc="-5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300" b="0" spc="-70" dirty="0">
                <a:solidFill>
                  <a:srgbClr val="3398DA"/>
                </a:solidFill>
                <a:latin typeface="Roboto Medium"/>
                <a:cs typeface="Roboto Medium"/>
              </a:rPr>
              <a:t>de</a:t>
            </a:r>
            <a:r>
              <a:rPr sz="1300" b="0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300" b="0" spc="-55" dirty="0">
                <a:solidFill>
                  <a:srgbClr val="3398DA"/>
                </a:solidFill>
                <a:latin typeface="Roboto Medium"/>
                <a:cs typeface="Roboto Medium"/>
              </a:rPr>
              <a:t>Diversidade:</a:t>
            </a:r>
            <a:r>
              <a:rPr sz="1300" b="0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Algoritmos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70" dirty="0">
                <a:solidFill>
                  <a:srgbClr val="4A5462"/>
                </a:solidFill>
                <a:latin typeface="Roboto"/>
                <a:cs typeface="Roboto"/>
              </a:rPr>
              <a:t>convergem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para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4A5462"/>
                </a:solidFill>
                <a:latin typeface="Roboto"/>
                <a:cs typeface="Roboto"/>
              </a:rPr>
              <a:t>ótimos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que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se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30" dirty="0">
                <a:solidFill>
                  <a:srgbClr val="4A5462"/>
                </a:solidFill>
                <a:latin typeface="Roboto"/>
                <a:cs typeface="Roboto"/>
              </a:rPr>
              <a:t>tornam </a:t>
            </a:r>
            <a:r>
              <a:rPr sz="1300" spc="-65" dirty="0">
                <a:solidFill>
                  <a:srgbClr val="4A5462"/>
                </a:solidFill>
                <a:latin typeface="Roboto"/>
                <a:cs typeface="Roboto"/>
              </a:rPr>
              <a:t>obsoletos</a:t>
            </a:r>
            <a:r>
              <a:rPr sz="1300" spc="3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4A5462"/>
                </a:solidFill>
                <a:latin typeface="Roboto"/>
                <a:cs typeface="Roboto"/>
              </a:rPr>
              <a:t>após</a:t>
            </a:r>
            <a:r>
              <a:rPr sz="1300" spc="3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70" dirty="0">
                <a:solidFill>
                  <a:srgbClr val="4A5462"/>
                </a:solidFill>
                <a:latin typeface="Roboto"/>
                <a:cs typeface="Roboto"/>
              </a:rPr>
              <a:t>mudanças</a:t>
            </a:r>
            <a:r>
              <a:rPr sz="1300" spc="3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Roboto"/>
                <a:cs typeface="Roboto"/>
              </a:rPr>
              <a:t>ambientais.</a:t>
            </a:r>
            <a:endParaRPr sz="1300" dirty="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99" y="2781299"/>
            <a:ext cx="152399" cy="1523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63600" y="2697733"/>
            <a:ext cx="4627880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b="0" spc="-60" dirty="0">
                <a:solidFill>
                  <a:srgbClr val="3398DA"/>
                </a:solidFill>
                <a:latin typeface="Roboto Medium"/>
                <a:cs typeface="Roboto Medium"/>
              </a:rPr>
              <a:t>Recursos</a:t>
            </a:r>
            <a:r>
              <a:rPr sz="1300" b="0" spc="-5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300" b="0" spc="-60" dirty="0">
                <a:solidFill>
                  <a:srgbClr val="3398DA"/>
                </a:solidFill>
                <a:latin typeface="Roboto Medium"/>
                <a:cs typeface="Roboto Medium"/>
              </a:rPr>
              <a:t>Limitados:</a:t>
            </a:r>
            <a:r>
              <a:rPr sz="1300" b="0" spc="-20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300" spc="-85" dirty="0">
                <a:solidFill>
                  <a:srgbClr val="4A5462"/>
                </a:solidFill>
                <a:latin typeface="Roboto"/>
                <a:cs typeface="Roboto"/>
              </a:rPr>
              <a:t>Tempo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computacional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45" dirty="0">
                <a:solidFill>
                  <a:srgbClr val="4A5462"/>
                </a:solidFill>
                <a:latin typeface="Roboto"/>
                <a:cs typeface="Roboto"/>
              </a:rPr>
              <a:t>restrito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entre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45" dirty="0">
                <a:solidFill>
                  <a:srgbClr val="4A5462"/>
                </a:solidFill>
                <a:latin typeface="Roboto"/>
                <a:cs typeface="Roboto"/>
              </a:rPr>
              <a:t>mudanças 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ambientais</a:t>
            </a:r>
            <a:r>
              <a:rPr sz="1300" spc="-1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para</a:t>
            </a:r>
            <a:r>
              <a:rPr sz="1300" spc="-1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encontrar</a:t>
            </a:r>
            <a:r>
              <a:rPr sz="1300" spc="-1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4A5462"/>
                </a:solidFill>
                <a:latin typeface="Roboto"/>
                <a:cs typeface="Roboto"/>
              </a:rPr>
              <a:t>e</a:t>
            </a:r>
            <a:r>
              <a:rPr sz="1300" spc="-1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4A5462"/>
                </a:solidFill>
                <a:latin typeface="Roboto"/>
                <a:cs typeface="Roboto"/>
              </a:rPr>
              <a:t>rastrear</a:t>
            </a:r>
            <a:r>
              <a:rPr sz="1300" spc="-1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70" dirty="0">
                <a:solidFill>
                  <a:srgbClr val="4A5462"/>
                </a:solidFill>
                <a:latin typeface="Roboto"/>
                <a:cs typeface="Roboto"/>
              </a:rPr>
              <a:t>novos</a:t>
            </a:r>
            <a:r>
              <a:rPr sz="1300" spc="-1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Roboto"/>
                <a:cs typeface="Roboto"/>
              </a:rPr>
              <a:t>ótimos.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599" y="3409949"/>
            <a:ext cx="171449" cy="1142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82650" y="3307334"/>
            <a:ext cx="4613275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b="0" spc="-75" dirty="0">
                <a:solidFill>
                  <a:srgbClr val="3398DA"/>
                </a:solidFill>
                <a:latin typeface="Roboto Medium"/>
                <a:cs typeface="Roboto Medium"/>
              </a:rPr>
              <a:t>Memória</a:t>
            </a:r>
            <a:r>
              <a:rPr sz="1300" b="0" spc="10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300" b="0" spc="-55" dirty="0">
                <a:solidFill>
                  <a:srgbClr val="3398DA"/>
                </a:solidFill>
                <a:latin typeface="Roboto Medium"/>
                <a:cs typeface="Roboto Medium"/>
              </a:rPr>
              <a:t>Desatualizada:</a:t>
            </a:r>
            <a:r>
              <a:rPr sz="1300" b="0" spc="15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300" spc="-65" dirty="0">
                <a:solidFill>
                  <a:srgbClr val="4A5462"/>
                </a:solidFill>
                <a:latin typeface="Roboto"/>
                <a:cs typeface="Roboto"/>
              </a:rPr>
              <a:t>Valores</a:t>
            </a:r>
            <a:r>
              <a:rPr sz="1300" spc="1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de</a:t>
            </a:r>
            <a:r>
              <a:rPr sz="1300" spc="2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fitness</a:t>
            </a:r>
            <a:r>
              <a:rPr sz="1300" spc="2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armazenados</a:t>
            </a:r>
            <a:r>
              <a:rPr sz="1300" spc="1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tornam-</a:t>
            </a:r>
            <a:r>
              <a:rPr sz="1300" spc="-25" dirty="0">
                <a:solidFill>
                  <a:srgbClr val="4A5462"/>
                </a:solidFill>
                <a:latin typeface="Roboto"/>
                <a:cs typeface="Roboto"/>
              </a:rPr>
              <a:t>se </a:t>
            </a:r>
            <a:r>
              <a:rPr sz="1300" spc="-50" dirty="0">
                <a:solidFill>
                  <a:srgbClr val="4A5462"/>
                </a:solidFill>
                <a:latin typeface="Roboto"/>
                <a:cs typeface="Roboto"/>
              </a:rPr>
              <a:t>inválidos</a:t>
            </a:r>
            <a:r>
              <a:rPr sz="130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4A5462"/>
                </a:solidFill>
                <a:latin typeface="Roboto"/>
                <a:cs typeface="Roboto"/>
              </a:rPr>
              <a:t>após</a:t>
            </a:r>
            <a:r>
              <a:rPr sz="130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cada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70" dirty="0">
                <a:solidFill>
                  <a:srgbClr val="4A5462"/>
                </a:solidFill>
                <a:latin typeface="Roboto"/>
                <a:cs typeface="Roboto"/>
              </a:rPr>
              <a:t>mudança</a:t>
            </a:r>
            <a:r>
              <a:rPr sz="130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Roboto"/>
                <a:cs typeface="Roboto"/>
              </a:rPr>
              <a:t>ambiental.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899" y="4011747"/>
            <a:ext cx="348551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0" spc="-80" dirty="0">
                <a:solidFill>
                  <a:srgbClr val="3398DA"/>
                </a:solidFill>
                <a:latin typeface="Roboto Medium"/>
                <a:cs typeface="Roboto Medium"/>
              </a:rPr>
              <a:t>Limitações</a:t>
            </a:r>
            <a:r>
              <a:rPr sz="1650" b="0" spc="-10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650" b="0" spc="-95" dirty="0">
                <a:solidFill>
                  <a:srgbClr val="3398DA"/>
                </a:solidFill>
                <a:latin typeface="Roboto Medium"/>
                <a:cs typeface="Roboto Medium"/>
              </a:rPr>
              <a:t>das</a:t>
            </a:r>
            <a:r>
              <a:rPr sz="1650" b="0" spc="-10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650" b="0" spc="-95" dirty="0">
                <a:solidFill>
                  <a:srgbClr val="3398DA"/>
                </a:solidFill>
                <a:latin typeface="Roboto Medium"/>
                <a:cs typeface="Roboto Medium"/>
              </a:rPr>
              <a:t>Abordagens</a:t>
            </a:r>
            <a:r>
              <a:rPr sz="1650" b="0" spc="-45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650" b="0" spc="-70" dirty="0">
                <a:solidFill>
                  <a:srgbClr val="3398DA"/>
                </a:solidFill>
                <a:latin typeface="Roboto Medium"/>
                <a:cs typeface="Roboto Medium"/>
              </a:rPr>
              <a:t>Tradicionais</a:t>
            </a:r>
            <a:endParaRPr sz="1650">
              <a:latin typeface="Roboto Medium"/>
              <a:cs typeface="Roboto Medium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599" y="4571999"/>
            <a:ext cx="190499" cy="1523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01700" y="4488433"/>
            <a:ext cx="4914265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spc="-65" dirty="0">
                <a:solidFill>
                  <a:srgbClr val="4A5462"/>
                </a:solidFill>
                <a:latin typeface="Roboto"/>
                <a:cs typeface="Roboto"/>
              </a:rPr>
              <a:t>Métodos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4A5462"/>
                </a:solidFill>
                <a:latin typeface="Roboto"/>
                <a:cs typeface="Roboto"/>
              </a:rPr>
              <a:t>multi-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populacionais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75" dirty="0">
                <a:solidFill>
                  <a:srgbClr val="4A5462"/>
                </a:solidFill>
                <a:latin typeface="Roboto"/>
                <a:cs typeface="Roboto"/>
              </a:rPr>
              <a:t>com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b="0" spc="-65" dirty="0">
                <a:solidFill>
                  <a:srgbClr val="3398DA"/>
                </a:solidFill>
                <a:latin typeface="Roboto Medium"/>
                <a:cs typeface="Roboto Medium"/>
              </a:rPr>
              <a:t>tamanho</a:t>
            </a:r>
            <a:r>
              <a:rPr sz="1300" b="0" spc="5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300" b="0" spc="-65" dirty="0">
                <a:solidFill>
                  <a:srgbClr val="3398DA"/>
                </a:solidFill>
                <a:latin typeface="Roboto Medium"/>
                <a:cs typeface="Roboto Medium"/>
              </a:rPr>
              <a:t>fixo</a:t>
            </a:r>
            <a:r>
              <a:rPr sz="1300" b="0" dirty="0">
                <a:solidFill>
                  <a:srgbClr val="3398DA"/>
                </a:solidFill>
                <a:latin typeface="Roboto Medium"/>
                <a:cs typeface="Roboto Medium"/>
              </a:rPr>
              <a:t> </a:t>
            </a:r>
            <a:r>
              <a:rPr sz="1300" spc="-65" dirty="0">
                <a:solidFill>
                  <a:srgbClr val="4A5462"/>
                </a:solidFill>
                <a:latin typeface="Roboto"/>
                <a:cs typeface="Roboto"/>
              </a:rPr>
              <a:t>são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4A5462"/>
                </a:solidFill>
                <a:latin typeface="Roboto"/>
                <a:cs typeface="Roboto"/>
              </a:rPr>
              <a:t>ineficientes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30" dirty="0">
                <a:solidFill>
                  <a:srgbClr val="4A5462"/>
                </a:solidFill>
                <a:latin typeface="Roboto"/>
                <a:cs typeface="Roboto"/>
              </a:rPr>
              <a:t>quando </a:t>
            </a:r>
            <a:r>
              <a:rPr sz="1300" spc="-70" dirty="0">
                <a:solidFill>
                  <a:srgbClr val="4A5462"/>
                </a:solidFill>
                <a:latin typeface="Roboto"/>
                <a:cs typeface="Roboto"/>
              </a:rPr>
              <a:t>o</a:t>
            </a:r>
            <a:r>
              <a:rPr sz="1300" spc="-1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70" dirty="0">
                <a:solidFill>
                  <a:srgbClr val="4A5462"/>
                </a:solidFill>
                <a:latin typeface="Roboto"/>
                <a:cs typeface="Roboto"/>
              </a:rPr>
              <a:t>número</a:t>
            </a:r>
            <a:r>
              <a:rPr sz="1300" spc="-1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de</a:t>
            </a:r>
            <a:r>
              <a:rPr sz="1300" spc="-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regiões</a:t>
            </a:r>
            <a:r>
              <a:rPr sz="1300" spc="-1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promissoras</a:t>
            </a:r>
            <a:r>
              <a:rPr sz="1300" spc="-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4A5462"/>
                </a:solidFill>
                <a:latin typeface="Roboto"/>
                <a:cs typeface="Roboto"/>
              </a:rPr>
              <a:t>é</a:t>
            </a:r>
            <a:r>
              <a:rPr sz="1300" spc="-1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desconhecido</a:t>
            </a:r>
            <a:r>
              <a:rPr sz="1300" spc="-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4A5462"/>
                </a:solidFill>
                <a:latin typeface="Roboto"/>
                <a:cs typeface="Roboto"/>
              </a:rPr>
              <a:t>ou</a:t>
            </a:r>
            <a:r>
              <a:rPr sz="1300" spc="-10" dirty="0">
                <a:solidFill>
                  <a:srgbClr val="4A5462"/>
                </a:solidFill>
                <a:latin typeface="Roboto"/>
                <a:cs typeface="Roboto"/>
              </a:rPr>
              <a:t> varia.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093" y="5181599"/>
            <a:ext cx="191184" cy="1523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01700" y="5098033"/>
            <a:ext cx="4952365" cy="482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sz="1300" spc="-65" dirty="0">
                <a:solidFill>
                  <a:srgbClr val="4A5462"/>
                </a:solidFill>
                <a:latin typeface="Roboto"/>
                <a:cs typeface="Roboto"/>
              </a:rPr>
              <a:t>Alocação</a:t>
            </a:r>
            <a:r>
              <a:rPr sz="130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inadequada</a:t>
            </a:r>
            <a:r>
              <a:rPr sz="130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4A5462"/>
                </a:solidFill>
                <a:latin typeface="Roboto"/>
                <a:cs typeface="Roboto"/>
              </a:rPr>
              <a:t>de</a:t>
            </a:r>
            <a:r>
              <a:rPr sz="130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recursos</a:t>
            </a:r>
            <a:r>
              <a:rPr sz="1300" spc="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computacionais</a:t>
            </a:r>
            <a:r>
              <a:rPr sz="130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entre</a:t>
            </a:r>
            <a:r>
              <a:rPr sz="130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sub-</a:t>
            </a:r>
            <a:r>
              <a:rPr sz="1300" spc="-40" dirty="0">
                <a:solidFill>
                  <a:srgbClr val="4A5462"/>
                </a:solidFill>
                <a:latin typeface="Roboto"/>
                <a:cs typeface="Roboto"/>
              </a:rPr>
              <a:t>populações </a:t>
            </a:r>
            <a:r>
              <a:rPr sz="1300" spc="-50" dirty="0">
                <a:solidFill>
                  <a:srgbClr val="4A5462"/>
                </a:solidFill>
                <a:latin typeface="Roboto"/>
                <a:cs typeface="Roboto"/>
              </a:rPr>
              <a:t>prejudica</a:t>
            </a:r>
            <a:r>
              <a:rPr sz="1300" spc="-2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70" dirty="0">
                <a:solidFill>
                  <a:srgbClr val="4A5462"/>
                </a:solidFill>
                <a:latin typeface="Roboto"/>
                <a:cs typeface="Roboto"/>
              </a:rPr>
              <a:t>o</a:t>
            </a:r>
            <a:r>
              <a:rPr sz="1300" spc="-2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45" dirty="0">
                <a:solidFill>
                  <a:srgbClr val="4A5462"/>
                </a:solidFill>
                <a:latin typeface="Roboto"/>
                <a:cs typeface="Roboto"/>
              </a:rPr>
              <a:t>equilíbrio</a:t>
            </a:r>
            <a:r>
              <a:rPr sz="1300" spc="-2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entre</a:t>
            </a:r>
            <a:r>
              <a:rPr sz="1300" spc="-25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4A5462"/>
                </a:solidFill>
                <a:latin typeface="Roboto"/>
                <a:cs typeface="Roboto"/>
              </a:rPr>
              <a:t>exploração</a:t>
            </a:r>
            <a:r>
              <a:rPr sz="1300" spc="-2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4A5462"/>
                </a:solidFill>
                <a:latin typeface="Roboto"/>
                <a:cs typeface="Roboto"/>
              </a:rPr>
              <a:t>e</a:t>
            </a:r>
            <a:r>
              <a:rPr sz="1300" spc="-20" dirty="0">
                <a:solidFill>
                  <a:srgbClr val="4A5462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4A5462"/>
                </a:solidFill>
                <a:latin typeface="Roboto"/>
                <a:cs typeface="Roboto"/>
              </a:rPr>
              <a:t>explotação.</a:t>
            </a:r>
            <a:endParaRPr sz="1300" dirty="0">
              <a:latin typeface="Roboto"/>
              <a:cs typeface="Roboto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24598" y="3819524"/>
            <a:ext cx="5257799" cy="16573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698531" y="3999229"/>
            <a:ext cx="251015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b="0" spc="-65" dirty="0">
                <a:solidFill>
                  <a:srgbClr val="333A40"/>
                </a:solidFill>
                <a:latin typeface="Roboto Medium"/>
                <a:cs typeface="Roboto Medium"/>
              </a:rPr>
              <a:t>SPSO+AP+AD:</a:t>
            </a:r>
            <a:r>
              <a:rPr sz="1300" b="0" spc="-10" dirty="0">
                <a:solidFill>
                  <a:srgbClr val="333A40"/>
                </a:solidFill>
                <a:latin typeface="Roboto Medium"/>
                <a:cs typeface="Roboto Medium"/>
              </a:rPr>
              <a:t> </a:t>
            </a:r>
            <a:r>
              <a:rPr sz="1300" b="0" spc="-70" dirty="0">
                <a:solidFill>
                  <a:srgbClr val="333A40"/>
                </a:solidFill>
                <a:latin typeface="Roboto Medium"/>
                <a:cs typeface="Roboto Medium"/>
              </a:rPr>
              <a:t>Abordagem</a:t>
            </a:r>
            <a:r>
              <a:rPr sz="1300" b="0" spc="-5" dirty="0">
                <a:solidFill>
                  <a:srgbClr val="333A40"/>
                </a:solidFill>
                <a:latin typeface="Roboto Medium"/>
                <a:cs typeface="Roboto Medium"/>
              </a:rPr>
              <a:t> </a:t>
            </a:r>
            <a:r>
              <a:rPr sz="1300" b="0" spc="-45" dirty="0">
                <a:solidFill>
                  <a:srgbClr val="333A40"/>
                </a:solidFill>
                <a:latin typeface="Roboto Medium"/>
                <a:cs typeface="Roboto Medium"/>
              </a:rPr>
              <a:t>Proposta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01470" y="4865195"/>
            <a:ext cx="66357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175">
              <a:lnSpc>
                <a:spcPct val="108700"/>
              </a:lnSpc>
              <a:spcBef>
                <a:spcPts val="95"/>
              </a:spcBef>
            </a:pPr>
            <a:r>
              <a:rPr sz="1150" spc="-60" dirty="0">
                <a:solidFill>
                  <a:srgbClr val="333A40"/>
                </a:solidFill>
                <a:latin typeface="Roboto"/>
                <a:cs typeface="Roboto"/>
              </a:rPr>
              <a:t>População Adaptativa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77646" y="4865195"/>
            <a:ext cx="75565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19" marR="5080" indent="-46355">
              <a:lnSpc>
                <a:spcPct val="108700"/>
              </a:lnSpc>
              <a:spcBef>
                <a:spcPts val="95"/>
              </a:spcBef>
            </a:pPr>
            <a:r>
              <a:rPr sz="1150" spc="-60" dirty="0">
                <a:solidFill>
                  <a:srgbClr val="333A40"/>
                </a:solidFill>
                <a:latin typeface="Roboto"/>
                <a:cs typeface="Roboto"/>
              </a:rPr>
              <a:t>Desativação </a:t>
            </a:r>
            <a:r>
              <a:rPr sz="1150" spc="-25" dirty="0">
                <a:solidFill>
                  <a:srgbClr val="333A40"/>
                </a:solidFill>
                <a:latin typeface="Roboto"/>
                <a:cs typeface="Roboto"/>
              </a:rPr>
              <a:t>Adaptativa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46096" y="4865195"/>
            <a:ext cx="8597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3990" marR="5080" indent="-161925">
              <a:lnSpc>
                <a:spcPct val="108700"/>
              </a:lnSpc>
              <a:spcBef>
                <a:spcPts val="95"/>
              </a:spcBef>
            </a:pPr>
            <a:r>
              <a:rPr sz="1150" spc="-65" dirty="0">
                <a:solidFill>
                  <a:srgbClr val="333A40"/>
                </a:solidFill>
                <a:latin typeface="Roboto"/>
                <a:cs typeface="Roboto"/>
              </a:rPr>
              <a:t>Rastreamento </a:t>
            </a:r>
            <a:r>
              <a:rPr sz="1150" spc="-10" dirty="0">
                <a:solidFill>
                  <a:srgbClr val="333A40"/>
                </a:solidFill>
                <a:latin typeface="Roboto"/>
                <a:cs typeface="Roboto"/>
              </a:rPr>
              <a:t>Eficiente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441679" y="1640204"/>
            <a:ext cx="2974975" cy="1511935"/>
            <a:chOff x="7441679" y="1640204"/>
            <a:chExt cx="2974975" cy="1511935"/>
          </a:xfrm>
        </p:grpSpPr>
        <p:sp>
          <p:nvSpPr>
            <p:cNvPr id="23" name="object 23"/>
            <p:cNvSpPr/>
            <p:nvPr/>
          </p:nvSpPr>
          <p:spPr>
            <a:xfrm>
              <a:off x="7490459" y="1640204"/>
              <a:ext cx="2926080" cy="1463040"/>
            </a:xfrm>
            <a:custGeom>
              <a:avLst/>
              <a:gdLst/>
              <a:ahLst/>
              <a:cxnLst/>
              <a:rect l="l" t="t" r="r" b="b"/>
              <a:pathLst>
                <a:path w="2926079" h="1463039">
                  <a:moveTo>
                    <a:pt x="0" y="1463039"/>
                  </a:moveTo>
                  <a:lnTo>
                    <a:pt x="2926079" y="1463039"/>
                  </a:lnTo>
                </a:path>
                <a:path w="2926079" h="1463039">
                  <a:moveTo>
                    <a:pt x="0" y="0"/>
                  </a:moveTo>
                  <a:lnTo>
                    <a:pt x="0" y="1463039"/>
                  </a:lnTo>
                </a:path>
              </a:pathLst>
            </a:custGeom>
            <a:ln w="19507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41679" y="1640204"/>
              <a:ext cx="2974975" cy="1511935"/>
            </a:xfrm>
            <a:custGeom>
              <a:avLst/>
              <a:gdLst/>
              <a:ahLst/>
              <a:cxnLst/>
              <a:rect l="l" t="t" r="r" b="b"/>
              <a:pathLst>
                <a:path w="2974975" h="1511935">
                  <a:moveTo>
                    <a:pt x="97536" y="48768"/>
                  </a:moveTo>
                  <a:lnTo>
                    <a:pt x="48768" y="0"/>
                  </a:lnTo>
                  <a:lnTo>
                    <a:pt x="0" y="48768"/>
                  </a:lnTo>
                  <a:lnTo>
                    <a:pt x="97536" y="48768"/>
                  </a:lnTo>
                  <a:close/>
                </a:path>
                <a:path w="2974975" h="1511935">
                  <a:moveTo>
                    <a:pt x="2974848" y="1463040"/>
                  </a:moveTo>
                  <a:lnTo>
                    <a:pt x="2926080" y="1414272"/>
                  </a:lnTo>
                  <a:lnTo>
                    <a:pt x="2926080" y="1511808"/>
                  </a:lnTo>
                  <a:lnTo>
                    <a:pt x="2974848" y="146304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90459" y="1953887"/>
              <a:ext cx="2926080" cy="1149985"/>
            </a:xfrm>
            <a:custGeom>
              <a:avLst/>
              <a:gdLst/>
              <a:ahLst/>
              <a:cxnLst/>
              <a:rect l="l" t="t" r="r" b="b"/>
              <a:pathLst>
                <a:path w="2926079" h="1149985">
                  <a:moveTo>
                    <a:pt x="0" y="1149357"/>
                  </a:moveTo>
                  <a:lnTo>
                    <a:pt x="35012" y="1090489"/>
                  </a:lnTo>
                  <a:lnTo>
                    <a:pt x="70025" y="1033930"/>
                  </a:lnTo>
                  <a:lnTo>
                    <a:pt x="105038" y="979679"/>
                  </a:lnTo>
                  <a:lnTo>
                    <a:pt x="140051" y="927737"/>
                  </a:lnTo>
                  <a:lnTo>
                    <a:pt x="175064" y="878103"/>
                  </a:lnTo>
                  <a:lnTo>
                    <a:pt x="210077" y="830778"/>
                  </a:lnTo>
                  <a:lnTo>
                    <a:pt x="245090" y="785761"/>
                  </a:lnTo>
                  <a:lnTo>
                    <a:pt x="280103" y="743053"/>
                  </a:lnTo>
                  <a:lnTo>
                    <a:pt x="315116" y="702654"/>
                  </a:lnTo>
                  <a:lnTo>
                    <a:pt x="350129" y="664563"/>
                  </a:lnTo>
                  <a:lnTo>
                    <a:pt x="385142" y="628780"/>
                  </a:lnTo>
                  <a:lnTo>
                    <a:pt x="420155" y="595307"/>
                  </a:lnTo>
                  <a:lnTo>
                    <a:pt x="455167" y="564141"/>
                  </a:lnTo>
                  <a:lnTo>
                    <a:pt x="490180" y="535284"/>
                  </a:lnTo>
                  <a:lnTo>
                    <a:pt x="525193" y="508736"/>
                  </a:lnTo>
                  <a:lnTo>
                    <a:pt x="560206" y="484496"/>
                  </a:lnTo>
                  <a:lnTo>
                    <a:pt x="595219" y="462565"/>
                  </a:lnTo>
                  <a:lnTo>
                    <a:pt x="630232" y="442943"/>
                  </a:lnTo>
                  <a:lnTo>
                    <a:pt x="665245" y="425629"/>
                  </a:lnTo>
                  <a:lnTo>
                    <a:pt x="735271" y="397926"/>
                  </a:lnTo>
                  <a:lnTo>
                    <a:pt x="805297" y="379458"/>
                  </a:lnTo>
                  <a:lnTo>
                    <a:pt x="875323" y="370223"/>
                  </a:lnTo>
                  <a:lnTo>
                    <a:pt x="910335" y="369069"/>
                  </a:lnTo>
                  <a:lnTo>
                    <a:pt x="945348" y="370223"/>
                  </a:lnTo>
                  <a:lnTo>
                    <a:pt x="1015374" y="379458"/>
                  </a:lnTo>
                  <a:lnTo>
                    <a:pt x="1085400" y="397926"/>
                  </a:lnTo>
                  <a:lnTo>
                    <a:pt x="1155426" y="425629"/>
                  </a:lnTo>
                  <a:lnTo>
                    <a:pt x="1190439" y="442943"/>
                  </a:lnTo>
                  <a:lnTo>
                    <a:pt x="1225452" y="462565"/>
                  </a:lnTo>
                  <a:lnTo>
                    <a:pt x="1260465" y="484496"/>
                  </a:lnTo>
                  <a:lnTo>
                    <a:pt x="1295478" y="508736"/>
                  </a:lnTo>
                  <a:lnTo>
                    <a:pt x="1330490" y="535284"/>
                  </a:lnTo>
                  <a:lnTo>
                    <a:pt x="1365503" y="564141"/>
                  </a:lnTo>
                  <a:lnTo>
                    <a:pt x="1401573" y="518886"/>
                  </a:lnTo>
                  <a:lnTo>
                    <a:pt x="1437912" y="475521"/>
                  </a:lnTo>
                  <a:lnTo>
                    <a:pt x="1474522" y="434048"/>
                  </a:lnTo>
                  <a:lnTo>
                    <a:pt x="1511402" y="394466"/>
                  </a:lnTo>
                  <a:lnTo>
                    <a:pt x="1548552" y="356776"/>
                  </a:lnTo>
                  <a:lnTo>
                    <a:pt x="1585973" y="320977"/>
                  </a:lnTo>
                  <a:lnTo>
                    <a:pt x="1623663" y="287069"/>
                  </a:lnTo>
                  <a:lnTo>
                    <a:pt x="1661624" y="255052"/>
                  </a:lnTo>
                  <a:lnTo>
                    <a:pt x="1699855" y="224927"/>
                  </a:lnTo>
                  <a:lnTo>
                    <a:pt x="1738356" y="196693"/>
                  </a:lnTo>
                  <a:lnTo>
                    <a:pt x="1777127" y="170350"/>
                  </a:lnTo>
                  <a:lnTo>
                    <a:pt x="1816168" y="145898"/>
                  </a:lnTo>
                  <a:lnTo>
                    <a:pt x="1855480" y="123338"/>
                  </a:lnTo>
                  <a:lnTo>
                    <a:pt x="1895062" y="102669"/>
                  </a:lnTo>
                  <a:lnTo>
                    <a:pt x="1934914" y="83891"/>
                  </a:lnTo>
                  <a:lnTo>
                    <a:pt x="1975036" y="67005"/>
                  </a:lnTo>
                  <a:lnTo>
                    <a:pt x="2015428" y="52010"/>
                  </a:lnTo>
                  <a:lnTo>
                    <a:pt x="2056091" y="38906"/>
                  </a:lnTo>
                  <a:lnTo>
                    <a:pt x="2097023" y="27693"/>
                  </a:lnTo>
                  <a:lnTo>
                    <a:pt x="2138226" y="18372"/>
                  </a:lnTo>
                  <a:lnTo>
                    <a:pt x="2179699" y="10942"/>
                  </a:lnTo>
                  <a:lnTo>
                    <a:pt x="2221443" y="5403"/>
                  </a:lnTo>
                  <a:lnTo>
                    <a:pt x="2263456" y="1756"/>
                  </a:lnTo>
                  <a:lnTo>
                    <a:pt x="2305740" y="0"/>
                  </a:lnTo>
                  <a:lnTo>
                    <a:pt x="2348293" y="135"/>
                  </a:lnTo>
                  <a:lnTo>
                    <a:pt x="2391117" y="2161"/>
                  </a:lnTo>
                  <a:lnTo>
                    <a:pt x="2434212" y="6079"/>
                  </a:lnTo>
                  <a:lnTo>
                    <a:pt x="2477576" y="11888"/>
                  </a:lnTo>
                  <a:lnTo>
                    <a:pt x="2521210" y="19588"/>
                  </a:lnTo>
                  <a:lnTo>
                    <a:pt x="2565115" y="29179"/>
                  </a:lnTo>
                  <a:lnTo>
                    <a:pt x="2609290" y="40662"/>
                  </a:lnTo>
                  <a:lnTo>
                    <a:pt x="2653735" y="54036"/>
                  </a:lnTo>
                  <a:lnTo>
                    <a:pt x="2698450" y="69301"/>
                  </a:lnTo>
                  <a:lnTo>
                    <a:pt x="2743436" y="86458"/>
                  </a:lnTo>
                  <a:lnTo>
                    <a:pt x="2788691" y="105506"/>
                  </a:lnTo>
                  <a:lnTo>
                    <a:pt x="2834217" y="126445"/>
                  </a:lnTo>
                  <a:lnTo>
                    <a:pt x="2880013" y="149276"/>
                  </a:lnTo>
                  <a:lnTo>
                    <a:pt x="2926079" y="173997"/>
                  </a:lnTo>
                </a:path>
              </a:pathLst>
            </a:custGeom>
            <a:ln w="19507">
              <a:solidFill>
                <a:srgbClr val="3398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53691" y="2081325"/>
              <a:ext cx="117043" cy="11704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490459" y="1835276"/>
              <a:ext cx="2926080" cy="1268095"/>
            </a:xfrm>
            <a:custGeom>
              <a:avLst/>
              <a:gdLst/>
              <a:ahLst/>
              <a:cxnLst/>
              <a:rect l="l" t="t" r="r" b="b"/>
              <a:pathLst>
                <a:path w="2926079" h="1268095">
                  <a:moveTo>
                    <a:pt x="0" y="1267967"/>
                  </a:moveTo>
                  <a:lnTo>
                    <a:pt x="36905" y="1226003"/>
                  </a:lnTo>
                  <a:lnTo>
                    <a:pt x="73811" y="1184467"/>
                  </a:lnTo>
                  <a:lnTo>
                    <a:pt x="110716" y="1143358"/>
                  </a:lnTo>
                  <a:lnTo>
                    <a:pt x="147622" y="1102676"/>
                  </a:lnTo>
                  <a:lnTo>
                    <a:pt x="184527" y="1062422"/>
                  </a:lnTo>
                  <a:lnTo>
                    <a:pt x="221433" y="1022596"/>
                  </a:lnTo>
                  <a:lnTo>
                    <a:pt x="258338" y="983196"/>
                  </a:lnTo>
                  <a:lnTo>
                    <a:pt x="295244" y="944225"/>
                  </a:lnTo>
                  <a:lnTo>
                    <a:pt x="332149" y="905681"/>
                  </a:lnTo>
                  <a:lnTo>
                    <a:pt x="369055" y="867564"/>
                  </a:lnTo>
                  <a:lnTo>
                    <a:pt x="405960" y="829875"/>
                  </a:lnTo>
                  <a:lnTo>
                    <a:pt x="442866" y="792613"/>
                  </a:lnTo>
                  <a:lnTo>
                    <a:pt x="479771" y="755779"/>
                  </a:lnTo>
                  <a:lnTo>
                    <a:pt x="516677" y="719372"/>
                  </a:lnTo>
                  <a:lnTo>
                    <a:pt x="553582" y="683393"/>
                  </a:lnTo>
                  <a:lnTo>
                    <a:pt x="590488" y="647841"/>
                  </a:lnTo>
                  <a:lnTo>
                    <a:pt x="627393" y="612716"/>
                  </a:lnTo>
                  <a:lnTo>
                    <a:pt x="664299" y="578020"/>
                  </a:lnTo>
                  <a:lnTo>
                    <a:pt x="701204" y="543750"/>
                  </a:lnTo>
                  <a:lnTo>
                    <a:pt x="738110" y="509908"/>
                  </a:lnTo>
                  <a:lnTo>
                    <a:pt x="775015" y="476494"/>
                  </a:lnTo>
                  <a:lnTo>
                    <a:pt x="811921" y="443507"/>
                  </a:lnTo>
                  <a:lnTo>
                    <a:pt x="848826" y="410947"/>
                  </a:lnTo>
                  <a:lnTo>
                    <a:pt x="885732" y="378815"/>
                  </a:lnTo>
                  <a:lnTo>
                    <a:pt x="922637" y="347111"/>
                  </a:lnTo>
                  <a:lnTo>
                    <a:pt x="959543" y="315834"/>
                  </a:lnTo>
                  <a:lnTo>
                    <a:pt x="996448" y="284984"/>
                  </a:lnTo>
                  <a:lnTo>
                    <a:pt x="1033354" y="254562"/>
                  </a:lnTo>
                  <a:lnTo>
                    <a:pt x="1070259" y="224567"/>
                  </a:lnTo>
                  <a:lnTo>
                    <a:pt x="1107165" y="195000"/>
                  </a:lnTo>
                  <a:lnTo>
                    <a:pt x="1144070" y="165861"/>
                  </a:lnTo>
                  <a:lnTo>
                    <a:pt x="1180976" y="137148"/>
                  </a:lnTo>
                  <a:lnTo>
                    <a:pt x="1217881" y="108864"/>
                  </a:lnTo>
                  <a:lnTo>
                    <a:pt x="1254787" y="81006"/>
                  </a:lnTo>
                  <a:lnTo>
                    <a:pt x="1291692" y="53577"/>
                  </a:lnTo>
                  <a:lnTo>
                    <a:pt x="1328598" y="26574"/>
                  </a:lnTo>
                  <a:lnTo>
                    <a:pt x="1365503" y="0"/>
                  </a:lnTo>
                  <a:lnTo>
                    <a:pt x="1402551" y="26432"/>
                  </a:lnTo>
                  <a:lnTo>
                    <a:pt x="1439884" y="53007"/>
                  </a:lnTo>
                  <a:lnTo>
                    <a:pt x="1477502" y="79724"/>
                  </a:lnTo>
                  <a:lnTo>
                    <a:pt x="1515405" y="106584"/>
                  </a:lnTo>
                  <a:lnTo>
                    <a:pt x="1553593" y="133586"/>
                  </a:lnTo>
                  <a:lnTo>
                    <a:pt x="1592066" y="160731"/>
                  </a:lnTo>
                  <a:lnTo>
                    <a:pt x="1630824" y="188018"/>
                  </a:lnTo>
                  <a:lnTo>
                    <a:pt x="1669867" y="215448"/>
                  </a:lnTo>
                  <a:lnTo>
                    <a:pt x="1709195" y="243020"/>
                  </a:lnTo>
                  <a:lnTo>
                    <a:pt x="1748808" y="270735"/>
                  </a:lnTo>
                  <a:lnTo>
                    <a:pt x="1788706" y="298592"/>
                  </a:lnTo>
                  <a:lnTo>
                    <a:pt x="1828888" y="326592"/>
                  </a:lnTo>
                  <a:lnTo>
                    <a:pt x="1869356" y="354734"/>
                  </a:lnTo>
                  <a:lnTo>
                    <a:pt x="1910109" y="383019"/>
                  </a:lnTo>
                  <a:lnTo>
                    <a:pt x="1951147" y="411446"/>
                  </a:lnTo>
                  <a:lnTo>
                    <a:pt x="1992470" y="440016"/>
                  </a:lnTo>
                  <a:lnTo>
                    <a:pt x="2034077" y="468728"/>
                  </a:lnTo>
                  <a:lnTo>
                    <a:pt x="2075970" y="497583"/>
                  </a:lnTo>
                  <a:lnTo>
                    <a:pt x="2118148" y="526580"/>
                  </a:lnTo>
                  <a:lnTo>
                    <a:pt x="2160611" y="555720"/>
                  </a:lnTo>
                  <a:lnTo>
                    <a:pt x="2203358" y="585002"/>
                  </a:lnTo>
                  <a:lnTo>
                    <a:pt x="2246391" y="614426"/>
                  </a:lnTo>
                  <a:lnTo>
                    <a:pt x="2289709" y="643994"/>
                  </a:lnTo>
                  <a:lnTo>
                    <a:pt x="2333311" y="673703"/>
                  </a:lnTo>
                  <a:lnTo>
                    <a:pt x="2377199" y="703555"/>
                  </a:lnTo>
                  <a:lnTo>
                    <a:pt x="2421372" y="733550"/>
                  </a:lnTo>
                  <a:lnTo>
                    <a:pt x="2465829" y="763687"/>
                  </a:lnTo>
                  <a:lnTo>
                    <a:pt x="2510572" y="793967"/>
                  </a:lnTo>
                  <a:lnTo>
                    <a:pt x="2555599" y="824389"/>
                  </a:lnTo>
                  <a:lnTo>
                    <a:pt x="2600912" y="854953"/>
                  </a:lnTo>
                  <a:lnTo>
                    <a:pt x="2646509" y="885661"/>
                  </a:lnTo>
                  <a:lnTo>
                    <a:pt x="2692392" y="916510"/>
                  </a:lnTo>
                  <a:lnTo>
                    <a:pt x="2738559" y="947502"/>
                  </a:lnTo>
                  <a:lnTo>
                    <a:pt x="2785012" y="978637"/>
                  </a:lnTo>
                  <a:lnTo>
                    <a:pt x="2831749" y="1009914"/>
                  </a:lnTo>
                  <a:lnTo>
                    <a:pt x="2878772" y="1041333"/>
                  </a:lnTo>
                  <a:lnTo>
                    <a:pt x="2926079" y="1072895"/>
                  </a:lnTo>
                </a:path>
              </a:pathLst>
            </a:custGeom>
            <a:ln w="19507">
              <a:solidFill>
                <a:srgbClr val="E74B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97441" y="1776755"/>
              <a:ext cx="117043" cy="11704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0501232" y="3016103"/>
            <a:ext cx="83820" cy="173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-50" dirty="0">
                <a:solidFill>
                  <a:srgbClr val="666666"/>
                </a:solidFill>
                <a:latin typeface="Candara"/>
                <a:cs typeface="Candara"/>
              </a:rPr>
              <a:t>x</a:t>
            </a:r>
            <a:endParaRPr sz="950">
              <a:latin typeface="Candara"/>
              <a:cs typeface="Candar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28973" y="1406825"/>
            <a:ext cx="205104" cy="173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-20" dirty="0">
                <a:solidFill>
                  <a:srgbClr val="666666"/>
                </a:solidFill>
                <a:latin typeface="Candara"/>
                <a:cs typeface="Candara"/>
              </a:rPr>
              <a:t>f(x)</a:t>
            </a:r>
            <a:endParaRPr sz="950">
              <a:latin typeface="Candara"/>
              <a:cs typeface="Candar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35734" y="1302295"/>
            <a:ext cx="635000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-50" dirty="0">
                <a:solidFill>
                  <a:srgbClr val="3398DA"/>
                </a:solidFill>
                <a:latin typeface="Roboto"/>
                <a:cs typeface="Roboto"/>
              </a:rPr>
              <a:t>Ambiente</a:t>
            </a:r>
            <a:r>
              <a:rPr sz="1000" dirty="0">
                <a:solidFill>
                  <a:srgbClr val="3398DA"/>
                </a:solidFill>
                <a:latin typeface="Roboto"/>
                <a:cs typeface="Roboto"/>
              </a:rPr>
              <a:t> </a:t>
            </a:r>
            <a:r>
              <a:rPr sz="1000" spc="-25" dirty="0">
                <a:solidFill>
                  <a:srgbClr val="3398DA"/>
                </a:solidFill>
                <a:latin typeface="Roboto"/>
                <a:cs typeface="Roboto"/>
              </a:rPr>
              <a:t>t</a:t>
            </a:r>
            <a:r>
              <a:rPr sz="850" spc="-25" dirty="0">
                <a:solidFill>
                  <a:srgbClr val="3398DA"/>
                </a:solidFill>
                <a:latin typeface="Calibri"/>
                <a:cs typeface="Calibri"/>
              </a:rPr>
              <a:t>₁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53060" y="1497260"/>
            <a:ext cx="635000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-50" dirty="0">
                <a:solidFill>
                  <a:srgbClr val="E74B3C"/>
                </a:solidFill>
                <a:latin typeface="Roboto"/>
                <a:cs typeface="Roboto"/>
              </a:rPr>
              <a:t>Ambiente</a:t>
            </a:r>
            <a:r>
              <a:rPr sz="1000" dirty="0">
                <a:solidFill>
                  <a:srgbClr val="E74B3C"/>
                </a:solidFill>
                <a:latin typeface="Roboto"/>
                <a:cs typeface="Roboto"/>
              </a:rPr>
              <a:t> </a:t>
            </a:r>
            <a:r>
              <a:rPr sz="1000" spc="-25" dirty="0">
                <a:solidFill>
                  <a:srgbClr val="E74B3C"/>
                </a:solidFill>
                <a:latin typeface="Roboto"/>
                <a:cs typeface="Roboto"/>
              </a:rPr>
              <a:t>t</a:t>
            </a:r>
            <a:r>
              <a:rPr sz="850" spc="-25" dirty="0">
                <a:solidFill>
                  <a:srgbClr val="E74B3C"/>
                </a:solidFill>
                <a:latin typeface="Calibri"/>
                <a:cs typeface="Calibri"/>
              </a:rPr>
              <a:t>₂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976275" y="1799984"/>
            <a:ext cx="701125" cy="278154"/>
            <a:chOff x="8976275" y="1799984"/>
            <a:chExt cx="701125" cy="278154"/>
          </a:xfrm>
        </p:grpSpPr>
        <p:sp>
          <p:nvSpPr>
            <p:cNvPr id="34" name="object 34"/>
            <p:cNvSpPr/>
            <p:nvPr/>
          </p:nvSpPr>
          <p:spPr>
            <a:xfrm flipV="1">
              <a:off x="9007886" y="1834775"/>
              <a:ext cx="669514" cy="243363"/>
            </a:xfrm>
            <a:custGeom>
              <a:avLst/>
              <a:gdLst/>
              <a:ahLst/>
              <a:cxnLst/>
              <a:rect l="l" t="t" r="r" b="b"/>
              <a:pathLst>
                <a:path w="487679" h="146685">
                  <a:moveTo>
                    <a:pt x="487679" y="0"/>
                  </a:moveTo>
                  <a:lnTo>
                    <a:pt x="456535" y="23193"/>
                  </a:lnTo>
                  <a:lnTo>
                    <a:pt x="417477" y="40450"/>
                  </a:lnTo>
                  <a:lnTo>
                    <a:pt x="372263" y="53091"/>
                  </a:lnTo>
                  <a:lnTo>
                    <a:pt x="322652" y="62434"/>
                  </a:lnTo>
                  <a:lnTo>
                    <a:pt x="270404" y="69799"/>
                  </a:lnTo>
                  <a:lnTo>
                    <a:pt x="217275" y="76504"/>
                  </a:lnTo>
                  <a:lnTo>
                    <a:pt x="165027" y="83869"/>
                  </a:lnTo>
                  <a:lnTo>
                    <a:pt x="115416" y="93212"/>
                  </a:lnTo>
                  <a:lnTo>
                    <a:pt x="70202" y="105853"/>
                  </a:lnTo>
                  <a:lnTo>
                    <a:pt x="31144" y="123110"/>
                  </a:lnTo>
                  <a:lnTo>
                    <a:pt x="0" y="146303"/>
                  </a:lnTo>
                </a:path>
              </a:pathLst>
            </a:custGeom>
            <a:ln w="14630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5" name="object 35"/>
            <p:cNvSpPr/>
            <p:nvPr/>
          </p:nvSpPr>
          <p:spPr>
            <a:xfrm rot="3600000">
              <a:off x="8976275" y="1799984"/>
              <a:ext cx="124460" cy="124460"/>
            </a:xfrm>
            <a:custGeom>
              <a:avLst/>
              <a:gdLst/>
              <a:ahLst/>
              <a:cxnLst/>
              <a:rect l="l" t="t" r="r" b="b"/>
              <a:pathLst>
                <a:path w="124459" h="124460">
                  <a:moveTo>
                    <a:pt x="62071" y="0"/>
                  </a:moveTo>
                  <a:lnTo>
                    <a:pt x="124143" y="62071"/>
                  </a:lnTo>
                  <a:lnTo>
                    <a:pt x="0" y="124143"/>
                  </a:lnTo>
                  <a:lnTo>
                    <a:pt x="62071" y="0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42" name="object 37">
            <a:extLst>
              <a:ext uri="{FF2B5EF4-FFF2-40B4-BE49-F238E27FC236}">
                <a16:creationId xmlns:a16="http://schemas.microsoft.com/office/drawing/2014/main" id="{DA32CDBD-0F8B-6C2B-7680-CC4DB5443D67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6704806"/>
            <a:ext cx="12191999" cy="761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6216B-7225-27E6-91A3-4A819455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object 37">
            <a:extLst>
              <a:ext uri="{FF2B5EF4-FFF2-40B4-BE49-F238E27FC236}">
                <a16:creationId xmlns:a16="http://schemas.microsoft.com/office/drawing/2014/main" id="{096844E4-AE86-BACC-7FC4-43334E4319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704806"/>
            <a:ext cx="12191999" cy="76199"/>
          </a:xfrm>
          <a:prstGeom prst="rect">
            <a:avLst/>
          </a:prstGeom>
        </p:spPr>
      </p:pic>
      <p:sp>
        <p:nvSpPr>
          <p:cNvPr id="37" name="Título 36">
            <a:extLst>
              <a:ext uri="{FF2B5EF4-FFF2-40B4-BE49-F238E27FC236}">
                <a16:creationId xmlns:a16="http://schemas.microsoft.com/office/drawing/2014/main" id="{C344F1CE-DA29-33CD-C552-CBCC49F3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99" y="389933"/>
            <a:ext cx="6149975" cy="384721"/>
          </a:xfrm>
        </p:spPr>
        <p:txBody>
          <a:bodyPr/>
          <a:lstStyle/>
          <a:p>
            <a:r>
              <a:rPr lang="pt-BR" dirty="0"/>
              <a:t>Histórico do trabalho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EC7700EA-9A10-EA30-E97B-1D642C38779B}"/>
              </a:ext>
            </a:extLst>
          </p:cNvPr>
          <p:cNvSpPr/>
          <p:nvPr/>
        </p:nvSpPr>
        <p:spPr>
          <a:xfrm>
            <a:off x="600981" y="1291778"/>
            <a:ext cx="11061701" cy="108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D6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object 12">
            <a:extLst>
              <a:ext uri="{FF2B5EF4-FFF2-40B4-BE49-F238E27FC236}">
                <a16:creationId xmlns:a16="http://schemas.microsoft.com/office/drawing/2014/main" id="{36E5E162-3C2D-B03D-D00E-A2F6002EF68B}"/>
              </a:ext>
            </a:extLst>
          </p:cNvPr>
          <p:cNvSpPr txBox="1"/>
          <p:nvPr/>
        </p:nvSpPr>
        <p:spPr>
          <a:xfrm>
            <a:off x="737506" y="1512105"/>
            <a:ext cx="10768694" cy="7772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600" spc="-85" dirty="0">
                <a:solidFill>
                  <a:srgbClr val="333A40"/>
                </a:solidFill>
                <a:latin typeface="Arial"/>
                <a:cs typeface="Arial"/>
              </a:rPr>
              <a:t>Yazdani,</a:t>
            </a:r>
            <a:r>
              <a:rPr sz="16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120" dirty="0">
                <a:solidFill>
                  <a:srgbClr val="333A40"/>
                </a:solidFill>
                <a:latin typeface="Arial"/>
                <a:cs typeface="Arial"/>
              </a:rPr>
              <a:t>D.,</a:t>
            </a:r>
            <a:r>
              <a:rPr sz="16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85" dirty="0">
                <a:solidFill>
                  <a:srgbClr val="333A40"/>
                </a:solidFill>
                <a:latin typeface="Arial"/>
                <a:cs typeface="Arial"/>
              </a:rPr>
              <a:t>Yazdani,</a:t>
            </a:r>
            <a:r>
              <a:rPr sz="16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120" dirty="0">
                <a:solidFill>
                  <a:srgbClr val="333A40"/>
                </a:solidFill>
                <a:latin typeface="Arial"/>
                <a:cs typeface="Arial"/>
              </a:rPr>
              <a:t>D.,</a:t>
            </a:r>
            <a:r>
              <a:rPr sz="16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85" dirty="0">
                <a:solidFill>
                  <a:srgbClr val="333A40"/>
                </a:solidFill>
                <a:latin typeface="Arial"/>
                <a:cs typeface="Arial"/>
              </a:rPr>
              <a:t>Yazdani,</a:t>
            </a:r>
            <a:r>
              <a:rPr sz="16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120" dirty="0">
                <a:solidFill>
                  <a:srgbClr val="333A40"/>
                </a:solidFill>
                <a:latin typeface="Arial"/>
                <a:cs typeface="Arial"/>
              </a:rPr>
              <a:t>D.,</a:t>
            </a:r>
            <a:r>
              <a:rPr sz="16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85" dirty="0">
                <a:solidFill>
                  <a:srgbClr val="333A40"/>
                </a:solidFill>
                <a:latin typeface="Arial"/>
                <a:cs typeface="Arial"/>
              </a:rPr>
              <a:t>Omidvar,</a:t>
            </a:r>
            <a:r>
              <a:rPr sz="16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55" dirty="0">
                <a:solidFill>
                  <a:srgbClr val="333A40"/>
                </a:solidFill>
                <a:latin typeface="Arial"/>
                <a:cs typeface="Arial"/>
              </a:rPr>
              <a:t>M.</a:t>
            </a:r>
            <a:r>
              <a:rPr sz="16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85" dirty="0">
                <a:solidFill>
                  <a:srgbClr val="333A40"/>
                </a:solidFill>
                <a:latin typeface="Arial"/>
                <a:cs typeface="Arial"/>
              </a:rPr>
              <a:t>N.,</a:t>
            </a:r>
            <a:r>
              <a:rPr sz="16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33A40"/>
                </a:solidFill>
                <a:latin typeface="Arial"/>
                <a:cs typeface="Arial"/>
              </a:rPr>
              <a:t>Gandomi,</a:t>
            </a: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ct val="106400"/>
              </a:lnSpc>
              <a:spcBef>
                <a:spcPts val="30"/>
              </a:spcBef>
            </a:pPr>
            <a:r>
              <a:rPr sz="1600" spc="-70" dirty="0">
                <a:solidFill>
                  <a:srgbClr val="333A40"/>
                </a:solidFill>
                <a:latin typeface="Arial"/>
                <a:cs typeface="Arial"/>
              </a:rPr>
              <a:t>A.</a:t>
            </a:r>
            <a:r>
              <a:rPr sz="1600" spc="-4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85" dirty="0">
                <a:solidFill>
                  <a:srgbClr val="333A40"/>
                </a:solidFill>
                <a:latin typeface="Arial"/>
                <a:cs typeface="Arial"/>
              </a:rPr>
              <a:t>H.,</a:t>
            </a:r>
            <a:r>
              <a:rPr sz="16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120" dirty="0">
                <a:solidFill>
                  <a:srgbClr val="333A40"/>
                </a:solidFill>
                <a:latin typeface="Arial"/>
                <a:cs typeface="Arial"/>
              </a:rPr>
              <a:t>&amp;</a:t>
            </a:r>
            <a:r>
              <a:rPr sz="16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105" dirty="0">
                <a:solidFill>
                  <a:srgbClr val="333A40"/>
                </a:solidFill>
                <a:latin typeface="Arial"/>
                <a:cs typeface="Arial"/>
              </a:rPr>
              <a:t>Yao,</a:t>
            </a:r>
            <a:r>
              <a:rPr sz="16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85" dirty="0">
                <a:solidFill>
                  <a:srgbClr val="333A40"/>
                </a:solidFill>
                <a:latin typeface="Arial"/>
                <a:cs typeface="Arial"/>
              </a:rPr>
              <a:t>X.</a:t>
            </a:r>
            <a:r>
              <a:rPr sz="16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333A40"/>
                </a:solidFill>
                <a:latin typeface="Arial"/>
                <a:cs typeface="Arial"/>
              </a:rPr>
              <a:t>(2023).</a:t>
            </a:r>
            <a:r>
              <a:rPr sz="16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90" dirty="0">
                <a:solidFill>
                  <a:srgbClr val="333A40"/>
                </a:solidFill>
                <a:latin typeface="Arial"/>
                <a:cs typeface="Arial"/>
              </a:rPr>
              <a:t>A</a:t>
            </a:r>
            <a:r>
              <a:rPr sz="16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75" dirty="0">
                <a:solidFill>
                  <a:srgbClr val="333A40"/>
                </a:solidFill>
                <a:latin typeface="Arial"/>
                <a:cs typeface="Arial"/>
              </a:rPr>
              <a:t>Species-</a:t>
            </a:r>
            <a:r>
              <a:rPr sz="1600" spc="-65" dirty="0">
                <a:solidFill>
                  <a:srgbClr val="333A40"/>
                </a:solidFill>
                <a:latin typeface="Arial"/>
                <a:cs typeface="Arial"/>
              </a:rPr>
              <a:t>based</a:t>
            </a:r>
            <a:r>
              <a:rPr sz="1600" spc="-40" dirty="0">
                <a:solidFill>
                  <a:srgbClr val="333A40"/>
                </a:solidFill>
                <a:latin typeface="Arial"/>
                <a:cs typeface="Arial"/>
              </a:rPr>
              <a:t> Particle </a:t>
            </a:r>
            <a:r>
              <a:rPr sz="1600" spc="-20" dirty="0">
                <a:solidFill>
                  <a:srgbClr val="333A40"/>
                </a:solidFill>
                <a:latin typeface="Arial"/>
                <a:cs typeface="Arial"/>
              </a:rPr>
              <a:t>Swarm </a:t>
            </a:r>
            <a:r>
              <a:rPr sz="1600" spc="-45" dirty="0">
                <a:solidFill>
                  <a:srgbClr val="333A40"/>
                </a:solidFill>
                <a:latin typeface="Arial"/>
                <a:cs typeface="Arial"/>
              </a:rPr>
              <a:t>Optimization</a:t>
            </a:r>
            <a:r>
              <a:rPr sz="16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333A40"/>
                </a:solidFill>
                <a:latin typeface="Arial"/>
                <a:cs typeface="Arial"/>
              </a:rPr>
              <a:t>with</a:t>
            </a:r>
            <a:r>
              <a:rPr sz="160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55" dirty="0">
                <a:solidFill>
                  <a:srgbClr val="333A40"/>
                </a:solidFill>
                <a:latin typeface="Arial"/>
                <a:cs typeface="Arial"/>
              </a:rPr>
              <a:t>Adaptive</a:t>
            </a:r>
            <a:r>
              <a:rPr sz="16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333A40"/>
                </a:solidFill>
                <a:latin typeface="Arial"/>
                <a:cs typeface="Arial"/>
              </a:rPr>
              <a:t>Population</a:t>
            </a:r>
            <a:r>
              <a:rPr sz="160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333A40"/>
                </a:solidFill>
                <a:latin typeface="Arial"/>
                <a:cs typeface="Arial"/>
              </a:rPr>
              <a:t>Size</a:t>
            </a:r>
            <a:r>
              <a:rPr sz="160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333A40"/>
                </a:solidFill>
                <a:latin typeface="Arial"/>
                <a:cs typeface="Arial"/>
              </a:rPr>
              <a:t>and</a:t>
            </a:r>
            <a:r>
              <a:rPr sz="16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33A40"/>
                </a:solidFill>
                <a:latin typeface="Arial"/>
                <a:cs typeface="Arial"/>
              </a:rPr>
              <a:t>Deactivation </a:t>
            </a:r>
            <a:r>
              <a:rPr sz="1600" dirty="0">
                <a:solidFill>
                  <a:srgbClr val="333A40"/>
                </a:solidFill>
                <a:latin typeface="Arial"/>
                <a:cs typeface="Arial"/>
              </a:rPr>
              <a:t>of</a:t>
            </a:r>
            <a:r>
              <a:rPr sz="160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70" dirty="0">
                <a:solidFill>
                  <a:srgbClr val="333A40"/>
                </a:solidFill>
                <a:latin typeface="Arial"/>
                <a:cs typeface="Arial"/>
              </a:rPr>
              <a:t>Species</a:t>
            </a:r>
            <a:r>
              <a:rPr sz="1600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33A40"/>
                </a:solidFill>
                <a:latin typeface="Arial"/>
                <a:cs typeface="Arial"/>
              </a:rPr>
              <a:t>for</a:t>
            </a:r>
            <a:r>
              <a:rPr sz="1600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70" dirty="0">
                <a:solidFill>
                  <a:srgbClr val="333A40"/>
                </a:solidFill>
                <a:latin typeface="Arial"/>
                <a:cs typeface="Arial"/>
              </a:rPr>
              <a:t>Dynamic</a:t>
            </a:r>
            <a:r>
              <a:rPr sz="160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45" dirty="0">
                <a:solidFill>
                  <a:srgbClr val="333A40"/>
                </a:solidFill>
                <a:latin typeface="Arial"/>
                <a:cs typeface="Arial"/>
              </a:rPr>
              <a:t>Optimization</a:t>
            </a:r>
            <a:r>
              <a:rPr sz="1600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55" dirty="0">
                <a:solidFill>
                  <a:srgbClr val="333A40"/>
                </a:solidFill>
                <a:latin typeface="Arial"/>
                <a:cs typeface="Arial"/>
              </a:rPr>
              <a:t>Problems.</a:t>
            </a:r>
            <a:r>
              <a:rPr sz="1600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i="1" spc="-25" dirty="0">
                <a:solidFill>
                  <a:srgbClr val="333A40"/>
                </a:solidFill>
                <a:latin typeface="Arial"/>
                <a:cs typeface="Arial"/>
              </a:rPr>
              <a:t>ACM </a:t>
            </a:r>
            <a:r>
              <a:rPr sz="1600" i="1" spc="-80" dirty="0">
                <a:solidFill>
                  <a:srgbClr val="333A40"/>
                </a:solidFill>
                <a:latin typeface="Arial"/>
                <a:cs typeface="Arial"/>
              </a:rPr>
              <a:t>Transactions</a:t>
            </a:r>
            <a:r>
              <a:rPr sz="1600" i="1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i="1" spc="-85" dirty="0">
                <a:solidFill>
                  <a:srgbClr val="333A40"/>
                </a:solidFill>
                <a:latin typeface="Arial"/>
                <a:cs typeface="Arial"/>
              </a:rPr>
              <a:t>on</a:t>
            </a:r>
            <a:r>
              <a:rPr sz="1600" i="1" spc="-2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i="1" spc="-85" dirty="0">
                <a:solidFill>
                  <a:srgbClr val="333A40"/>
                </a:solidFill>
                <a:latin typeface="Arial"/>
                <a:cs typeface="Arial"/>
              </a:rPr>
              <a:t>Evolutionary</a:t>
            </a:r>
            <a:r>
              <a:rPr sz="1600" i="1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i="1" spc="-90" dirty="0">
                <a:solidFill>
                  <a:srgbClr val="333A40"/>
                </a:solidFill>
                <a:latin typeface="Arial"/>
                <a:cs typeface="Arial"/>
              </a:rPr>
              <a:t>Learning</a:t>
            </a:r>
            <a:r>
              <a:rPr sz="1600" i="1" spc="-2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i="1" spc="-95" dirty="0">
                <a:solidFill>
                  <a:srgbClr val="333A40"/>
                </a:solidFill>
                <a:latin typeface="Arial"/>
                <a:cs typeface="Arial"/>
              </a:rPr>
              <a:t>and</a:t>
            </a:r>
            <a:r>
              <a:rPr sz="1600" i="1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i="1" spc="-70" dirty="0">
                <a:solidFill>
                  <a:srgbClr val="333A40"/>
                </a:solidFill>
                <a:latin typeface="Arial"/>
                <a:cs typeface="Arial"/>
              </a:rPr>
              <a:t>Optimization</a:t>
            </a:r>
            <a:r>
              <a:rPr sz="1600" spc="-70" dirty="0">
                <a:solidFill>
                  <a:srgbClr val="333A40"/>
                </a:solidFill>
                <a:latin typeface="Arial"/>
                <a:cs typeface="Arial"/>
              </a:rPr>
              <a:t>,</a:t>
            </a:r>
            <a:r>
              <a:rPr sz="1600" spc="-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333A40"/>
                </a:solidFill>
                <a:latin typeface="Arial"/>
                <a:cs typeface="Arial"/>
              </a:rPr>
              <a:t>3(4), </a:t>
            </a:r>
            <a:r>
              <a:rPr sz="1600" spc="-30" dirty="0">
                <a:solidFill>
                  <a:srgbClr val="333A40"/>
                </a:solidFill>
                <a:latin typeface="Arial"/>
                <a:cs typeface="Arial"/>
              </a:rPr>
              <a:t>Article</a:t>
            </a:r>
            <a:r>
              <a:rPr sz="16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333A40"/>
                </a:solidFill>
                <a:latin typeface="Arial"/>
                <a:cs typeface="Arial"/>
              </a:rPr>
              <a:t>14.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F2411BD6-9B9C-9007-09FD-E3875DE92D5F}"/>
              </a:ext>
            </a:extLst>
          </p:cNvPr>
          <p:cNvSpPr/>
          <p:nvPr/>
        </p:nvSpPr>
        <p:spPr>
          <a:xfrm>
            <a:off x="737506" y="1052724"/>
            <a:ext cx="3377293" cy="384721"/>
          </a:xfrm>
          <a:prstGeom prst="rect">
            <a:avLst/>
          </a:prstGeom>
          <a:solidFill>
            <a:srgbClr val="2F6EEA"/>
          </a:solidFill>
          <a:ln>
            <a:solidFill>
              <a:srgbClr val="2D6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/>
              <a:t>LEITURA E ENTENDIMENTO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5A9098FF-4312-E175-F561-C636D093B666}"/>
              </a:ext>
            </a:extLst>
          </p:cNvPr>
          <p:cNvSpPr/>
          <p:nvPr/>
        </p:nvSpPr>
        <p:spPr>
          <a:xfrm>
            <a:off x="600981" y="2829060"/>
            <a:ext cx="5647419" cy="1080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D6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object 12">
            <a:extLst>
              <a:ext uri="{FF2B5EF4-FFF2-40B4-BE49-F238E27FC236}">
                <a16:creationId xmlns:a16="http://schemas.microsoft.com/office/drawing/2014/main" id="{C316FE24-FEBB-6E53-24F8-D54675A1D248}"/>
              </a:ext>
            </a:extLst>
          </p:cNvPr>
          <p:cNvSpPr txBox="1"/>
          <p:nvPr/>
        </p:nvSpPr>
        <p:spPr>
          <a:xfrm>
            <a:off x="838200" y="3192179"/>
            <a:ext cx="5181600" cy="52001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lang="pt-BR" sz="1600" spc="-85" dirty="0">
                <a:solidFill>
                  <a:srgbClr val="333A40"/>
                </a:solidFill>
                <a:latin typeface="Arial"/>
                <a:cs typeface="Arial"/>
              </a:rPr>
              <a:t>Primeira tentativa de implementação. Leitura do Artigo, utilização do </a:t>
            </a:r>
            <a:r>
              <a:rPr lang="pt-BR" sz="1600" spc="-85" dirty="0" err="1">
                <a:solidFill>
                  <a:srgbClr val="333A40"/>
                </a:solidFill>
                <a:latin typeface="Arial"/>
                <a:cs typeface="Arial"/>
              </a:rPr>
              <a:t>Pseudicódigo</a:t>
            </a:r>
            <a:r>
              <a:rPr lang="pt-BR" sz="1600" spc="-85" dirty="0">
                <a:solidFill>
                  <a:srgbClr val="333A40"/>
                </a:solidFill>
                <a:latin typeface="Arial"/>
                <a:cs typeface="Arial"/>
              </a:rPr>
              <a:t> e  implementação do código do </a:t>
            </a:r>
            <a:r>
              <a:rPr lang="pt-BR" sz="1600" spc="-85" dirty="0" err="1">
                <a:solidFill>
                  <a:srgbClr val="333A40"/>
                </a:solidFill>
                <a:latin typeface="Arial"/>
                <a:cs typeface="Arial"/>
              </a:rPr>
              <a:t>MatLab</a:t>
            </a:r>
            <a:r>
              <a:rPr lang="pt-BR" sz="1600" spc="-85" dirty="0">
                <a:solidFill>
                  <a:srgbClr val="333A40"/>
                </a:solidFill>
                <a:latin typeface="Arial"/>
                <a:cs typeface="Arial"/>
              </a:rPr>
              <a:t>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0E9CF2DD-5957-B57B-564D-5E40C54D1151}"/>
              </a:ext>
            </a:extLst>
          </p:cNvPr>
          <p:cNvSpPr/>
          <p:nvPr/>
        </p:nvSpPr>
        <p:spPr>
          <a:xfrm>
            <a:off x="737506" y="2590006"/>
            <a:ext cx="3377293" cy="384721"/>
          </a:xfrm>
          <a:prstGeom prst="rect">
            <a:avLst/>
          </a:prstGeom>
          <a:solidFill>
            <a:srgbClr val="2F6EEA"/>
          </a:solidFill>
          <a:ln>
            <a:solidFill>
              <a:srgbClr val="2D6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/>
              <a:t>DESENVOLVIMENTO E IMPLEMENTAÇÃO</a:t>
            </a:r>
          </a:p>
        </p:txBody>
      </p:sp>
      <p:pic>
        <p:nvPicPr>
          <p:cNvPr id="57" name="Imagem 56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232167D8-74D1-44BF-31FF-90AFB1E30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55977"/>
            <a:ext cx="4938231" cy="2469116"/>
          </a:xfrm>
          <a:prstGeom prst="rect">
            <a:avLst/>
          </a:prstGeom>
        </p:spPr>
      </p:pic>
      <p:pic>
        <p:nvPicPr>
          <p:cNvPr id="58" name="Imagem 57" descr="Gráfico&#10;&#10;O conteúdo gerado por IA pode estar incorreto.">
            <a:extLst>
              <a:ext uri="{FF2B5EF4-FFF2-40B4-BE49-F238E27FC236}">
                <a16:creationId xmlns:a16="http://schemas.microsoft.com/office/drawing/2014/main" id="{BDBE1241-121B-FA18-CE25-42D8B24A4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564" y="2781123"/>
            <a:ext cx="5584478" cy="3722988"/>
          </a:xfrm>
          <a:prstGeom prst="rect">
            <a:avLst/>
          </a:prstGeom>
        </p:spPr>
      </p:pic>
      <p:sp>
        <p:nvSpPr>
          <p:cNvPr id="60" name="CaixaDeTexto 59">
            <a:extLst>
              <a:ext uri="{FF2B5EF4-FFF2-40B4-BE49-F238E27FC236}">
                <a16:creationId xmlns:a16="http://schemas.microsoft.com/office/drawing/2014/main" id="{20D92156-BA9E-5296-F0BA-4CC267E83F90}"/>
              </a:ext>
            </a:extLst>
          </p:cNvPr>
          <p:cNvSpPr txBox="1"/>
          <p:nvPr/>
        </p:nvSpPr>
        <p:spPr>
          <a:xfrm>
            <a:off x="4401809" y="6079809"/>
            <a:ext cx="34600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2"/>
                </a:solidFill>
              </a:rPr>
              <a:t>IMPLEMENTAÇÃO FALHA</a:t>
            </a:r>
          </a:p>
          <a:p>
            <a:pPr algn="ctr"/>
            <a:r>
              <a:rPr lang="pt-BR" sz="1200" b="1" dirty="0">
                <a:solidFill>
                  <a:schemeClr val="tx1"/>
                </a:solidFill>
              </a:rPr>
              <a:t>Erro Offline 10x maior que o artigo.</a:t>
            </a:r>
          </a:p>
        </p:txBody>
      </p:sp>
      <p:cxnSp>
        <p:nvCxnSpPr>
          <p:cNvPr id="62" name="Conector: Curvo 61">
            <a:extLst>
              <a:ext uri="{FF2B5EF4-FFF2-40B4-BE49-F238E27FC236}">
                <a16:creationId xmlns:a16="http://schemas.microsoft.com/office/drawing/2014/main" id="{ED54837F-F332-5921-F8F6-7F3A450F8690}"/>
              </a:ext>
            </a:extLst>
          </p:cNvPr>
          <p:cNvCxnSpPr>
            <a:stCxn id="43" idx="1"/>
            <a:endCxn id="51" idx="1"/>
          </p:cNvCxnSpPr>
          <p:nvPr/>
        </p:nvCxnSpPr>
        <p:spPr>
          <a:xfrm rot="10800000" flipV="1">
            <a:off x="600981" y="1831778"/>
            <a:ext cx="12700" cy="1537282"/>
          </a:xfrm>
          <a:prstGeom prst="curvedConnector3">
            <a:avLst>
              <a:gd name="adj1" fmla="val 3771425"/>
            </a:avLst>
          </a:prstGeom>
          <a:ln w="19050">
            <a:solidFill>
              <a:srgbClr val="2D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20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52249-5E8F-23F1-994A-48444067B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object 37">
            <a:extLst>
              <a:ext uri="{FF2B5EF4-FFF2-40B4-BE49-F238E27FC236}">
                <a16:creationId xmlns:a16="http://schemas.microsoft.com/office/drawing/2014/main" id="{F197AF8F-36CC-ED7F-ECE7-E284F8AEFA7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704806"/>
            <a:ext cx="12191999" cy="76199"/>
          </a:xfrm>
          <a:prstGeom prst="rect">
            <a:avLst/>
          </a:prstGeom>
        </p:spPr>
      </p:pic>
      <p:sp>
        <p:nvSpPr>
          <p:cNvPr id="37" name="Título 36">
            <a:extLst>
              <a:ext uri="{FF2B5EF4-FFF2-40B4-BE49-F238E27FC236}">
                <a16:creationId xmlns:a16="http://schemas.microsoft.com/office/drawing/2014/main" id="{17A8237D-491F-95FF-B648-6D2388CC0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99" y="389933"/>
            <a:ext cx="6149975" cy="384721"/>
          </a:xfrm>
        </p:spPr>
        <p:txBody>
          <a:bodyPr/>
          <a:lstStyle/>
          <a:p>
            <a:r>
              <a:rPr lang="pt-BR" dirty="0"/>
              <a:t>Histórico do trabalho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B640F90B-E08D-B643-57D8-7F2DC02BAEE5}"/>
              </a:ext>
            </a:extLst>
          </p:cNvPr>
          <p:cNvSpPr/>
          <p:nvPr/>
        </p:nvSpPr>
        <p:spPr>
          <a:xfrm>
            <a:off x="600981" y="1292017"/>
            <a:ext cx="3818619" cy="8080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D6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2572C9D9-FCA8-E75E-4168-212BABCBF783}"/>
              </a:ext>
            </a:extLst>
          </p:cNvPr>
          <p:cNvSpPr/>
          <p:nvPr/>
        </p:nvSpPr>
        <p:spPr>
          <a:xfrm>
            <a:off x="737506" y="1052724"/>
            <a:ext cx="3377293" cy="384721"/>
          </a:xfrm>
          <a:prstGeom prst="rect">
            <a:avLst/>
          </a:prstGeom>
          <a:solidFill>
            <a:srgbClr val="2F6EEA"/>
          </a:solidFill>
          <a:ln>
            <a:solidFill>
              <a:srgbClr val="2D6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/>
              <a:t>DESENVOLVIMENTO E IMPLEMENTAÇÃO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03D672AD-310F-8451-4621-1A918CBDA4C5}"/>
              </a:ext>
            </a:extLst>
          </p:cNvPr>
          <p:cNvSpPr/>
          <p:nvPr/>
        </p:nvSpPr>
        <p:spPr>
          <a:xfrm>
            <a:off x="565149" y="2624677"/>
            <a:ext cx="3854451" cy="80353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2D6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object 12">
            <a:extLst>
              <a:ext uri="{FF2B5EF4-FFF2-40B4-BE49-F238E27FC236}">
                <a16:creationId xmlns:a16="http://schemas.microsoft.com/office/drawing/2014/main" id="{F888C57C-7DBC-B522-8A61-B4C9FE3B7341}"/>
              </a:ext>
            </a:extLst>
          </p:cNvPr>
          <p:cNvSpPr txBox="1"/>
          <p:nvPr/>
        </p:nvSpPr>
        <p:spPr>
          <a:xfrm>
            <a:off x="822325" y="1620186"/>
            <a:ext cx="3140075" cy="273793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lang="pt-BR" sz="1600" spc="-85" dirty="0">
                <a:solidFill>
                  <a:srgbClr val="333A40"/>
                </a:solidFill>
                <a:latin typeface="Arial"/>
                <a:cs typeface="Arial"/>
              </a:rPr>
              <a:t>Tentativas frustradas de correção.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0AA950F0-6684-1834-B284-62F5B248AC00}"/>
              </a:ext>
            </a:extLst>
          </p:cNvPr>
          <p:cNvSpPr/>
          <p:nvPr/>
        </p:nvSpPr>
        <p:spPr>
          <a:xfrm>
            <a:off x="701674" y="2385622"/>
            <a:ext cx="3377293" cy="384721"/>
          </a:xfrm>
          <a:prstGeom prst="rect">
            <a:avLst/>
          </a:prstGeom>
          <a:solidFill>
            <a:srgbClr val="2F6EEA"/>
          </a:solidFill>
          <a:ln>
            <a:solidFill>
              <a:srgbClr val="2D6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/>
              <a:t>REIMPLEMENTAÇÃO</a:t>
            </a:r>
          </a:p>
        </p:txBody>
      </p:sp>
      <p:cxnSp>
        <p:nvCxnSpPr>
          <p:cNvPr id="3" name="Conector: Angulado 2">
            <a:extLst>
              <a:ext uri="{FF2B5EF4-FFF2-40B4-BE49-F238E27FC236}">
                <a16:creationId xmlns:a16="http://schemas.microsoft.com/office/drawing/2014/main" id="{C9CF2EE3-C50B-A496-CE46-5D7C25B3AD3A}"/>
              </a:ext>
            </a:extLst>
          </p:cNvPr>
          <p:cNvCxnSpPr>
            <a:cxnSpLocks/>
            <a:stCxn id="43" idx="1"/>
          </p:cNvCxnSpPr>
          <p:nvPr/>
        </p:nvCxnSpPr>
        <p:spPr>
          <a:xfrm rot="10800000">
            <a:off x="381009" y="75653"/>
            <a:ext cx="219973" cy="1620396"/>
          </a:xfrm>
          <a:prstGeom prst="bentConnector2">
            <a:avLst/>
          </a:prstGeom>
          <a:ln w="28575">
            <a:solidFill>
              <a:srgbClr val="2F6E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bject 12">
            <a:extLst>
              <a:ext uri="{FF2B5EF4-FFF2-40B4-BE49-F238E27FC236}">
                <a16:creationId xmlns:a16="http://schemas.microsoft.com/office/drawing/2014/main" id="{9E51B35A-DF7A-C838-97BD-F21169BEDB5B}"/>
              </a:ext>
            </a:extLst>
          </p:cNvPr>
          <p:cNvSpPr txBox="1"/>
          <p:nvPr/>
        </p:nvSpPr>
        <p:spPr>
          <a:xfrm>
            <a:off x="820282" y="2976875"/>
            <a:ext cx="3140075" cy="273793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lang="pt-BR" sz="1600" spc="-85" dirty="0">
                <a:solidFill>
                  <a:srgbClr val="333A40"/>
                </a:solidFill>
                <a:latin typeface="Arial"/>
                <a:cs typeface="Arial"/>
              </a:rPr>
              <a:t>Utilização somente do código </a:t>
            </a:r>
            <a:r>
              <a:rPr lang="pt-BR" sz="1600" spc="-85" dirty="0" err="1">
                <a:solidFill>
                  <a:srgbClr val="333A40"/>
                </a:solidFill>
                <a:latin typeface="Arial"/>
                <a:cs typeface="Arial"/>
              </a:rPr>
              <a:t>Matlab</a:t>
            </a:r>
            <a:endParaRPr sz="1600" dirty="0">
              <a:latin typeface="Arial"/>
              <a:cs typeface="Arial"/>
            </a:endParaRPr>
          </a:p>
        </p:txBody>
      </p:sp>
      <p:cxnSp>
        <p:nvCxnSpPr>
          <p:cNvPr id="7" name="Conector: Curvo 6">
            <a:extLst>
              <a:ext uri="{FF2B5EF4-FFF2-40B4-BE49-F238E27FC236}">
                <a16:creationId xmlns:a16="http://schemas.microsoft.com/office/drawing/2014/main" id="{296CFABF-26FB-66EF-4087-EFF8AD75E962}"/>
              </a:ext>
            </a:extLst>
          </p:cNvPr>
          <p:cNvCxnSpPr>
            <a:cxnSpLocks/>
            <a:stCxn id="43" idx="3"/>
            <a:endCxn id="51" idx="3"/>
          </p:cNvCxnSpPr>
          <p:nvPr/>
        </p:nvCxnSpPr>
        <p:spPr>
          <a:xfrm>
            <a:off x="4419600" y="1696049"/>
            <a:ext cx="12700" cy="1330393"/>
          </a:xfrm>
          <a:prstGeom prst="curvedConnector3">
            <a:avLst>
              <a:gd name="adj1" fmla="val 2828575"/>
            </a:avLst>
          </a:prstGeom>
          <a:ln w="19050">
            <a:solidFill>
              <a:srgbClr val="2D6A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72DBF5EA-15C5-68B5-D2EF-8DE98DB0F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852958"/>
            <a:ext cx="5370336" cy="2685168"/>
          </a:xfrm>
          <a:prstGeom prst="rect">
            <a:avLst/>
          </a:prstGeom>
        </p:spPr>
      </p:pic>
      <p:pic>
        <p:nvPicPr>
          <p:cNvPr id="14" name="Imagem 13" descr="Gráfico&#10;&#10;O conteúdo gerado por IA pode estar incorreto.">
            <a:extLst>
              <a:ext uri="{FF2B5EF4-FFF2-40B4-BE49-F238E27FC236}">
                <a16:creationId xmlns:a16="http://schemas.microsoft.com/office/drawing/2014/main" id="{AAC4CD44-3ACC-662A-F832-1B5C5081C2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0" y="3781312"/>
            <a:ext cx="5370336" cy="2685168"/>
          </a:xfrm>
          <a:prstGeom prst="rect">
            <a:avLst/>
          </a:prstGeom>
        </p:spPr>
      </p:pic>
      <p:pic>
        <p:nvPicPr>
          <p:cNvPr id="18" name="Imagem 17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CD097C87-F8CC-273B-B72F-4FEB8E3AF1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534" y="692087"/>
            <a:ext cx="5370336" cy="3132696"/>
          </a:xfrm>
          <a:prstGeom prst="rect">
            <a:avLst/>
          </a:prstGeom>
        </p:spPr>
      </p:pic>
      <p:pic>
        <p:nvPicPr>
          <p:cNvPr id="19" name="Imagem 18" descr="Gráfico, Gráfico de caixa estreita&#10;&#10;O conteúdo gerado por IA pode estar incorreto.">
            <a:extLst>
              <a:ext uri="{FF2B5EF4-FFF2-40B4-BE49-F238E27FC236}">
                <a16:creationId xmlns:a16="http://schemas.microsoft.com/office/drawing/2014/main" id="{23406BEC-CC0F-8084-05F7-BB83A0B8252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0" y="1245084"/>
            <a:ext cx="2358494" cy="1768870"/>
          </a:xfrm>
          <a:prstGeom prst="rect">
            <a:avLst/>
          </a:prstGeom>
          <a:ln>
            <a:solidFill>
              <a:srgbClr val="2F6EEA"/>
            </a:solidFill>
          </a:ln>
        </p:spPr>
      </p:pic>
    </p:spTree>
    <p:extLst>
      <p:ext uri="{BB962C8B-B14F-4D97-AF65-F5344CB8AC3E}">
        <p14:creationId xmlns:p14="http://schemas.microsoft.com/office/powerpoint/2010/main" val="186798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9" grpId="0" animBg="1"/>
      <p:bldP spid="51" grpId="0" animBg="1"/>
      <p:bldP spid="52" grpId="0"/>
      <p:bldP spid="53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389933"/>
            <a:ext cx="6149975" cy="40075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55" dirty="0"/>
              <a:t>Estrutura e Implementação em Python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0999" y="1523999"/>
            <a:ext cx="5486400" cy="1028700"/>
            <a:chOff x="380999" y="1523999"/>
            <a:chExt cx="5486400" cy="1028700"/>
          </a:xfrm>
        </p:grpSpPr>
        <p:sp>
          <p:nvSpPr>
            <p:cNvPr id="4" name="object 4"/>
            <p:cNvSpPr/>
            <p:nvPr/>
          </p:nvSpPr>
          <p:spPr>
            <a:xfrm>
              <a:off x="400049" y="1523999"/>
              <a:ext cx="5467350" cy="1028700"/>
            </a:xfrm>
            <a:custGeom>
              <a:avLst/>
              <a:gdLst/>
              <a:ahLst/>
              <a:cxnLst/>
              <a:rect l="l" t="t" r="r" b="b"/>
              <a:pathLst>
                <a:path w="5467350" h="1028700">
                  <a:moveTo>
                    <a:pt x="5396152" y="1028699"/>
                  </a:moveTo>
                  <a:lnTo>
                    <a:pt x="53397" y="1028699"/>
                  </a:lnTo>
                  <a:lnTo>
                    <a:pt x="49681" y="1028211"/>
                  </a:lnTo>
                  <a:lnTo>
                    <a:pt x="14085" y="1002843"/>
                  </a:lnTo>
                  <a:lnTo>
                    <a:pt x="366" y="962458"/>
                  </a:lnTo>
                  <a:lnTo>
                    <a:pt x="0" y="957503"/>
                  </a:lnTo>
                  <a:lnTo>
                    <a:pt x="0" y="9524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396152" y="0"/>
                  </a:lnTo>
                  <a:lnTo>
                    <a:pt x="5437643" y="15621"/>
                  </a:lnTo>
                  <a:lnTo>
                    <a:pt x="5463463" y="51661"/>
                  </a:lnTo>
                  <a:lnTo>
                    <a:pt x="5467349" y="71196"/>
                  </a:lnTo>
                  <a:lnTo>
                    <a:pt x="5467349" y="957503"/>
                  </a:lnTo>
                  <a:lnTo>
                    <a:pt x="5451726" y="998994"/>
                  </a:lnTo>
                  <a:lnTo>
                    <a:pt x="5415687" y="1024813"/>
                  </a:lnTo>
                  <a:lnTo>
                    <a:pt x="5401107" y="1028211"/>
                  </a:lnTo>
                  <a:lnTo>
                    <a:pt x="5396152" y="1028699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99" y="1524277"/>
              <a:ext cx="70485" cy="1028700"/>
            </a:xfrm>
            <a:custGeom>
              <a:avLst/>
              <a:gdLst/>
              <a:ahLst/>
              <a:cxnLst/>
              <a:rect l="l" t="t" r="r" b="b"/>
              <a:pathLst>
                <a:path w="70484" h="1028700">
                  <a:moveTo>
                    <a:pt x="70449" y="1028144"/>
                  </a:moveTo>
                  <a:lnTo>
                    <a:pt x="33857" y="1015591"/>
                  </a:lnTo>
                  <a:lnTo>
                    <a:pt x="5800" y="981382"/>
                  </a:lnTo>
                  <a:lnTo>
                    <a:pt x="0" y="9522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52222"/>
                  </a:lnTo>
                  <a:lnTo>
                    <a:pt x="44514" y="994564"/>
                  </a:lnTo>
                  <a:lnTo>
                    <a:pt x="66287" y="1026488"/>
                  </a:lnTo>
                  <a:lnTo>
                    <a:pt x="70449" y="1028144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1499" y="1676399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171449" y="380999"/>
                  </a:moveTo>
                  <a:lnTo>
                    <a:pt x="129780" y="375860"/>
                  </a:lnTo>
                  <a:lnTo>
                    <a:pt x="90627" y="360756"/>
                  </a:lnTo>
                  <a:lnTo>
                    <a:pt x="56317" y="336593"/>
                  </a:lnTo>
                  <a:lnTo>
                    <a:pt x="28894" y="304802"/>
                  </a:lnTo>
                  <a:lnTo>
                    <a:pt x="10017" y="267300"/>
                  </a:lnTo>
                  <a:lnTo>
                    <a:pt x="823" y="226355"/>
                  </a:lnTo>
                  <a:lnTo>
                    <a:pt x="0" y="209549"/>
                  </a:lnTo>
                  <a:lnTo>
                    <a:pt x="0" y="171449"/>
                  </a:lnTo>
                  <a:lnTo>
                    <a:pt x="5139" y="129780"/>
                  </a:lnTo>
                  <a:lnTo>
                    <a:pt x="20242" y="90628"/>
                  </a:lnTo>
                  <a:lnTo>
                    <a:pt x="44406" y="56317"/>
                  </a:lnTo>
                  <a:lnTo>
                    <a:pt x="76197" y="28894"/>
                  </a:lnTo>
                  <a:lnTo>
                    <a:pt x="113699" y="10017"/>
                  </a:lnTo>
                  <a:lnTo>
                    <a:pt x="154644" y="823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899" y="209549"/>
                  </a:lnTo>
                  <a:lnTo>
                    <a:pt x="337760" y="251218"/>
                  </a:lnTo>
                  <a:lnTo>
                    <a:pt x="322656" y="290371"/>
                  </a:lnTo>
                  <a:lnTo>
                    <a:pt x="298493" y="324681"/>
                  </a:lnTo>
                  <a:lnTo>
                    <a:pt x="266702" y="352105"/>
                  </a:lnTo>
                  <a:lnTo>
                    <a:pt x="229200" y="370981"/>
                  </a:lnTo>
                  <a:lnTo>
                    <a:pt x="188255" y="380176"/>
                  </a:lnTo>
                  <a:lnTo>
                    <a:pt x="17144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8176" y="1783675"/>
              <a:ext cx="187523" cy="149363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80999" y="2705099"/>
            <a:ext cx="5486400" cy="800100"/>
            <a:chOff x="380999" y="2705099"/>
            <a:chExt cx="5486400" cy="800100"/>
          </a:xfrm>
        </p:grpSpPr>
        <p:sp>
          <p:nvSpPr>
            <p:cNvPr id="9" name="object 9"/>
            <p:cNvSpPr/>
            <p:nvPr/>
          </p:nvSpPr>
          <p:spPr>
            <a:xfrm>
              <a:off x="400049" y="2705099"/>
              <a:ext cx="5467350" cy="800100"/>
            </a:xfrm>
            <a:custGeom>
              <a:avLst/>
              <a:gdLst/>
              <a:ahLst/>
              <a:cxnLst/>
              <a:rect l="l" t="t" r="r" b="b"/>
              <a:pathLst>
                <a:path w="5467350" h="800100">
                  <a:moveTo>
                    <a:pt x="5396152" y="800099"/>
                  </a:moveTo>
                  <a:lnTo>
                    <a:pt x="53397" y="800099"/>
                  </a:lnTo>
                  <a:lnTo>
                    <a:pt x="49681" y="799611"/>
                  </a:lnTo>
                  <a:lnTo>
                    <a:pt x="14085" y="774243"/>
                  </a:lnTo>
                  <a:lnTo>
                    <a:pt x="366" y="733858"/>
                  </a:lnTo>
                  <a:lnTo>
                    <a:pt x="0" y="728903"/>
                  </a:lnTo>
                  <a:lnTo>
                    <a:pt x="0" y="7238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396152" y="0"/>
                  </a:lnTo>
                  <a:lnTo>
                    <a:pt x="5437643" y="15621"/>
                  </a:lnTo>
                  <a:lnTo>
                    <a:pt x="5463463" y="51661"/>
                  </a:lnTo>
                  <a:lnTo>
                    <a:pt x="5467349" y="71196"/>
                  </a:lnTo>
                  <a:lnTo>
                    <a:pt x="5467349" y="728903"/>
                  </a:lnTo>
                  <a:lnTo>
                    <a:pt x="5451726" y="770394"/>
                  </a:lnTo>
                  <a:lnTo>
                    <a:pt x="5415687" y="796214"/>
                  </a:lnTo>
                  <a:lnTo>
                    <a:pt x="5401107" y="799611"/>
                  </a:lnTo>
                  <a:lnTo>
                    <a:pt x="5396152" y="800099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0999" y="2705377"/>
              <a:ext cx="70485" cy="800100"/>
            </a:xfrm>
            <a:custGeom>
              <a:avLst/>
              <a:gdLst/>
              <a:ahLst/>
              <a:cxnLst/>
              <a:rect l="l" t="t" r="r" b="b"/>
              <a:pathLst>
                <a:path w="70484" h="800100">
                  <a:moveTo>
                    <a:pt x="70450" y="799544"/>
                  </a:moveTo>
                  <a:lnTo>
                    <a:pt x="33857" y="786991"/>
                  </a:lnTo>
                  <a:lnTo>
                    <a:pt x="5800" y="752782"/>
                  </a:lnTo>
                  <a:lnTo>
                    <a:pt x="0" y="723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723622"/>
                  </a:lnTo>
                  <a:lnTo>
                    <a:pt x="44514" y="765964"/>
                  </a:lnTo>
                  <a:lnTo>
                    <a:pt x="66287" y="797888"/>
                  </a:lnTo>
                  <a:lnTo>
                    <a:pt x="70450" y="799544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1499" y="2857499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399" y="380999"/>
                  </a:moveTo>
                  <a:lnTo>
                    <a:pt x="108160" y="374439"/>
                  </a:lnTo>
                  <a:lnTo>
                    <a:pt x="67731" y="355315"/>
                  </a:lnTo>
                  <a:lnTo>
                    <a:pt x="34591" y="325282"/>
                  </a:lnTo>
                  <a:lnTo>
                    <a:pt x="11600" y="286920"/>
                  </a:lnTo>
                  <a:lnTo>
                    <a:pt x="732" y="243537"/>
                  </a:lnTo>
                  <a:lnTo>
                    <a:pt x="0" y="228599"/>
                  </a:lnTo>
                  <a:lnTo>
                    <a:pt x="0" y="152399"/>
                  </a:lnTo>
                  <a:lnTo>
                    <a:pt x="6560" y="108159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2" y="732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799" y="228599"/>
                  </a:lnTo>
                  <a:lnTo>
                    <a:pt x="298239" y="272839"/>
                  </a:lnTo>
                  <a:lnTo>
                    <a:pt x="279115" y="313268"/>
                  </a:lnTo>
                  <a:lnTo>
                    <a:pt x="249082" y="346407"/>
                  </a:lnTo>
                  <a:lnTo>
                    <a:pt x="210720" y="369398"/>
                  </a:lnTo>
                  <a:lnTo>
                    <a:pt x="167337" y="380267"/>
                  </a:lnTo>
                  <a:lnTo>
                    <a:pt x="1523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699" y="2962274"/>
              <a:ext cx="152399" cy="15239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80999" y="3657599"/>
            <a:ext cx="5486400" cy="800100"/>
            <a:chOff x="380999" y="3657599"/>
            <a:chExt cx="5486400" cy="800100"/>
          </a:xfrm>
        </p:grpSpPr>
        <p:sp>
          <p:nvSpPr>
            <p:cNvPr id="14" name="object 14"/>
            <p:cNvSpPr/>
            <p:nvPr/>
          </p:nvSpPr>
          <p:spPr>
            <a:xfrm>
              <a:off x="400049" y="3657599"/>
              <a:ext cx="5467350" cy="800100"/>
            </a:xfrm>
            <a:custGeom>
              <a:avLst/>
              <a:gdLst/>
              <a:ahLst/>
              <a:cxnLst/>
              <a:rect l="l" t="t" r="r" b="b"/>
              <a:pathLst>
                <a:path w="5467350" h="800100">
                  <a:moveTo>
                    <a:pt x="5396152" y="800099"/>
                  </a:moveTo>
                  <a:lnTo>
                    <a:pt x="53397" y="800099"/>
                  </a:lnTo>
                  <a:lnTo>
                    <a:pt x="49681" y="799611"/>
                  </a:lnTo>
                  <a:lnTo>
                    <a:pt x="14085" y="774243"/>
                  </a:lnTo>
                  <a:lnTo>
                    <a:pt x="366" y="733858"/>
                  </a:lnTo>
                  <a:lnTo>
                    <a:pt x="0" y="728903"/>
                  </a:lnTo>
                  <a:lnTo>
                    <a:pt x="0" y="7238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5396152" y="0"/>
                  </a:lnTo>
                  <a:lnTo>
                    <a:pt x="5437643" y="15621"/>
                  </a:lnTo>
                  <a:lnTo>
                    <a:pt x="5463463" y="51661"/>
                  </a:lnTo>
                  <a:lnTo>
                    <a:pt x="5467349" y="71196"/>
                  </a:lnTo>
                  <a:lnTo>
                    <a:pt x="5467349" y="728903"/>
                  </a:lnTo>
                  <a:lnTo>
                    <a:pt x="5451726" y="770394"/>
                  </a:lnTo>
                  <a:lnTo>
                    <a:pt x="5415687" y="796213"/>
                  </a:lnTo>
                  <a:lnTo>
                    <a:pt x="5401107" y="799611"/>
                  </a:lnTo>
                  <a:lnTo>
                    <a:pt x="5396152" y="800099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0999" y="3657877"/>
              <a:ext cx="70485" cy="800100"/>
            </a:xfrm>
            <a:custGeom>
              <a:avLst/>
              <a:gdLst/>
              <a:ahLst/>
              <a:cxnLst/>
              <a:rect l="l" t="t" r="r" b="b"/>
              <a:pathLst>
                <a:path w="70484" h="800100">
                  <a:moveTo>
                    <a:pt x="70450" y="799544"/>
                  </a:moveTo>
                  <a:lnTo>
                    <a:pt x="33857" y="786991"/>
                  </a:lnTo>
                  <a:lnTo>
                    <a:pt x="5800" y="752781"/>
                  </a:lnTo>
                  <a:lnTo>
                    <a:pt x="0" y="723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723622"/>
                  </a:lnTo>
                  <a:lnTo>
                    <a:pt x="44514" y="765963"/>
                  </a:lnTo>
                  <a:lnTo>
                    <a:pt x="66287" y="797888"/>
                  </a:lnTo>
                  <a:lnTo>
                    <a:pt x="70450" y="799544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1499" y="3809999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171449" y="380999"/>
                  </a:moveTo>
                  <a:lnTo>
                    <a:pt x="129780" y="375859"/>
                  </a:lnTo>
                  <a:lnTo>
                    <a:pt x="90627" y="360756"/>
                  </a:lnTo>
                  <a:lnTo>
                    <a:pt x="56317" y="336593"/>
                  </a:lnTo>
                  <a:lnTo>
                    <a:pt x="28894" y="304801"/>
                  </a:lnTo>
                  <a:lnTo>
                    <a:pt x="10017" y="267300"/>
                  </a:lnTo>
                  <a:lnTo>
                    <a:pt x="823" y="226354"/>
                  </a:lnTo>
                  <a:lnTo>
                    <a:pt x="0" y="209549"/>
                  </a:lnTo>
                  <a:lnTo>
                    <a:pt x="0" y="171449"/>
                  </a:lnTo>
                  <a:lnTo>
                    <a:pt x="5139" y="129780"/>
                  </a:lnTo>
                  <a:lnTo>
                    <a:pt x="20242" y="90627"/>
                  </a:lnTo>
                  <a:lnTo>
                    <a:pt x="44406" y="56317"/>
                  </a:lnTo>
                  <a:lnTo>
                    <a:pt x="76197" y="28894"/>
                  </a:lnTo>
                  <a:lnTo>
                    <a:pt x="113699" y="10017"/>
                  </a:lnTo>
                  <a:lnTo>
                    <a:pt x="154644" y="823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899" y="209549"/>
                  </a:lnTo>
                  <a:lnTo>
                    <a:pt x="337760" y="251218"/>
                  </a:lnTo>
                  <a:lnTo>
                    <a:pt x="322656" y="290371"/>
                  </a:lnTo>
                  <a:lnTo>
                    <a:pt x="298493" y="324681"/>
                  </a:lnTo>
                  <a:lnTo>
                    <a:pt x="266702" y="352104"/>
                  </a:lnTo>
                  <a:lnTo>
                    <a:pt x="229200" y="370981"/>
                  </a:lnTo>
                  <a:lnTo>
                    <a:pt x="188255" y="380176"/>
                  </a:lnTo>
                  <a:lnTo>
                    <a:pt x="17144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" y="3914774"/>
              <a:ext cx="190499" cy="152399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80999" y="4610099"/>
            <a:ext cx="5486400" cy="800100"/>
            <a:chOff x="380999" y="4610099"/>
            <a:chExt cx="5486400" cy="800100"/>
          </a:xfrm>
        </p:grpSpPr>
        <p:sp>
          <p:nvSpPr>
            <p:cNvPr id="19" name="object 19"/>
            <p:cNvSpPr/>
            <p:nvPr/>
          </p:nvSpPr>
          <p:spPr>
            <a:xfrm>
              <a:off x="400049" y="4610099"/>
              <a:ext cx="5467350" cy="800100"/>
            </a:xfrm>
            <a:custGeom>
              <a:avLst/>
              <a:gdLst/>
              <a:ahLst/>
              <a:cxnLst/>
              <a:rect l="l" t="t" r="r" b="b"/>
              <a:pathLst>
                <a:path w="5467350" h="800100">
                  <a:moveTo>
                    <a:pt x="5396152" y="800099"/>
                  </a:moveTo>
                  <a:lnTo>
                    <a:pt x="53397" y="800099"/>
                  </a:lnTo>
                  <a:lnTo>
                    <a:pt x="49681" y="799611"/>
                  </a:lnTo>
                  <a:lnTo>
                    <a:pt x="14085" y="774242"/>
                  </a:lnTo>
                  <a:lnTo>
                    <a:pt x="366" y="733858"/>
                  </a:lnTo>
                  <a:lnTo>
                    <a:pt x="0" y="728903"/>
                  </a:lnTo>
                  <a:lnTo>
                    <a:pt x="0" y="7238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5396152" y="0"/>
                  </a:lnTo>
                  <a:lnTo>
                    <a:pt x="5437643" y="15621"/>
                  </a:lnTo>
                  <a:lnTo>
                    <a:pt x="5463463" y="51661"/>
                  </a:lnTo>
                  <a:lnTo>
                    <a:pt x="5467349" y="71196"/>
                  </a:lnTo>
                  <a:lnTo>
                    <a:pt x="5467349" y="728903"/>
                  </a:lnTo>
                  <a:lnTo>
                    <a:pt x="5451726" y="770393"/>
                  </a:lnTo>
                  <a:lnTo>
                    <a:pt x="5415687" y="796213"/>
                  </a:lnTo>
                  <a:lnTo>
                    <a:pt x="5401107" y="799611"/>
                  </a:lnTo>
                  <a:lnTo>
                    <a:pt x="5396152" y="800099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0999" y="4610377"/>
              <a:ext cx="70485" cy="800100"/>
            </a:xfrm>
            <a:custGeom>
              <a:avLst/>
              <a:gdLst/>
              <a:ahLst/>
              <a:cxnLst/>
              <a:rect l="l" t="t" r="r" b="b"/>
              <a:pathLst>
                <a:path w="70484" h="800100">
                  <a:moveTo>
                    <a:pt x="70450" y="799544"/>
                  </a:moveTo>
                  <a:lnTo>
                    <a:pt x="33857" y="786991"/>
                  </a:lnTo>
                  <a:lnTo>
                    <a:pt x="5800" y="752781"/>
                  </a:lnTo>
                  <a:lnTo>
                    <a:pt x="0" y="723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0"/>
                  </a:lnTo>
                  <a:lnTo>
                    <a:pt x="38100" y="75922"/>
                  </a:lnTo>
                  <a:lnTo>
                    <a:pt x="38100" y="723622"/>
                  </a:lnTo>
                  <a:lnTo>
                    <a:pt x="44514" y="765963"/>
                  </a:lnTo>
                  <a:lnTo>
                    <a:pt x="66287" y="797888"/>
                  </a:lnTo>
                  <a:lnTo>
                    <a:pt x="70450" y="799544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1499" y="4762499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399" y="380999"/>
                  </a:moveTo>
                  <a:lnTo>
                    <a:pt x="108160" y="374438"/>
                  </a:lnTo>
                  <a:lnTo>
                    <a:pt x="67731" y="355314"/>
                  </a:lnTo>
                  <a:lnTo>
                    <a:pt x="34591" y="325282"/>
                  </a:lnTo>
                  <a:lnTo>
                    <a:pt x="11600" y="286920"/>
                  </a:lnTo>
                  <a:lnTo>
                    <a:pt x="732" y="243538"/>
                  </a:lnTo>
                  <a:lnTo>
                    <a:pt x="0" y="228599"/>
                  </a:lnTo>
                  <a:lnTo>
                    <a:pt x="0" y="152399"/>
                  </a:lnTo>
                  <a:lnTo>
                    <a:pt x="6560" y="108159"/>
                  </a:lnTo>
                  <a:lnTo>
                    <a:pt x="25683" y="67730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2" y="732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799" y="228599"/>
                  </a:lnTo>
                  <a:lnTo>
                    <a:pt x="298239" y="272839"/>
                  </a:lnTo>
                  <a:lnTo>
                    <a:pt x="279115" y="313268"/>
                  </a:lnTo>
                  <a:lnTo>
                    <a:pt x="249082" y="346407"/>
                  </a:lnTo>
                  <a:lnTo>
                    <a:pt x="210720" y="369398"/>
                  </a:lnTo>
                  <a:lnTo>
                    <a:pt x="167337" y="380267"/>
                  </a:lnTo>
                  <a:lnTo>
                    <a:pt x="1523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699" y="4876799"/>
              <a:ext cx="152399" cy="13334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68299" y="1028382"/>
            <a:ext cx="10000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79465" algn="l"/>
              </a:tabLst>
            </a:pPr>
            <a:r>
              <a:rPr sz="2000" b="0" spc="-105" dirty="0" err="1">
                <a:solidFill>
                  <a:srgbClr val="1D40AF"/>
                </a:solidFill>
                <a:latin typeface="Roboto Medium"/>
                <a:cs typeface="Roboto Medium"/>
              </a:rPr>
              <a:t>Arquitetu</a:t>
            </a:r>
            <a:r>
              <a:rPr lang="pt-BR" sz="2000" b="0" spc="-105" dirty="0" err="1">
                <a:solidFill>
                  <a:srgbClr val="1D40AF"/>
                </a:solidFill>
                <a:latin typeface="Roboto Medium"/>
                <a:cs typeface="Roboto Medium"/>
              </a:rPr>
              <a:t>ra</a:t>
            </a:r>
            <a:r>
              <a:rPr lang="pt-BR" sz="2000" b="0" spc="-3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10" dirty="0">
                <a:solidFill>
                  <a:srgbClr val="1D40AF"/>
                </a:solidFill>
                <a:latin typeface="Roboto Medium"/>
                <a:cs typeface="Roboto Medium"/>
              </a:rPr>
              <a:t>Modular</a:t>
            </a:r>
            <a:r>
              <a:rPr sz="2000" b="0" dirty="0">
                <a:solidFill>
                  <a:srgbClr val="1D40AF"/>
                </a:solidFill>
                <a:latin typeface="Roboto Medium"/>
                <a:cs typeface="Roboto Medium"/>
              </a:rPr>
              <a:t>	</a:t>
            </a:r>
            <a:endParaRPr sz="2000" dirty="0">
              <a:latin typeface="Roboto Medium"/>
              <a:cs typeface="Roboto Mediu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6000" y="1630957"/>
            <a:ext cx="4660900" cy="7493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650" b="0" spc="-20" dirty="0">
                <a:solidFill>
                  <a:srgbClr val="1C4ED8"/>
                </a:solidFill>
                <a:latin typeface="Roboto Medium"/>
                <a:cs typeface="Roboto Medium"/>
              </a:rPr>
              <a:t>ASPSOOptimizer</a:t>
            </a:r>
            <a:endParaRPr sz="1650">
              <a:latin typeface="Roboto Medium"/>
              <a:cs typeface="Roboto Medium"/>
            </a:endParaRPr>
          </a:p>
          <a:p>
            <a:pPr marL="12700" marR="5080">
              <a:lnSpc>
                <a:spcPts val="1800"/>
              </a:lnSpc>
              <a:spcBef>
                <a:spcPts val="30"/>
              </a:spcBef>
            </a:pP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Núcleo</a:t>
            </a:r>
            <a:r>
              <a:rPr sz="1300" spc="-1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do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374050"/>
                </a:solidFill>
                <a:latin typeface="Roboto"/>
                <a:cs typeface="Roboto"/>
              </a:rPr>
              <a:t>algoritmo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que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374050"/>
                </a:solidFill>
                <a:latin typeface="Roboto"/>
                <a:cs typeface="Roboto"/>
              </a:rPr>
              <a:t>gerencia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população,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formação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de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35" dirty="0">
                <a:solidFill>
                  <a:srgbClr val="374050"/>
                </a:solidFill>
                <a:latin typeface="Roboto"/>
                <a:cs typeface="Roboto"/>
              </a:rPr>
              <a:t>espécies, </a:t>
            </a:r>
            <a:r>
              <a:rPr sz="1300" dirty="0">
                <a:solidFill>
                  <a:srgbClr val="374050"/>
                </a:solidFill>
                <a:latin typeface="Roboto"/>
                <a:cs typeface="Roboto"/>
              </a:rPr>
              <a:t>e</a:t>
            </a:r>
            <a:r>
              <a:rPr sz="1300" spc="-7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implementa</a:t>
            </a:r>
            <a:r>
              <a:rPr sz="1300" spc="-2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374050"/>
                </a:solidFill>
                <a:latin typeface="Roboto"/>
                <a:cs typeface="Roboto"/>
              </a:rPr>
              <a:t>AP+AD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7900" y="2812057"/>
            <a:ext cx="4534535" cy="520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650" b="0" spc="-10" dirty="0">
                <a:solidFill>
                  <a:srgbClr val="1C4ED8"/>
                </a:solidFill>
                <a:latin typeface="Roboto Medium"/>
                <a:cs typeface="Roboto Medium"/>
              </a:rPr>
              <a:t>Particle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Encapsula</a:t>
            </a:r>
            <a:r>
              <a:rPr sz="1300" spc="-1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comportamento</a:t>
            </a:r>
            <a:r>
              <a:rPr sz="1300" spc="-1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45" dirty="0">
                <a:solidFill>
                  <a:srgbClr val="374050"/>
                </a:solidFill>
                <a:latin typeface="Roboto"/>
                <a:cs typeface="Roboto"/>
              </a:rPr>
              <a:t>individual</a:t>
            </a:r>
            <a:r>
              <a:rPr sz="1300" spc="-1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de</a:t>
            </a:r>
            <a:r>
              <a:rPr sz="1300" spc="-1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cada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40" dirty="0">
                <a:solidFill>
                  <a:srgbClr val="374050"/>
                </a:solidFill>
                <a:latin typeface="Roboto"/>
                <a:cs typeface="Roboto"/>
              </a:rPr>
              <a:t>partícula</a:t>
            </a:r>
            <a:r>
              <a:rPr sz="1300" spc="-1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no</a:t>
            </a:r>
            <a:r>
              <a:rPr sz="1300" spc="-1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30" dirty="0">
                <a:solidFill>
                  <a:srgbClr val="374050"/>
                </a:solidFill>
                <a:latin typeface="Roboto"/>
                <a:cs typeface="Roboto"/>
              </a:rPr>
              <a:t>enxame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6000" y="3764557"/>
            <a:ext cx="3973829" cy="520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650" b="0" spc="-10" dirty="0">
                <a:solidFill>
                  <a:srgbClr val="1C4ED8"/>
                </a:solidFill>
                <a:latin typeface="Roboto Medium"/>
                <a:cs typeface="Roboto Medium"/>
              </a:rPr>
              <a:t>Species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Define</a:t>
            </a:r>
            <a:r>
              <a:rPr sz="1300" spc="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comportamento</a:t>
            </a:r>
            <a:r>
              <a:rPr sz="1300" spc="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de</a:t>
            </a:r>
            <a:r>
              <a:rPr sz="1300" spc="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sub-</a:t>
            </a: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populações</a:t>
            </a:r>
            <a:r>
              <a:rPr sz="1300" spc="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374050"/>
                </a:solidFill>
                <a:latin typeface="Roboto"/>
                <a:cs typeface="Roboto"/>
              </a:rPr>
              <a:t>e</a:t>
            </a:r>
            <a:r>
              <a:rPr sz="1300" spc="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45" dirty="0">
                <a:solidFill>
                  <a:srgbClr val="374050"/>
                </a:solidFill>
                <a:latin typeface="Roboto"/>
                <a:cs typeface="Roboto"/>
              </a:rPr>
              <a:t>rastreamento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77900" y="4717057"/>
            <a:ext cx="4247515" cy="520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650" b="0" spc="-10" dirty="0">
                <a:solidFill>
                  <a:srgbClr val="1C4ED8"/>
                </a:solidFill>
                <a:latin typeface="Roboto Medium"/>
                <a:cs typeface="Roboto Medium"/>
              </a:rPr>
              <a:t>GMPBProblem</a:t>
            </a:r>
            <a:endParaRPr sz="165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Implementa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70" dirty="0">
                <a:solidFill>
                  <a:srgbClr val="374050"/>
                </a:solidFill>
                <a:latin typeface="Roboto"/>
                <a:cs typeface="Roboto"/>
              </a:rPr>
              <a:t>o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benchmark</a:t>
            </a:r>
            <a:r>
              <a:rPr sz="130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dinâmico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Generalized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70" dirty="0">
                <a:solidFill>
                  <a:srgbClr val="374050"/>
                </a:solidFill>
                <a:latin typeface="Roboto"/>
                <a:cs typeface="Roboto"/>
              </a:rPr>
              <a:t>Moving</a:t>
            </a:r>
            <a:r>
              <a:rPr sz="130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374050"/>
                </a:solidFill>
                <a:latin typeface="Roboto"/>
                <a:cs typeface="Roboto"/>
              </a:rPr>
              <a:t>Peaks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00800" y="1024367"/>
            <a:ext cx="328930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tabLst>
                <a:tab pos="5879465" algn="l"/>
              </a:tabLst>
              <a:defRPr sz="2000" b="0" spc="-105">
                <a:solidFill>
                  <a:srgbClr val="1D40AF"/>
                </a:solidFill>
                <a:latin typeface="Roboto Medium"/>
                <a:cs typeface="Roboto Medium"/>
              </a:defRPr>
            </a:lvl1pPr>
          </a:lstStyle>
          <a:p>
            <a:r>
              <a:rPr dirty="0"/>
              <a:t>Módulos Auxiliares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11199" y="5999479"/>
            <a:ext cx="127762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50" dirty="0">
                <a:latin typeface="Roboto"/>
                <a:cs typeface="Roboto"/>
              </a:rPr>
              <a:t>Análise</a:t>
            </a:r>
            <a:r>
              <a:rPr sz="1300" spc="-35" dirty="0">
                <a:latin typeface="Roboto"/>
                <a:cs typeface="Roboto"/>
              </a:rPr>
              <a:t> </a:t>
            </a:r>
            <a:r>
              <a:rPr sz="1300" spc="-45" dirty="0">
                <a:latin typeface="Roboto"/>
                <a:cs typeface="Roboto"/>
              </a:rPr>
              <a:t>Estatística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200274" y="5943599"/>
            <a:ext cx="2181225" cy="381000"/>
            <a:chOff x="2200274" y="5943599"/>
            <a:chExt cx="2181225" cy="381000"/>
          </a:xfrm>
        </p:grpSpPr>
        <p:sp>
          <p:nvSpPr>
            <p:cNvPr id="34" name="object 34"/>
            <p:cNvSpPr/>
            <p:nvPr/>
          </p:nvSpPr>
          <p:spPr>
            <a:xfrm>
              <a:off x="2200274" y="5943599"/>
              <a:ext cx="2181225" cy="381000"/>
            </a:xfrm>
            <a:custGeom>
              <a:avLst/>
              <a:gdLst/>
              <a:ahLst/>
              <a:cxnLst/>
              <a:rect l="l" t="t" r="r" b="b"/>
              <a:pathLst>
                <a:path w="2181225" h="381000">
                  <a:moveTo>
                    <a:pt x="2110028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3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2110028" y="0"/>
                  </a:lnTo>
                  <a:lnTo>
                    <a:pt x="2151518" y="15621"/>
                  </a:lnTo>
                  <a:lnTo>
                    <a:pt x="2177338" y="51660"/>
                  </a:lnTo>
                  <a:lnTo>
                    <a:pt x="2181224" y="71196"/>
                  </a:lnTo>
                  <a:lnTo>
                    <a:pt x="2181224" y="309803"/>
                  </a:lnTo>
                  <a:lnTo>
                    <a:pt x="2165602" y="351293"/>
                  </a:lnTo>
                  <a:lnTo>
                    <a:pt x="2129562" y="377113"/>
                  </a:lnTo>
                  <a:lnTo>
                    <a:pt x="2114983" y="380511"/>
                  </a:lnTo>
                  <a:lnTo>
                    <a:pt x="2110028" y="3809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4574" y="6057899"/>
              <a:ext cx="152399" cy="15239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2534493" y="5999479"/>
            <a:ext cx="174688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65" dirty="0">
                <a:latin typeface="Roboto"/>
                <a:cs typeface="Roboto"/>
              </a:rPr>
              <a:t>Monitoramento</a:t>
            </a:r>
            <a:r>
              <a:rPr sz="1300" spc="45" dirty="0">
                <a:latin typeface="Roboto"/>
                <a:cs typeface="Roboto"/>
              </a:rPr>
              <a:t> </a:t>
            </a:r>
            <a:r>
              <a:rPr sz="1300" spc="-45" dirty="0">
                <a:latin typeface="Roboto"/>
                <a:cs typeface="Roboto"/>
              </a:rPr>
              <a:t>Dinâmico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2149" y="6494779"/>
            <a:ext cx="185483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60" dirty="0">
                <a:latin typeface="Roboto"/>
                <a:cs typeface="Roboto"/>
              </a:rPr>
              <a:t>Configuração</a:t>
            </a:r>
            <a:r>
              <a:rPr sz="1300" spc="5" dirty="0">
                <a:latin typeface="Roboto"/>
                <a:cs typeface="Roboto"/>
              </a:rPr>
              <a:t> </a:t>
            </a:r>
            <a:r>
              <a:rPr sz="1300" spc="-45" dirty="0">
                <a:latin typeface="Roboto"/>
                <a:cs typeface="Roboto"/>
              </a:rPr>
              <a:t>Experimental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64" name="object 3">
            <a:extLst>
              <a:ext uri="{FF2B5EF4-FFF2-40B4-BE49-F238E27FC236}">
                <a16:creationId xmlns:a16="http://schemas.microsoft.com/office/drawing/2014/main" id="{33E38465-9505-33B4-108D-3C69C500E84E}"/>
              </a:ext>
            </a:extLst>
          </p:cNvPr>
          <p:cNvGrpSpPr/>
          <p:nvPr/>
        </p:nvGrpSpPr>
        <p:grpSpPr>
          <a:xfrm>
            <a:off x="6400800" y="1523999"/>
            <a:ext cx="5486400" cy="1028978"/>
            <a:chOff x="380999" y="1523999"/>
            <a:chExt cx="5486400" cy="1028978"/>
          </a:xfrm>
        </p:grpSpPr>
        <p:sp>
          <p:nvSpPr>
            <p:cNvPr id="65" name="object 4">
              <a:extLst>
                <a:ext uri="{FF2B5EF4-FFF2-40B4-BE49-F238E27FC236}">
                  <a16:creationId xmlns:a16="http://schemas.microsoft.com/office/drawing/2014/main" id="{BD953C2D-8195-CC2A-2D5D-B72179D2C7BF}"/>
                </a:ext>
              </a:extLst>
            </p:cNvPr>
            <p:cNvSpPr/>
            <p:nvPr/>
          </p:nvSpPr>
          <p:spPr>
            <a:xfrm>
              <a:off x="400049" y="1523999"/>
              <a:ext cx="5467350" cy="1028700"/>
            </a:xfrm>
            <a:custGeom>
              <a:avLst/>
              <a:gdLst/>
              <a:ahLst/>
              <a:cxnLst/>
              <a:rect l="l" t="t" r="r" b="b"/>
              <a:pathLst>
                <a:path w="5467350" h="1028700">
                  <a:moveTo>
                    <a:pt x="5396152" y="1028699"/>
                  </a:moveTo>
                  <a:lnTo>
                    <a:pt x="53397" y="1028699"/>
                  </a:lnTo>
                  <a:lnTo>
                    <a:pt x="49681" y="1028211"/>
                  </a:lnTo>
                  <a:lnTo>
                    <a:pt x="14085" y="1002843"/>
                  </a:lnTo>
                  <a:lnTo>
                    <a:pt x="366" y="962458"/>
                  </a:lnTo>
                  <a:lnTo>
                    <a:pt x="0" y="957503"/>
                  </a:lnTo>
                  <a:lnTo>
                    <a:pt x="0" y="9524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396152" y="0"/>
                  </a:lnTo>
                  <a:lnTo>
                    <a:pt x="5437643" y="15621"/>
                  </a:lnTo>
                  <a:lnTo>
                    <a:pt x="5463463" y="51661"/>
                  </a:lnTo>
                  <a:lnTo>
                    <a:pt x="5467349" y="71196"/>
                  </a:lnTo>
                  <a:lnTo>
                    <a:pt x="5467349" y="957503"/>
                  </a:lnTo>
                  <a:lnTo>
                    <a:pt x="5451726" y="998994"/>
                  </a:lnTo>
                  <a:lnTo>
                    <a:pt x="5415687" y="1024813"/>
                  </a:lnTo>
                  <a:lnTo>
                    <a:pt x="5401107" y="1028211"/>
                  </a:lnTo>
                  <a:lnTo>
                    <a:pt x="5396152" y="1028699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6" name="object 5">
              <a:extLst>
                <a:ext uri="{FF2B5EF4-FFF2-40B4-BE49-F238E27FC236}">
                  <a16:creationId xmlns:a16="http://schemas.microsoft.com/office/drawing/2014/main" id="{CA300118-051E-E1B9-131C-0000CF20564D}"/>
                </a:ext>
              </a:extLst>
            </p:cNvPr>
            <p:cNvSpPr/>
            <p:nvPr/>
          </p:nvSpPr>
          <p:spPr>
            <a:xfrm>
              <a:off x="380999" y="1524277"/>
              <a:ext cx="70485" cy="1028700"/>
            </a:xfrm>
            <a:custGeom>
              <a:avLst/>
              <a:gdLst/>
              <a:ahLst/>
              <a:cxnLst/>
              <a:rect l="l" t="t" r="r" b="b"/>
              <a:pathLst>
                <a:path w="70484" h="1028700">
                  <a:moveTo>
                    <a:pt x="70449" y="1028144"/>
                  </a:moveTo>
                  <a:lnTo>
                    <a:pt x="33857" y="1015591"/>
                  </a:lnTo>
                  <a:lnTo>
                    <a:pt x="5800" y="981382"/>
                  </a:lnTo>
                  <a:lnTo>
                    <a:pt x="0" y="9522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52222"/>
                  </a:lnTo>
                  <a:lnTo>
                    <a:pt x="44514" y="994564"/>
                  </a:lnTo>
                  <a:lnTo>
                    <a:pt x="66287" y="1026488"/>
                  </a:lnTo>
                  <a:lnTo>
                    <a:pt x="70449" y="1028144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7" name="object 6">
              <a:extLst>
                <a:ext uri="{FF2B5EF4-FFF2-40B4-BE49-F238E27FC236}">
                  <a16:creationId xmlns:a16="http://schemas.microsoft.com/office/drawing/2014/main" id="{A8078A0D-273C-2DDD-8498-47FD41E4393C}"/>
                </a:ext>
              </a:extLst>
            </p:cNvPr>
            <p:cNvSpPr/>
            <p:nvPr/>
          </p:nvSpPr>
          <p:spPr>
            <a:xfrm>
              <a:off x="571499" y="1676399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171449" y="380999"/>
                  </a:moveTo>
                  <a:lnTo>
                    <a:pt x="129780" y="375860"/>
                  </a:lnTo>
                  <a:lnTo>
                    <a:pt x="90627" y="360756"/>
                  </a:lnTo>
                  <a:lnTo>
                    <a:pt x="56317" y="336593"/>
                  </a:lnTo>
                  <a:lnTo>
                    <a:pt x="28894" y="304802"/>
                  </a:lnTo>
                  <a:lnTo>
                    <a:pt x="10017" y="267300"/>
                  </a:lnTo>
                  <a:lnTo>
                    <a:pt x="823" y="226355"/>
                  </a:lnTo>
                  <a:lnTo>
                    <a:pt x="0" y="209549"/>
                  </a:lnTo>
                  <a:lnTo>
                    <a:pt x="0" y="171449"/>
                  </a:lnTo>
                  <a:lnTo>
                    <a:pt x="5139" y="129780"/>
                  </a:lnTo>
                  <a:lnTo>
                    <a:pt x="20242" y="90628"/>
                  </a:lnTo>
                  <a:lnTo>
                    <a:pt x="44406" y="56317"/>
                  </a:lnTo>
                  <a:lnTo>
                    <a:pt x="76197" y="28894"/>
                  </a:lnTo>
                  <a:lnTo>
                    <a:pt x="113699" y="10017"/>
                  </a:lnTo>
                  <a:lnTo>
                    <a:pt x="154644" y="823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899" y="209549"/>
                  </a:lnTo>
                  <a:lnTo>
                    <a:pt x="337760" y="251218"/>
                  </a:lnTo>
                  <a:lnTo>
                    <a:pt x="322656" y="290371"/>
                  </a:lnTo>
                  <a:lnTo>
                    <a:pt x="298493" y="324681"/>
                  </a:lnTo>
                  <a:lnTo>
                    <a:pt x="266702" y="352105"/>
                  </a:lnTo>
                  <a:lnTo>
                    <a:pt x="229200" y="370981"/>
                  </a:lnTo>
                  <a:lnTo>
                    <a:pt x="188255" y="380176"/>
                  </a:lnTo>
                  <a:lnTo>
                    <a:pt x="17144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8">
            <a:extLst>
              <a:ext uri="{FF2B5EF4-FFF2-40B4-BE49-F238E27FC236}">
                <a16:creationId xmlns:a16="http://schemas.microsoft.com/office/drawing/2014/main" id="{F2F0D305-C8D9-EDF2-8662-8D5B0854B8D8}"/>
              </a:ext>
            </a:extLst>
          </p:cNvPr>
          <p:cNvGrpSpPr/>
          <p:nvPr/>
        </p:nvGrpSpPr>
        <p:grpSpPr>
          <a:xfrm>
            <a:off x="6400800" y="2705099"/>
            <a:ext cx="5486400" cy="800378"/>
            <a:chOff x="380999" y="2705099"/>
            <a:chExt cx="5486400" cy="800378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70" name="object 9">
              <a:extLst>
                <a:ext uri="{FF2B5EF4-FFF2-40B4-BE49-F238E27FC236}">
                  <a16:creationId xmlns:a16="http://schemas.microsoft.com/office/drawing/2014/main" id="{9FB51670-7937-C794-548F-9E4E5D8E301D}"/>
                </a:ext>
              </a:extLst>
            </p:cNvPr>
            <p:cNvSpPr/>
            <p:nvPr/>
          </p:nvSpPr>
          <p:spPr>
            <a:xfrm>
              <a:off x="400049" y="2705099"/>
              <a:ext cx="5467350" cy="800100"/>
            </a:xfrm>
            <a:custGeom>
              <a:avLst/>
              <a:gdLst/>
              <a:ahLst/>
              <a:cxnLst/>
              <a:rect l="l" t="t" r="r" b="b"/>
              <a:pathLst>
                <a:path w="5467350" h="800100">
                  <a:moveTo>
                    <a:pt x="5396152" y="800099"/>
                  </a:moveTo>
                  <a:lnTo>
                    <a:pt x="53397" y="800099"/>
                  </a:lnTo>
                  <a:lnTo>
                    <a:pt x="49681" y="799611"/>
                  </a:lnTo>
                  <a:lnTo>
                    <a:pt x="14085" y="774243"/>
                  </a:lnTo>
                  <a:lnTo>
                    <a:pt x="366" y="733858"/>
                  </a:lnTo>
                  <a:lnTo>
                    <a:pt x="0" y="728903"/>
                  </a:lnTo>
                  <a:lnTo>
                    <a:pt x="0" y="7238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5396152" y="0"/>
                  </a:lnTo>
                  <a:lnTo>
                    <a:pt x="5437643" y="15621"/>
                  </a:lnTo>
                  <a:lnTo>
                    <a:pt x="5463463" y="51661"/>
                  </a:lnTo>
                  <a:lnTo>
                    <a:pt x="5467349" y="71196"/>
                  </a:lnTo>
                  <a:lnTo>
                    <a:pt x="5467349" y="728903"/>
                  </a:lnTo>
                  <a:lnTo>
                    <a:pt x="5451726" y="770394"/>
                  </a:lnTo>
                  <a:lnTo>
                    <a:pt x="5415687" y="796214"/>
                  </a:lnTo>
                  <a:lnTo>
                    <a:pt x="5401107" y="799611"/>
                  </a:lnTo>
                  <a:lnTo>
                    <a:pt x="5396152" y="8000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1" name="object 10">
              <a:extLst>
                <a:ext uri="{FF2B5EF4-FFF2-40B4-BE49-F238E27FC236}">
                  <a16:creationId xmlns:a16="http://schemas.microsoft.com/office/drawing/2014/main" id="{F42953B1-A230-4331-3FF5-E79AEB065346}"/>
                </a:ext>
              </a:extLst>
            </p:cNvPr>
            <p:cNvSpPr/>
            <p:nvPr/>
          </p:nvSpPr>
          <p:spPr>
            <a:xfrm>
              <a:off x="380999" y="2705377"/>
              <a:ext cx="70485" cy="800100"/>
            </a:xfrm>
            <a:custGeom>
              <a:avLst/>
              <a:gdLst/>
              <a:ahLst/>
              <a:cxnLst/>
              <a:rect l="l" t="t" r="r" b="b"/>
              <a:pathLst>
                <a:path w="70484" h="800100">
                  <a:moveTo>
                    <a:pt x="70450" y="799544"/>
                  </a:moveTo>
                  <a:lnTo>
                    <a:pt x="33857" y="786991"/>
                  </a:lnTo>
                  <a:lnTo>
                    <a:pt x="5800" y="752782"/>
                  </a:lnTo>
                  <a:lnTo>
                    <a:pt x="0" y="723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723622"/>
                  </a:lnTo>
                  <a:lnTo>
                    <a:pt x="44514" y="765964"/>
                  </a:lnTo>
                  <a:lnTo>
                    <a:pt x="66287" y="797888"/>
                  </a:lnTo>
                  <a:lnTo>
                    <a:pt x="70450" y="799544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11">
              <a:extLst>
                <a:ext uri="{FF2B5EF4-FFF2-40B4-BE49-F238E27FC236}">
                  <a16:creationId xmlns:a16="http://schemas.microsoft.com/office/drawing/2014/main" id="{CE60E11F-DD3D-3D6C-7C13-7D44A68AD79C}"/>
                </a:ext>
              </a:extLst>
            </p:cNvPr>
            <p:cNvSpPr/>
            <p:nvPr/>
          </p:nvSpPr>
          <p:spPr>
            <a:xfrm>
              <a:off x="571499" y="2857499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399" y="380999"/>
                  </a:moveTo>
                  <a:lnTo>
                    <a:pt x="108160" y="374439"/>
                  </a:lnTo>
                  <a:lnTo>
                    <a:pt x="67731" y="355315"/>
                  </a:lnTo>
                  <a:lnTo>
                    <a:pt x="34591" y="325282"/>
                  </a:lnTo>
                  <a:lnTo>
                    <a:pt x="11600" y="286920"/>
                  </a:lnTo>
                  <a:lnTo>
                    <a:pt x="732" y="243537"/>
                  </a:lnTo>
                  <a:lnTo>
                    <a:pt x="0" y="228599"/>
                  </a:lnTo>
                  <a:lnTo>
                    <a:pt x="0" y="152399"/>
                  </a:lnTo>
                  <a:lnTo>
                    <a:pt x="6560" y="108159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2" y="732"/>
                  </a:lnTo>
                  <a:lnTo>
                    <a:pt x="152399" y="0"/>
                  </a:lnTo>
                  <a:lnTo>
                    <a:pt x="159887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799" y="228599"/>
                  </a:lnTo>
                  <a:lnTo>
                    <a:pt x="298239" y="272839"/>
                  </a:lnTo>
                  <a:lnTo>
                    <a:pt x="279115" y="313268"/>
                  </a:lnTo>
                  <a:lnTo>
                    <a:pt x="249082" y="346407"/>
                  </a:lnTo>
                  <a:lnTo>
                    <a:pt x="210720" y="369398"/>
                  </a:lnTo>
                  <a:lnTo>
                    <a:pt x="167337" y="380267"/>
                  </a:lnTo>
                  <a:lnTo>
                    <a:pt x="152399" y="380999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24">
            <a:extLst>
              <a:ext uri="{FF2B5EF4-FFF2-40B4-BE49-F238E27FC236}">
                <a16:creationId xmlns:a16="http://schemas.microsoft.com/office/drawing/2014/main" id="{C8C8E227-59E4-E4B0-138F-01D7E3D070D6}"/>
              </a:ext>
            </a:extLst>
          </p:cNvPr>
          <p:cNvSpPr txBox="1"/>
          <p:nvPr/>
        </p:nvSpPr>
        <p:spPr>
          <a:xfrm>
            <a:off x="7035801" y="1630957"/>
            <a:ext cx="4660900" cy="5046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lang="pt-BR" sz="1650" b="0" spc="-20" dirty="0">
                <a:solidFill>
                  <a:schemeClr val="bg1"/>
                </a:solidFill>
                <a:latin typeface="Roboto Medium"/>
                <a:cs typeface="Roboto Medium"/>
              </a:rPr>
              <a:t>Análise Estatística</a:t>
            </a:r>
            <a:endParaRPr sz="1650" dirty="0">
              <a:solidFill>
                <a:schemeClr val="bg1"/>
              </a:solidFill>
              <a:latin typeface="Roboto Medium"/>
              <a:cs typeface="Roboto Medium"/>
            </a:endParaRPr>
          </a:p>
          <a:p>
            <a:pPr marL="12700" marR="5080">
              <a:lnSpc>
                <a:spcPts val="1800"/>
              </a:lnSpc>
              <a:spcBef>
                <a:spcPts val="30"/>
              </a:spcBef>
            </a:pPr>
            <a:r>
              <a:rPr lang="pt-BR" sz="1300" spc="-55" dirty="0">
                <a:solidFill>
                  <a:srgbClr val="374050"/>
                </a:solidFill>
                <a:latin typeface="Roboto"/>
                <a:cs typeface="Roboto"/>
              </a:rPr>
              <a:t>Salvar logs e dados para gráficos e análises.</a:t>
            </a:r>
            <a:endParaRPr sz="1300" dirty="0">
              <a:latin typeface="Roboto"/>
              <a:cs typeface="Roboto"/>
            </a:endParaRPr>
          </a:p>
        </p:txBody>
      </p:sp>
      <p:sp>
        <p:nvSpPr>
          <p:cNvPr id="80" name="object 25">
            <a:extLst>
              <a:ext uri="{FF2B5EF4-FFF2-40B4-BE49-F238E27FC236}">
                <a16:creationId xmlns:a16="http://schemas.microsoft.com/office/drawing/2014/main" id="{08AC6227-D2FE-E14A-8BCA-5C5F7C0554DE}"/>
              </a:ext>
            </a:extLst>
          </p:cNvPr>
          <p:cNvSpPr txBox="1"/>
          <p:nvPr/>
        </p:nvSpPr>
        <p:spPr>
          <a:xfrm>
            <a:off x="6997701" y="2812057"/>
            <a:ext cx="4534535" cy="520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lang="pt-BR" sz="1650" spc="-20" dirty="0">
                <a:solidFill>
                  <a:schemeClr val="bg1"/>
                </a:solidFill>
                <a:latin typeface="Roboto Medium"/>
                <a:cs typeface="Roboto Medium"/>
              </a:rPr>
              <a:t>Configuração Experimental</a:t>
            </a:r>
            <a:endParaRPr sz="1650" spc="-20" dirty="0">
              <a:solidFill>
                <a:schemeClr val="bg1"/>
              </a:solidFill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lang="pt-BR" sz="1300" spc="-55" dirty="0">
                <a:solidFill>
                  <a:srgbClr val="374050"/>
                </a:solidFill>
                <a:latin typeface="Roboto"/>
                <a:cs typeface="Roboto"/>
              </a:rPr>
              <a:t>Execução de cenários.</a:t>
            </a:r>
            <a:endParaRPr sz="1300" dirty="0">
              <a:latin typeface="Roboto"/>
              <a:cs typeface="Roboto"/>
            </a:endParaRPr>
          </a:p>
        </p:txBody>
      </p:sp>
      <p:sp>
        <p:nvSpPr>
          <p:cNvPr id="83" name="object 30"/>
          <p:cNvSpPr/>
          <p:nvPr/>
        </p:nvSpPr>
        <p:spPr>
          <a:xfrm>
            <a:off x="6324603" y="5182650"/>
            <a:ext cx="1704975" cy="381000"/>
          </a:xfrm>
          <a:custGeom>
            <a:avLst/>
            <a:gdLst/>
            <a:ahLst/>
            <a:cxnLst/>
            <a:rect l="l" t="t" r="r" b="b"/>
            <a:pathLst>
              <a:path w="1704975" h="381000">
                <a:moveTo>
                  <a:pt x="1633778" y="380999"/>
                </a:moveTo>
                <a:lnTo>
                  <a:pt x="71196" y="380999"/>
                </a:lnTo>
                <a:lnTo>
                  <a:pt x="66241" y="380511"/>
                </a:lnTo>
                <a:lnTo>
                  <a:pt x="29705" y="365377"/>
                </a:lnTo>
                <a:lnTo>
                  <a:pt x="3885" y="329337"/>
                </a:lnTo>
                <a:lnTo>
                  <a:pt x="0" y="309803"/>
                </a:lnTo>
                <a:lnTo>
                  <a:pt x="0" y="304799"/>
                </a:lnTo>
                <a:lnTo>
                  <a:pt x="0" y="71196"/>
                </a:lnTo>
                <a:lnTo>
                  <a:pt x="15621" y="29703"/>
                </a:lnTo>
                <a:lnTo>
                  <a:pt x="51661" y="3885"/>
                </a:lnTo>
                <a:lnTo>
                  <a:pt x="71196" y="0"/>
                </a:lnTo>
                <a:lnTo>
                  <a:pt x="1633778" y="0"/>
                </a:lnTo>
                <a:lnTo>
                  <a:pt x="1675269" y="15621"/>
                </a:lnTo>
                <a:lnTo>
                  <a:pt x="1701088" y="51660"/>
                </a:lnTo>
                <a:lnTo>
                  <a:pt x="1704974" y="71196"/>
                </a:lnTo>
                <a:lnTo>
                  <a:pt x="1704974" y="309803"/>
                </a:lnTo>
                <a:lnTo>
                  <a:pt x="1689353" y="351293"/>
                </a:lnTo>
                <a:lnTo>
                  <a:pt x="1653312" y="377113"/>
                </a:lnTo>
                <a:lnTo>
                  <a:pt x="1638733" y="380511"/>
                </a:lnTo>
                <a:lnTo>
                  <a:pt x="1633778" y="380999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6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77343" y="1791681"/>
            <a:ext cx="152399" cy="133349"/>
          </a:xfrm>
          <a:prstGeom prst="rect">
            <a:avLst/>
          </a:prstGeom>
        </p:spPr>
      </p:pic>
      <p:sp>
        <p:nvSpPr>
          <p:cNvPr id="90" name="object 6">
            <a:extLst>
              <a:ext uri="{FF2B5EF4-FFF2-40B4-BE49-F238E27FC236}">
                <a16:creationId xmlns:a16="http://schemas.microsoft.com/office/drawing/2014/main" id="{81654FBE-8716-4704-1C6D-1CF108DA9C0C}"/>
              </a:ext>
            </a:extLst>
          </p:cNvPr>
          <p:cNvSpPr/>
          <p:nvPr/>
        </p:nvSpPr>
        <p:spPr>
          <a:xfrm>
            <a:off x="6533424" y="2837925"/>
            <a:ext cx="342900" cy="381000"/>
          </a:xfrm>
          <a:custGeom>
            <a:avLst/>
            <a:gdLst/>
            <a:ahLst/>
            <a:cxnLst/>
            <a:rect l="l" t="t" r="r" b="b"/>
            <a:pathLst>
              <a:path w="342900" h="381000">
                <a:moveTo>
                  <a:pt x="171449" y="380999"/>
                </a:moveTo>
                <a:lnTo>
                  <a:pt x="129780" y="375860"/>
                </a:lnTo>
                <a:lnTo>
                  <a:pt x="90627" y="360756"/>
                </a:lnTo>
                <a:lnTo>
                  <a:pt x="56317" y="336593"/>
                </a:lnTo>
                <a:lnTo>
                  <a:pt x="28894" y="304802"/>
                </a:lnTo>
                <a:lnTo>
                  <a:pt x="10017" y="267300"/>
                </a:lnTo>
                <a:lnTo>
                  <a:pt x="823" y="226355"/>
                </a:lnTo>
                <a:lnTo>
                  <a:pt x="0" y="209549"/>
                </a:lnTo>
                <a:lnTo>
                  <a:pt x="0" y="171449"/>
                </a:lnTo>
                <a:lnTo>
                  <a:pt x="5139" y="129780"/>
                </a:lnTo>
                <a:lnTo>
                  <a:pt x="20242" y="90628"/>
                </a:lnTo>
                <a:lnTo>
                  <a:pt x="44406" y="56317"/>
                </a:lnTo>
                <a:lnTo>
                  <a:pt x="76197" y="28894"/>
                </a:lnTo>
                <a:lnTo>
                  <a:pt x="113699" y="10017"/>
                </a:lnTo>
                <a:lnTo>
                  <a:pt x="154644" y="823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6"/>
                </a:lnTo>
                <a:lnTo>
                  <a:pt x="292683" y="50216"/>
                </a:lnTo>
                <a:lnTo>
                  <a:pt x="318513" y="83315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899" y="209549"/>
                </a:lnTo>
                <a:lnTo>
                  <a:pt x="337760" y="251218"/>
                </a:lnTo>
                <a:lnTo>
                  <a:pt x="322656" y="290371"/>
                </a:lnTo>
                <a:lnTo>
                  <a:pt x="298493" y="324681"/>
                </a:lnTo>
                <a:lnTo>
                  <a:pt x="266702" y="352105"/>
                </a:lnTo>
                <a:lnTo>
                  <a:pt x="229200" y="370981"/>
                </a:lnTo>
                <a:lnTo>
                  <a:pt x="188255" y="380176"/>
                </a:lnTo>
                <a:lnTo>
                  <a:pt x="171449" y="380999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1" name="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29400" y="2952225"/>
            <a:ext cx="133349" cy="152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E80E1-93C0-0840-F4DB-9DD999D12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2D57BC-EA5A-1BA6-18AF-4AAF370FAA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Configuração Experimental &amp; Benchmark</a:t>
            </a: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B21A643A-543B-35EB-D43D-0DBB9D2EB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" y="1719304"/>
            <a:ext cx="12192000" cy="3417803"/>
          </a:xfrm>
          <a:prstGeom prst="rect">
            <a:avLst/>
          </a:prstGeom>
        </p:spPr>
      </p:pic>
      <p:sp>
        <p:nvSpPr>
          <p:cNvPr id="41" name="CaixaDeTexto 40">
            <a:extLst>
              <a:ext uri="{FF2B5EF4-FFF2-40B4-BE49-F238E27FC236}">
                <a16:creationId xmlns:a16="http://schemas.microsoft.com/office/drawing/2014/main" id="{204540C5-969B-2A93-51DE-5BDB642A1C87}"/>
              </a:ext>
            </a:extLst>
          </p:cNvPr>
          <p:cNvSpPr txBox="1"/>
          <p:nvPr/>
        </p:nvSpPr>
        <p:spPr>
          <a:xfrm>
            <a:off x="81280" y="6235647"/>
            <a:ext cx="12115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lang="pt-BR" sz="1200" b="1" spc="-85" dirty="0">
                <a:solidFill>
                  <a:srgbClr val="333A40"/>
                </a:solidFill>
                <a:latin typeface="Arial"/>
                <a:cs typeface="Arial"/>
              </a:rPr>
              <a:t>Fonte:</a:t>
            </a:r>
            <a:r>
              <a:rPr lang="pt-BR" sz="1200" spc="-8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85" dirty="0" err="1">
                <a:solidFill>
                  <a:srgbClr val="333A40"/>
                </a:solidFill>
                <a:latin typeface="Arial"/>
                <a:cs typeface="Arial"/>
              </a:rPr>
              <a:t>Yazdani</a:t>
            </a:r>
            <a:r>
              <a:rPr lang="pt-BR" sz="1200" spc="-85" dirty="0">
                <a:solidFill>
                  <a:srgbClr val="333A40"/>
                </a:solidFill>
                <a:latin typeface="Arial"/>
                <a:cs typeface="Arial"/>
              </a:rPr>
              <a:t>,</a:t>
            </a:r>
            <a:r>
              <a:rPr lang="pt-BR" sz="12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120" dirty="0">
                <a:solidFill>
                  <a:srgbClr val="333A40"/>
                </a:solidFill>
                <a:latin typeface="Arial"/>
                <a:cs typeface="Arial"/>
              </a:rPr>
              <a:t>D.,</a:t>
            </a:r>
            <a:r>
              <a:rPr lang="pt-BR" sz="12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85" dirty="0" err="1">
                <a:solidFill>
                  <a:srgbClr val="333A40"/>
                </a:solidFill>
                <a:latin typeface="Arial"/>
                <a:cs typeface="Arial"/>
              </a:rPr>
              <a:t>Yazdani</a:t>
            </a:r>
            <a:r>
              <a:rPr lang="pt-BR" sz="1200" spc="-85" dirty="0">
                <a:solidFill>
                  <a:srgbClr val="333A40"/>
                </a:solidFill>
                <a:latin typeface="Arial"/>
                <a:cs typeface="Arial"/>
              </a:rPr>
              <a:t>,</a:t>
            </a:r>
            <a:r>
              <a:rPr lang="pt-BR" sz="12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120" dirty="0">
                <a:solidFill>
                  <a:srgbClr val="333A40"/>
                </a:solidFill>
                <a:latin typeface="Arial"/>
                <a:cs typeface="Arial"/>
              </a:rPr>
              <a:t>D.,</a:t>
            </a:r>
            <a:r>
              <a:rPr lang="pt-BR" sz="12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85" dirty="0" err="1">
                <a:solidFill>
                  <a:srgbClr val="333A40"/>
                </a:solidFill>
                <a:latin typeface="Arial"/>
                <a:cs typeface="Arial"/>
              </a:rPr>
              <a:t>Yazdani</a:t>
            </a:r>
            <a:r>
              <a:rPr lang="pt-BR" sz="1200" spc="-85" dirty="0">
                <a:solidFill>
                  <a:srgbClr val="333A40"/>
                </a:solidFill>
                <a:latin typeface="Arial"/>
                <a:cs typeface="Arial"/>
              </a:rPr>
              <a:t>,</a:t>
            </a:r>
            <a:r>
              <a:rPr lang="pt-BR" sz="12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120" dirty="0">
                <a:solidFill>
                  <a:srgbClr val="333A40"/>
                </a:solidFill>
                <a:latin typeface="Arial"/>
                <a:cs typeface="Arial"/>
              </a:rPr>
              <a:t>D.,</a:t>
            </a:r>
            <a:r>
              <a:rPr lang="pt-BR" sz="12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85" dirty="0" err="1">
                <a:solidFill>
                  <a:srgbClr val="333A40"/>
                </a:solidFill>
                <a:latin typeface="Arial"/>
                <a:cs typeface="Arial"/>
              </a:rPr>
              <a:t>Omidvar</a:t>
            </a:r>
            <a:r>
              <a:rPr lang="pt-BR" sz="1200" spc="-85" dirty="0">
                <a:solidFill>
                  <a:srgbClr val="333A40"/>
                </a:solidFill>
                <a:latin typeface="Arial"/>
                <a:cs typeface="Arial"/>
              </a:rPr>
              <a:t>,</a:t>
            </a:r>
            <a:r>
              <a:rPr lang="pt-BR" sz="12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55" dirty="0">
                <a:solidFill>
                  <a:srgbClr val="333A40"/>
                </a:solidFill>
                <a:latin typeface="Arial"/>
                <a:cs typeface="Arial"/>
              </a:rPr>
              <a:t>M.</a:t>
            </a:r>
            <a:r>
              <a:rPr lang="pt-BR" sz="12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85" dirty="0">
                <a:solidFill>
                  <a:srgbClr val="333A40"/>
                </a:solidFill>
                <a:latin typeface="Arial"/>
                <a:cs typeface="Arial"/>
              </a:rPr>
              <a:t>N.,</a:t>
            </a:r>
            <a:r>
              <a:rPr lang="pt-BR" sz="12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10" dirty="0" err="1">
                <a:solidFill>
                  <a:srgbClr val="333A40"/>
                </a:solidFill>
                <a:latin typeface="Arial"/>
                <a:cs typeface="Arial"/>
              </a:rPr>
              <a:t>Gandomi</a:t>
            </a:r>
            <a:r>
              <a:rPr lang="pt-BR" sz="1200" spc="-10" dirty="0">
                <a:solidFill>
                  <a:srgbClr val="333A40"/>
                </a:solidFill>
                <a:latin typeface="Arial"/>
                <a:cs typeface="Arial"/>
              </a:rPr>
              <a:t>, </a:t>
            </a:r>
            <a:r>
              <a:rPr lang="pt-BR" sz="1200" spc="-70" dirty="0">
                <a:solidFill>
                  <a:srgbClr val="333A40"/>
                </a:solidFill>
                <a:latin typeface="Arial"/>
                <a:cs typeface="Arial"/>
              </a:rPr>
              <a:t>A.</a:t>
            </a:r>
            <a:r>
              <a:rPr lang="pt-BR" sz="1200" spc="-4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85" dirty="0">
                <a:solidFill>
                  <a:srgbClr val="333A40"/>
                </a:solidFill>
                <a:latin typeface="Arial"/>
                <a:cs typeface="Arial"/>
              </a:rPr>
              <a:t>H.,</a:t>
            </a:r>
            <a:r>
              <a:rPr lang="pt-BR" sz="12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120" dirty="0">
                <a:solidFill>
                  <a:srgbClr val="333A40"/>
                </a:solidFill>
                <a:latin typeface="Arial"/>
                <a:cs typeface="Arial"/>
              </a:rPr>
              <a:t>&amp;</a:t>
            </a:r>
            <a:r>
              <a:rPr lang="pt-BR" sz="12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105" dirty="0">
                <a:solidFill>
                  <a:srgbClr val="333A40"/>
                </a:solidFill>
                <a:latin typeface="Arial"/>
                <a:cs typeface="Arial"/>
              </a:rPr>
              <a:t>Yao,</a:t>
            </a:r>
            <a:r>
              <a:rPr lang="pt-BR" sz="12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85" dirty="0">
                <a:solidFill>
                  <a:srgbClr val="333A40"/>
                </a:solidFill>
                <a:latin typeface="Arial"/>
                <a:cs typeface="Arial"/>
              </a:rPr>
              <a:t>X.</a:t>
            </a:r>
            <a:r>
              <a:rPr lang="pt-BR" sz="12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50" dirty="0">
                <a:solidFill>
                  <a:srgbClr val="333A40"/>
                </a:solidFill>
                <a:latin typeface="Arial"/>
                <a:cs typeface="Arial"/>
              </a:rPr>
              <a:t>(2023).</a:t>
            </a:r>
            <a:r>
              <a:rPr lang="pt-BR" sz="12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90" dirty="0">
                <a:solidFill>
                  <a:srgbClr val="333A40"/>
                </a:solidFill>
                <a:latin typeface="Arial"/>
                <a:cs typeface="Arial"/>
              </a:rPr>
              <a:t>A</a:t>
            </a:r>
            <a:r>
              <a:rPr lang="pt-BR" sz="12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75" dirty="0" err="1">
                <a:solidFill>
                  <a:srgbClr val="333A40"/>
                </a:solidFill>
                <a:latin typeface="Arial"/>
                <a:cs typeface="Arial"/>
              </a:rPr>
              <a:t>Species-</a:t>
            </a:r>
            <a:r>
              <a:rPr lang="pt-BR" sz="1200" spc="-65" dirty="0" err="1">
                <a:solidFill>
                  <a:srgbClr val="333A40"/>
                </a:solidFill>
                <a:latin typeface="Arial"/>
                <a:cs typeface="Arial"/>
              </a:rPr>
              <a:t>based</a:t>
            </a:r>
            <a:r>
              <a:rPr lang="pt-BR" sz="12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40" dirty="0" err="1">
                <a:solidFill>
                  <a:srgbClr val="333A40"/>
                </a:solidFill>
                <a:latin typeface="Arial"/>
                <a:cs typeface="Arial"/>
              </a:rPr>
              <a:t>Particle</a:t>
            </a:r>
            <a:r>
              <a:rPr lang="pt-BR" sz="12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20" dirty="0" err="1">
                <a:solidFill>
                  <a:srgbClr val="333A40"/>
                </a:solidFill>
                <a:latin typeface="Arial"/>
                <a:cs typeface="Arial"/>
              </a:rPr>
              <a:t>Swarm</a:t>
            </a:r>
            <a:r>
              <a:rPr lang="pt-BR" sz="1200" spc="-2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45" dirty="0" err="1">
                <a:solidFill>
                  <a:srgbClr val="333A40"/>
                </a:solidFill>
                <a:latin typeface="Arial"/>
                <a:cs typeface="Arial"/>
              </a:rPr>
              <a:t>Optimization</a:t>
            </a:r>
            <a:r>
              <a:rPr lang="pt-BR" sz="12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25" dirty="0" err="1">
                <a:solidFill>
                  <a:srgbClr val="333A40"/>
                </a:solidFill>
                <a:latin typeface="Arial"/>
                <a:cs typeface="Arial"/>
              </a:rPr>
              <a:t>with</a:t>
            </a:r>
            <a:r>
              <a:rPr lang="pt-BR" sz="120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55" dirty="0" err="1">
                <a:solidFill>
                  <a:srgbClr val="333A40"/>
                </a:solidFill>
                <a:latin typeface="Arial"/>
                <a:cs typeface="Arial"/>
              </a:rPr>
              <a:t>Adaptive</a:t>
            </a:r>
            <a:r>
              <a:rPr lang="pt-BR" sz="12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50" dirty="0" err="1">
                <a:solidFill>
                  <a:srgbClr val="333A40"/>
                </a:solidFill>
                <a:latin typeface="Arial"/>
                <a:cs typeface="Arial"/>
              </a:rPr>
              <a:t>Population</a:t>
            </a:r>
            <a:r>
              <a:rPr lang="pt-BR" sz="120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80" dirty="0" err="1">
                <a:solidFill>
                  <a:srgbClr val="333A40"/>
                </a:solidFill>
                <a:latin typeface="Arial"/>
                <a:cs typeface="Arial"/>
              </a:rPr>
              <a:t>Size</a:t>
            </a:r>
            <a:r>
              <a:rPr lang="pt-BR" sz="120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65" dirty="0" err="1">
                <a:solidFill>
                  <a:srgbClr val="333A40"/>
                </a:solidFill>
                <a:latin typeface="Arial"/>
                <a:cs typeface="Arial"/>
              </a:rPr>
              <a:t>and</a:t>
            </a:r>
            <a:r>
              <a:rPr lang="pt-BR" sz="120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10" dirty="0" err="1">
                <a:solidFill>
                  <a:srgbClr val="333A40"/>
                </a:solidFill>
                <a:latin typeface="Arial"/>
                <a:cs typeface="Arial"/>
              </a:rPr>
              <a:t>Deactivation</a:t>
            </a:r>
            <a:r>
              <a:rPr lang="pt-BR" sz="1200" spc="-1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dirty="0" err="1">
                <a:solidFill>
                  <a:srgbClr val="333A40"/>
                </a:solidFill>
                <a:latin typeface="Arial"/>
                <a:cs typeface="Arial"/>
              </a:rPr>
              <a:t>of</a:t>
            </a:r>
            <a:r>
              <a:rPr lang="pt-BR" sz="120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70" dirty="0" err="1">
                <a:solidFill>
                  <a:srgbClr val="333A40"/>
                </a:solidFill>
                <a:latin typeface="Arial"/>
                <a:cs typeface="Arial"/>
              </a:rPr>
              <a:t>Species</a:t>
            </a:r>
            <a:r>
              <a:rPr lang="pt-BR" sz="1200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10" dirty="0">
                <a:solidFill>
                  <a:srgbClr val="333A40"/>
                </a:solidFill>
                <a:latin typeface="Arial"/>
                <a:cs typeface="Arial"/>
              </a:rPr>
              <a:t>for</a:t>
            </a:r>
            <a:r>
              <a:rPr lang="pt-BR" sz="1200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70" dirty="0">
                <a:solidFill>
                  <a:srgbClr val="333A40"/>
                </a:solidFill>
                <a:latin typeface="Arial"/>
                <a:cs typeface="Arial"/>
              </a:rPr>
              <a:t>Dynamic</a:t>
            </a:r>
            <a:r>
              <a:rPr lang="pt-BR" sz="120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45" dirty="0" err="1">
                <a:solidFill>
                  <a:srgbClr val="333A40"/>
                </a:solidFill>
                <a:latin typeface="Arial"/>
                <a:cs typeface="Arial"/>
              </a:rPr>
              <a:t>Optimization</a:t>
            </a:r>
            <a:r>
              <a:rPr lang="pt-BR" sz="1200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55" dirty="0" err="1">
                <a:solidFill>
                  <a:srgbClr val="333A40"/>
                </a:solidFill>
                <a:latin typeface="Arial"/>
                <a:cs typeface="Arial"/>
              </a:rPr>
              <a:t>Problems</a:t>
            </a:r>
            <a:r>
              <a:rPr lang="pt-BR" sz="1200" spc="-55" dirty="0">
                <a:solidFill>
                  <a:srgbClr val="333A40"/>
                </a:solidFill>
                <a:latin typeface="Arial"/>
                <a:cs typeface="Arial"/>
              </a:rPr>
              <a:t>.</a:t>
            </a:r>
            <a:r>
              <a:rPr lang="pt-BR" sz="1200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i="1" spc="-25" dirty="0">
                <a:solidFill>
                  <a:srgbClr val="333A40"/>
                </a:solidFill>
                <a:latin typeface="Arial"/>
                <a:cs typeface="Arial"/>
              </a:rPr>
              <a:t>ACM </a:t>
            </a:r>
            <a:r>
              <a:rPr lang="pt-BR" sz="1200" i="1" spc="-80" dirty="0" err="1">
                <a:solidFill>
                  <a:srgbClr val="333A40"/>
                </a:solidFill>
                <a:latin typeface="Arial"/>
                <a:cs typeface="Arial"/>
              </a:rPr>
              <a:t>Transactions</a:t>
            </a:r>
            <a:r>
              <a:rPr lang="pt-BR" sz="1200" i="1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i="1" spc="-85" dirty="0" err="1">
                <a:solidFill>
                  <a:srgbClr val="333A40"/>
                </a:solidFill>
                <a:latin typeface="Arial"/>
                <a:cs typeface="Arial"/>
              </a:rPr>
              <a:t>on</a:t>
            </a:r>
            <a:r>
              <a:rPr lang="pt-BR" sz="1200" i="1" spc="-2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i="1" spc="-85" dirty="0" err="1">
                <a:solidFill>
                  <a:srgbClr val="333A40"/>
                </a:solidFill>
                <a:latin typeface="Arial"/>
                <a:cs typeface="Arial"/>
              </a:rPr>
              <a:t>Evolutionary</a:t>
            </a:r>
            <a:r>
              <a:rPr lang="pt-BR" sz="1200" i="1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i="1" spc="-90" dirty="0">
                <a:solidFill>
                  <a:srgbClr val="333A40"/>
                </a:solidFill>
                <a:latin typeface="Arial"/>
                <a:cs typeface="Arial"/>
              </a:rPr>
              <a:t>Learning</a:t>
            </a:r>
            <a:r>
              <a:rPr lang="pt-BR" sz="1200" i="1" spc="-2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i="1" spc="-95" dirty="0" err="1">
                <a:solidFill>
                  <a:srgbClr val="333A40"/>
                </a:solidFill>
                <a:latin typeface="Arial"/>
                <a:cs typeface="Arial"/>
              </a:rPr>
              <a:t>and</a:t>
            </a:r>
            <a:r>
              <a:rPr lang="pt-BR" sz="1200" i="1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i="1" spc="-70" dirty="0" err="1">
                <a:solidFill>
                  <a:srgbClr val="333A40"/>
                </a:solidFill>
                <a:latin typeface="Arial"/>
                <a:cs typeface="Arial"/>
              </a:rPr>
              <a:t>Optimization</a:t>
            </a:r>
            <a:r>
              <a:rPr lang="pt-BR" sz="1200" spc="-70" dirty="0">
                <a:solidFill>
                  <a:srgbClr val="333A40"/>
                </a:solidFill>
                <a:latin typeface="Arial"/>
                <a:cs typeface="Arial"/>
              </a:rPr>
              <a:t>,</a:t>
            </a:r>
            <a:r>
              <a:rPr lang="pt-BR" sz="1200" spc="-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10" dirty="0">
                <a:solidFill>
                  <a:srgbClr val="333A40"/>
                </a:solidFill>
                <a:latin typeface="Arial"/>
                <a:cs typeface="Arial"/>
              </a:rPr>
              <a:t>3(4), </a:t>
            </a:r>
            <a:r>
              <a:rPr lang="pt-BR" sz="1200" spc="-30" dirty="0" err="1">
                <a:solidFill>
                  <a:srgbClr val="333A40"/>
                </a:solidFill>
                <a:latin typeface="Arial"/>
                <a:cs typeface="Arial"/>
              </a:rPr>
              <a:t>Article</a:t>
            </a:r>
            <a:r>
              <a:rPr lang="pt-BR" sz="12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lang="pt-BR" sz="1200" spc="-25" dirty="0">
                <a:solidFill>
                  <a:srgbClr val="333A40"/>
                </a:solidFill>
                <a:latin typeface="Arial"/>
                <a:cs typeface="Arial"/>
              </a:rPr>
              <a:t>14.</a:t>
            </a:r>
            <a:endParaRPr lang="pt-BR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1090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Configuração Experimental &amp; Benchmark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5085" y="4967330"/>
            <a:ext cx="11410043" cy="1371600"/>
            <a:chOff x="380999" y="4838699"/>
            <a:chExt cx="5410200" cy="1371600"/>
          </a:xfrm>
        </p:grpSpPr>
        <p:sp>
          <p:nvSpPr>
            <p:cNvPr id="4" name="object 4"/>
            <p:cNvSpPr/>
            <p:nvPr/>
          </p:nvSpPr>
          <p:spPr>
            <a:xfrm>
              <a:off x="380999" y="4838699"/>
              <a:ext cx="5410200" cy="1371600"/>
            </a:xfrm>
            <a:custGeom>
              <a:avLst/>
              <a:gdLst/>
              <a:ahLst/>
              <a:cxnLst/>
              <a:rect l="l" t="t" r="r" b="b"/>
              <a:pathLst>
                <a:path w="5410200" h="1371600">
                  <a:moveTo>
                    <a:pt x="5339002" y="1371599"/>
                  </a:moveTo>
                  <a:lnTo>
                    <a:pt x="71196" y="1371599"/>
                  </a:lnTo>
                  <a:lnTo>
                    <a:pt x="66241" y="1371111"/>
                  </a:lnTo>
                  <a:lnTo>
                    <a:pt x="29705" y="1355977"/>
                  </a:lnTo>
                  <a:lnTo>
                    <a:pt x="3885" y="1319937"/>
                  </a:lnTo>
                  <a:lnTo>
                    <a:pt x="0" y="1300402"/>
                  </a:lnTo>
                  <a:lnTo>
                    <a:pt x="0" y="12953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339002" y="0"/>
                  </a:lnTo>
                  <a:lnTo>
                    <a:pt x="5380493" y="15621"/>
                  </a:lnTo>
                  <a:lnTo>
                    <a:pt x="5406312" y="51660"/>
                  </a:lnTo>
                  <a:lnTo>
                    <a:pt x="5410199" y="71196"/>
                  </a:lnTo>
                  <a:lnTo>
                    <a:pt x="5410199" y="1300402"/>
                  </a:lnTo>
                  <a:lnTo>
                    <a:pt x="5394577" y="1341894"/>
                  </a:lnTo>
                  <a:lnTo>
                    <a:pt x="5358537" y="1367713"/>
                  </a:lnTo>
                  <a:lnTo>
                    <a:pt x="5343957" y="1371111"/>
                  </a:lnTo>
                  <a:lnTo>
                    <a:pt x="5339002" y="13715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872" y="5457856"/>
              <a:ext cx="225041" cy="43105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095998" y="1061430"/>
            <a:ext cx="32610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27065" algn="l"/>
              </a:tabLst>
            </a:pPr>
            <a:r>
              <a:rPr sz="2000" b="0" spc="-114" dirty="0" err="1">
                <a:solidFill>
                  <a:srgbClr val="1D40AF"/>
                </a:solidFill>
                <a:latin typeface="Roboto Medium"/>
                <a:cs typeface="Roboto Medium"/>
              </a:rPr>
              <a:t>Configuração</a:t>
            </a:r>
            <a:r>
              <a:rPr sz="2000" b="0" spc="-3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95" dirty="0">
                <a:solidFill>
                  <a:srgbClr val="1D40AF"/>
                </a:solidFill>
                <a:latin typeface="Roboto Medium"/>
                <a:cs typeface="Roboto Medium"/>
              </a:rPr>
              <a:t>Experimental</a:t>
            </a:r>
            <a:endParaRPr sz="2000" dirty="0">
              <a:latin typeface="Roboto Medium"/>
              <a:cs typeface="Roboto Medium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184" y="1984887"/>
            <a:ext cx="152399" cy="1333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33184" y="1886510"/>
            <a:ext cx="5020945" cy="5682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600" spc="-85" dirty="0">
                <a:solidFill>
                  <a:srgbClr val="4A5462"/>
                </a:solidFill>
                <a:latin typeface="Roboto"/>
                <a:cs typeface="Roboto"/>
              </a:rPr>
              <a:t>Ambiente de teste com múltiplos picos móveis, alturas, larguras e formas configuráveis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7413" y="2787056"/>
            <a:ext cx="142874" cy="13337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00800" y="2704651"/>
            <a:ext cx="4744631" cy="280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600" spc="-85" dirty="0">
                <a:solidFill>
                  <a:srgbClr val="4A5462"/>
                </a:solidFill>
                <a:latin typeface="Roboto"/>
                <a:cs typeface="Roboto"/>
              </a:rPr>
              <a:t>Mudanças periódicas a cada F avaliações de função</a:t>
            </a: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730" y="3368147"/>
            <a:ext cx="152399" cy="1523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13730" y="3317109"/>
            <a:ext cx="5092381" cy="5682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600" spc="-85" dirty="0">
                <a:solidFill>
                  <a:srgbClr val="4A5462"/>
                </a:solidFill>
                <a:latin typeface="Roboto"/>
                <a:cs typeface="Roboto"/>
              </a:rPr>
              <a:t>Severidade de deslocamento (S) e número de picos (m) ajustáveis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11931" y="4987125"/>
            <a:ext cx="10343246" cy="110838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R="3275329" algn="ctr">
              <a:lnSpc>
                <a:spcPct val="100000"/>
              </a:lnSpc>
              <a:spcBef>
                <a:spcPts val="970"/>
              </a:spcBef>
            </a:pPr>
            <a:r>
              <a:rPr sz="2000" b="0" spc="-80" dirty="0">
                <a:solidFill>
                  <a:srgbClr val="1D40AF"/>
                </a:solidFill>
                <a:latin typeface="Roboto Medium"/>
                <a:cs typeface="Roboto Medium"/>
              </a:rPr>
              <a:t>Métrica</a:t>
            </a:r>
            <a:r>
              <a:rPr sz="2000" b="0" spc="-3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90" dirty="0">
                <a:solidFill>
                  <a:srgbClr val="1D40AF"/>
                </a:solidFill>
                <a:latin typeface="Roboto Medium"/>
                <a:cs typeface="Roboto Medium"/>
              </a:rPr>
              <a:t>de</a:t>
            </a:r>
            <a:r>
              <a:rPr sz="2000" b="0" spc="-3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20" dirty="0">
                <a:solidFill>
                  <a:srgbClr val="1D40AF"/>
                </a:solidFill>
                <a:latin typeface="Roboto Medium"/>
                <a:cs typeface="Roboto Medium"/>
              </a:rPr>
              <a:t>Avaliação</a:t>
            </a:r>
            <a:endParaRPr sz="2000" dirty="0">
              <a:latin typeface="Roboto Medium"/>
              <a:cs typeface="Roboto Medium"/>
            </a:endParaRPr>
          </a:p>
          <a:p>
            <a:pPr marR="3333750" algn="ctr">
              <a:lnSpc>
                <a:spcPct val="100000"/>
              </a:lnSpc>
              <a:spcBef>
                <a:spcPts val="795"/>
              </a:spcBef>
            </a:pPr>
            <a:r>
              <a:rPr b="0" spc="-80" dirty="0">
                <a:latin typeface="Roboto Medium"/>
                <a:cs typeface="Roboto Medium"/>
              </a:rPr>
              <a:t>Erro</a:t>
            </a:r>
            <a:r>
              <a:rPr b="0" spc="-25" dirty="0">
                <a:latin typeface="Roboto Medium"/>
                <a:cs typeface="Roboto Medium"/>
              </a:rPr>
              <a:t> </a:t>
            </a:r>
            <a:r>
              <a:rPr b="0" spc="-85" dirty="0">
                <a:latin typeface="Roboto Medium"/>
                <a:cs typeface="Roboto Medium"/>
              </a:rPr>
              <a:t>Offline</a:t>
            </a:r>
            <a:r>
              <a:rPr b="0" spc="-20" dirty="0">
                <a:latin typeface="Roboto Medium"/>
                <a:cs typeface="Roboto Medium"/>
              </a:rPr>
              <a:t> (E</a:t>
            </a:r>
            <a:r>
              <a:rPr b="0" spc="-30" baseline="-14619" dirty="0">
                <a:latin typeface="Bookman Old Style"/>
                <a:cs typeface="Bookman Old Style"/>
              </a:rPr>
              <a:t>o</a:t>
            </a:r>
            <a:r>
              <a:rPr b="0" spc="-20" dirty="0">
                <a:latin typeface="Roboto Medium"/>
                <a:cs typeface="Roboto Medium"/>
              </a:rPr>
              <a:t>)</a:t>
            </a:r>
            <a:endParaRPr dirty="0">
              <a:latin typeface="Roboto Medium"/>
              <a:cs typeface="Roboto Medium"/>
            </a:endParaRPr>
          </a:p>
          <a:p>
            <a:pPr marL="304165" marR="30480">
              <a:lnSpc>
                <a:spcPct val="115399"/>
              </a:lnSpc>
              <a:spcBef>
                <a:spcPts val="30"/>
              </a:spcBef>
            </a:pPr>
            <a:r>
              <a:rPr sz="1600" spc="-65" dirty="0">
                <a:latin typeface="Roboto"/>
                <a:cs typeface="Roboto"/>
              </a:rPr>
              <a:t>Média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-65" dirty="0">
                <a:latin typeface="Roboto"/>
                <a:cs typeface="Roboto"/>
              </a:rPr>
              <a:t>dos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60" dirty="0">
                <a:latin typeface="Roboto"/>
                <a:cs typeface="Roboto"/>
              </a:rPr>
              <a:t>erros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55" dirty="0">
                <a:latin typeface="Roboto"/>
                <a:cs typeface="Roboto"/>
              </a:rPr>
              <a:t>entre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70" dirty="0">
                <a:latin typeface="Roboto"/>
                <a:cs typeface="Roboto"/>
              </a:rPr>
              <a:t>o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-60" dirty="0">
                <a:latin typeface="Roboto"/>
                <a:cs typeface="Roboto"/>
              </a:rPr>
              <a:t>melhor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60" dirty="0">
                <a:latin typeface="Roboto"/>
                <a:cs typeface="Roboto"/>
              </a:rPr>
              <a:t>fitness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60" dirty="0">
                <a:latin typeface="Roboto"/>
                <a:cs typeface="Roboto"/>
              </a:rPr>
              <a:t>encontrado</a:t>
            </a:r>
            <a:r>
              <a:rPr sz="1600" dirty="0">
                <a:latin typeface="Roboto"/>
                <a:cs typeface="Roboto"/>
              </a:rPr>
              <a:t> e </a:t>
            </a:r>
            <a:r>
              <a:rPr sz="1600" spc="-70" dirty="0">
                <a:latin typeface="Roboto"/>
                <a:cs typeface="Roboto"/>
              </a:rPr>
              <a:t>o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-60" dirty="0">
                <a:latin typeface="Roboto"/>
                <a:cs typeface="Roboto"/>
              </a:rPr>
              <a:t>ótimo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55" dirty="0">
                <a:latin typeface="Roboto"/>
                <a:cs typeface="Roboto"/>
              </a:rPr>
              <a:t>global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25" dirty="0">
                <a:latin typeface="Roboto"/>
                <a:cs typeface="Roboto"/>
              </a:rPr>
              <a:t>em </a:t>
            </a:r>
            <a:r>
              <a:rPr sz="1600" spc="-60" dirty="0">
                <a:latin typeface="Roboto"/>
                <a:cs typeface="Roboto"/>
              </a:rPr>
              <a:t>cada</a:t>
            </a:r>
            <a:r>
              <a:rPr sz="1600" spc="-1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avaliação</a:t>
            </a:r>
            <a:endParaRPr sz="1600" dirty="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95999" y="1523999"/>
            <a:ext cx="2781300" cy="762000"/>
            <a:chOff x="6095999" y="1523999"/>
            <a:chExt cx="2781300" cy="762000"/>
          </a:xfrm>
        </p:grpSpPr>
        <p:sp>
          <p:nvSpPr>
            <p:cNvPr id="15" name="object 15"/>
            <p:cNvSpPr/>
            <p:nvPr/>
          </p:nvSpPr>
          <p:spPr>
            <a:xfrm>
              <a:off x="6115048" y="1523999"/>
              <a:ext cx="2762250" cy="762000"/>
            </a:xfrm>
            <a:custGeom>
              <a:avLst/>
              <a:gdLst/>
              <a:ahLst/>
              <a:cxnLst/>
              <a:rect l="l" t="t" r="r" b="b"/>
              <a:pathLst>
                <a:path w="2762250" h="762000">
                  <a:moveTo>
                    <a:pt x="2708853" y="761999"/>
                  </a:moveTo>
                  <a:lnTo>
                    <a:pt x="33047" y="761999"/>
                  </a:lnTo>
                  <a:lnTo>
                    <a:pt x="28187" y="760549"/>
                  </a:lnTo>
                  <a:lnTo>
                    <a:pt x="966" y="719718"/>
                  </a:lnTo>
                  <a:lnTo>
                    <a:pt x="0" y="712428"/>
                  </a:lnTo>
                  <a:lnTo>
                    <a:pt x="0" y="7048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2708853" y="0"/>
                  </a:lnTo>
                  <a:lnTo>
                    <a:pt x="2748164" y="19392"/>
                  </a:lnTo>
                  <a:lnTo>
                    <a:pt x="2762249" y="53397"/>
                  </a:lnTo>
                  <a:lnTo>
                    <a:pt x="2762249" y="708602"/>
                  </a:lnTo>
                  <a:lnTo>
                    <a:pt x="2742856" y="747914"/>
                  </a:lnTo>
                  <a:lnTo>
                    <a:pt x="2712569" y="761633"/>
                  </a:lnTo>
                  <a:lnTo>
                    <a:pt x="2708853" y="761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95999" y="1523999"/>
              <a:ext cx="52069" cy="762000"/>
            </a:xfrm>
            <a:custGeom>
              <a:avLst/>
              <a:gdLst/>
              <a:ahLst/>
              <a:cxnLst/>
              <a:rect l="l" t="t" r="r" b="b"/>
              <a:pathLst>
                <a:path w="52070" h="762000">
                  <a:moveTo>
                    <a:pt x="51889" y="761999"/>
                  </a:moveTo>
                  <a:lnTo>
                    <a:pt x="49571" y="761999"/>
                  </a:lnTo>
                  <a:lnTo>
                    <a:pt x="42280" y="760549"/>
                  </a:lnTo>
                  <a:lnTo>
                    <a:pt x="7249" y="733721"/>
                  </a:lnTo>
                  <a:lnTo>
                    <a:pt x="0" y="7124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0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704850"/>
                  </a:lnTo>
                  <a:lnTo>
                    <a:pt x="43679" y="745260"/>
                  </a:lnTo>
                  <a:lnTo>
                    <a:pt x="47399" y="756420"/>
                  </a:lnTo>
                  <a:lnTo>
                    <a:pt x="51889" y="761999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235699" y="1595215"/>
            <a:ext cx="1054100" cy="5638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0" spc="-90" dirty="0">
                <a:solidFill>
                  <a:srgbClr val="1C4ED8"/>
                </a:solidFill>
                <a:latin typeface="Roboto Medium"/>
                <a:cs typeface="Roboto Medium"/>
              </a:rPr>
              <a:t>Dimensão</a:t>
            </a:r>
            <a:r>
              <a:rPr sz="1500" b="0" spc="-30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500" b="0" spc="-45" dirty="0">
                <a:solidFill>
                  <a:srgbClr val="1C4ED8"/>
                </a:solidFill>
                <a:latin typeface="Roboto Medium"/>
                <a:cs typeface="Roboto Medium"/>
              </a:rPr>
              <a:t>(d)</a:t>
            </a:r>
            <a:endParaRPr sz="150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600" b="1" spc="-50" dirty="0">
                <a:solidFill>
                  <a:srgbClr val="1F2937"/>
                </a:solidFill>
                <a:latin typeface="Gadugi"/>
                <a:cs typeface="Gadugi"/>
              </a:rPr>
              <a:t>5</a:t>
            </a:r>
            <a:endParaRPr sz="1600">
              <a:latin typeface="Gadugi"/>
              <a:cs typeface="Gadug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029698" y="1523999"/>
            <a:ext cx="2781300" cy="762000"/>
            <a:chOff x="9029698" y="1523999"/>
            <a:chExt cx="2781300" cy="762000"/>
          </a:xfrm>
        </p:grpSpPr>
        <p:sp>
          <p:nvSpPr>
            <p:cNvPr id="19" name="object 19"/>
            <p:cNvSpPr/>
            <p:nvPr/>
          </p:nvSpPr>
          <p:spPr>
            <a:xfrm>
              <a:off x="9048748" y="1523999"/>
              <a:ext cx="2762250" cy="762000"/>
            </a:xfrm>
            <a:custGeom>
              <a:avLst/>
              <a:gdLst/>
              <a:ahLst/>
              <a:cxnLst/>
              <a:rect l="l" t="t" r="r" b="b"/>
              <a:pathLst>
                <a:path w="2762250" h="762000">
                  <a:moveTo>
                    <a:pt x="2708852" y="761999"/>
                  </a:moveTo>
                  <a:lnTo>
                    <a:pt x="33047" y="761999"/>
                  </a:lnTo>
                  <a:lnTo>
                    <a:pt x="28187" y="760549"/>
                  </a:lnTo>
                  <a:lnTo>
                    <a:pt x="966" y="719718"/>
                  </a:lnTo>
                  <a:lnTo>
                    <a:pt x="0" y="712428"/>
                  </a:lnTo>
                  <a:lnTo>
                    <a:pt x="0" y="7048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2708852" y="0"/>
                  </a:lnTo>
                  <a:lnTo>
                    <a:pt x="2748165" y="19392"/>
                  </a:lnTo>
                  <a:lnTo>
                    <a:pt x="2762250" y="53397"/>
                  </a:lnTo>
                  <a:lnTo>
                    <a:pt x="2762250" y="708602"/>
                  </a:lnTo>
                  <a:lnTo>
                    <a:pt x="2742857" y="747914"/>
                  </a:lnTo>
                  <a:lnTo>
                    <a:pt x="2712568" y="761633"/>
                  </a:lnTo>
                  <a:lnTo>
                    <a:pt x="2708852" y="761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29698" y="1523999"/>
              <a:ext cx="52069" cy="762000"/>
            </a:xfrm>
            <a:custGeom>
              <a:avLst/>
              <a:gdLst/>
              <a:ahLst/>
              <a:cxnLst/>
              <a:rect l="l" t="t" r="r" b="b"/>
              <a:pathLst>
                <a:path w="52070" h="762000">
                  <a:moveTo>
                    <a:pt x="51889" y="761999"/>
                  </a:moveTo>
                  <a:lnTo>
                    <a:pt x="49571" y="761999"/>
                  </a:lnTo>
                  <a:lnTo>
                    <a:pt x="42281" y="760549"/>
                  </a:lnTo>
                  <a:lnTo>
                    <a:pt x="7249" y="733721"/>
                  </a:lnTo>
                  <a:lnTo>
                    <a:pt x="0" y="712428"/>
                  </a:lnTo>
                  <a:lnTo>
                    <a:pt x="0" y="49571"/>
                  </a:lnTo>
                  <a:lnTo>
                    <a:pt x="22096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0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704850"/>
                  </a:lnTo>
                  <a:lnTo>
                    <a:pt x="43679" y="745260"/>
                  </a:lnTo>
                  <a:lnTo>
                    <a:pt x="47399" y="756420"/>
                  </a:lnTo>
                  <a:lnTo>
                    <a:pt x="51889" y="761999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169400" y="1595215"/>
            <a:ext cx="1652905" cy="5638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0" spc="-105" dirty="0">
                <a:solidFill>
                  <a:srgbClr val="1C4ED8"/>
                </a:solidFill>
                <a:latin typeface="Roboto Medium"/>
                <a:cs typeface="Roboto Medium"/>
              </a:rPr>
              <a:t>Número</a:t>
            </a:r>
            <a:r>
              <a:rPr sz="1500" b="0" spc="-5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500" b="0" spc="-100" dirty="0">
                <a:solidFill>
                  <a:srgbClr val="1C4ED8"/>
                </a:solidFill>
                <a:latin typeface="Roboto Medium"/>
                <a:cs typeface="Roboto Medium"/>
              </a:rPr>
              <a:t>de</a:t>
            </a:r>
            <a:r>
              <a:rPr sz="1500" b="0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500" b="0" spc="-90" dirty="0">
                <a:solidFill>
                  <a:srgbClr val="1C4ED8"/>
                </a:solidFill>
                <a:latin typeface="Roboto Medium"/>
                <a:cs typeface="Roboto Medium"/>
              </a:rPr>
              <a:t>Picos</a:t>
            </a:r>
            <a:r>
              <a:rPr sz="1500" b="0" spc="-5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500" b="0" spc="-45" dirty="0">
                <a:solidFill>
                  <a:srgbClr val="1C4ED8"/>
                </a:solidFill>
                <a:latin typeface="Roboto Medium"/>
                <a:cs typeface="Roboto Medium"/>
              </a:rPr>
              <a:t>(m)</a:t>
            </a:r>
            <a:endParaRPr sz="150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600" b="1" spc="-25" dirty="0">
                <a:solidFill>
                  <a:srgbClr val="1F2937"/>
                </a:solidFill>
                <a:latin typeface="Gadugi"/>
                <a:cs typeface="Gadugi"/>
              </a:rPr>
              <a:t>10</a:t>
            </a:r>
            <a:endParaRPr sz="1600">
              <a:latin typeface="Gadugi"/>
              <a:cs typeface="Gadug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95999" y="2438399"/>
            <a:ext cx="2781300" cy="762000"/>
            <a:chOff x="6095999" y="2438399"/>
            <a:chExt cx="2781300" cy="762000"/>
          </a:xfrm>
        </p:grpSpPr>
        <p:sp>
          <p:nvSpPr>
            <p:cNvPr id="23" name="object 23"/>
            <p:cNvSpPr/>
            <p:nvPr/>
          </p:nvSpPr>
          <p:spPr>
            <a:xfrm>
              <a:off x="6115048" y="2438399"/>
              <a:ext cx="2762250" cy="762000"/>
            </a:xfrm>
            <a:custGeom>
              <a:avLst/>
              <a:gdLst/>
              <a:ahLst/>
              <a:cxnLst/>
              <a:rect l="l" t="t" r="r" b="b"/>
              <a:pathLst>
                <a:path w="2762250" h="762000">
                  <a:moveTo>
                    <a:pt x="2708853" y="761999"/>
                  </a:moveTo>
                  <a:lnTo>
                    <a:pt x="33047" y="761999"/>
                  </a:lnTo>
                  <a:lnTo>
                    <a:pt x="28187" y="760549"/>
                  </a:lnTo>
                  <a:lnTo>
                    <a:pt x="966" y="719718"/>
                  </a:lnTo>
                  <a:lnTo>
                    <a:pt x="0" y="712428"/>
                  </a:lnTo>
                  <a:lnTo>
                    <a:pt x="0" y="7048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2708853" y="0"/>
                  </a:lnTo>
                  <a:lnTo>
                    <a:pt x="2748164" y="19392"/>
                  </a:lnTo>
                  <a:lnTo>
                    <a:pt x="2762249" y="53397"/>
                  </a:lnTo>
                  <a:lnTo>
                    <a:pt x="2762249" y="708602"/>
                  </a:lnTo>
                  <a:lnTo>
                    <a:pt x="2742856" y="747914"/>
                  </a:lnTo>
                  <a:lnTo>
                    <a:pt x="2712569" y="761633"/>
                  </a:lnTo>
                  <a:lnTo>
                    <a:pt x="2708853" y="761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5999" y="2438399"/>
              <a:ext cx="52069" cy="762000"/>
            </a:xfrm>
            <a:custGeom>
              <a:avLst/>
              <a:gdLst/>
              <a:ahLst/>
              <a:cxnLst/>
              <a:rect l="l" t="t" r="r" b="b"/>
              <a:pathLst>
                <a:path w="52070" h="762000">
                  <a:moveTo>
                    <a:pt x="51889" y="761999"/>
                  </a:moveTo>
                  <a:lnTo>
                    <a:pt x="49571" y="761999"/>
                  </a:lnTo>
                  <a:lnTo>
                    <a:pt x="42280" y="760549"/>
                  </a:lnTo>
                  <a:lnTo>
                    <a:pt x="7249" y="733721"/>
                  </a:lnTo>
                  <a:lnTo>
                    <a:pt x="0" y="7124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704850"/>
                  </a:lnTo>
                  <a:lnTo>
                    <a:pt x="43679" y="745261"/>
                  </a:lnTo>
                  <a:lnTo>
                    <a:pt x="47399" y="756420"/>
                  </a:lnTo>
                  <a:lnTo>
                    <a:pt x="51889" y="761999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235699" y="2509616"/>
            <a:ext cx="1655445" cy="5638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0" spc="-85" dirty="0">
                <a:solidFill>
                  <a:srgbClr val="1C4ED8"/>
                </a:solidFill>
                <a:latin typeface="Roboto Medium"/>
                <a:cs typeface="Roboto Medium"/>
              </a:rPr>
              <a:t>Freq.</a:t>
            </a:r>
            <a:r>
              <a:rPr sz="1500" b="0" spc="-20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500" b="0" spc="-100" dirty="0">
                <a:solidFill>
                  <a:srgbClr val="1C4ED8"/>
                </a:solidFill>
                <a:latin typeface="Roboto Medium"/>
                <a:cs typeface="Roboto Medium"/>
              </a:rPr>
              <a:t>de</a:t>
            </a:r>
            <a:r>
              <a:rPr sz="1500" b="0" spc="-15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500" b="0" spc="-95" dirty="0">
                <a:solidFill>
                  <a:srgbClr val="1C4ED8"/>
                </a:solidFill>
                <a:latin typeface="Roboto Medium"/>
                <a:cs typeface="Roboto Medium"/>
              </a:rPr>
              <a:t>Mudança</a:t>
            </a:r>
            <a:r>
              <a:rPr sz="1500" b="0" spc="-20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500" b="0" spc="-40" dirty="0">
                <a:solidFill>
                  <a:srgbClr val="1C4ED8"/>
                </a:solidFill>
                <a:latin typeface="Roboto Medium"/>
                <a:cs typeface="Roboto Medium"/>
              </a:rPr>
              <a:t>(F)</a:t>
            </a:r>
            <a:endParaRPr sz="150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600" b="1" spc="-20" dirty="0">
                <a:solidFill>
                  <a:srgbClr val="1F2937"/>
                </a:solidFill>
                <a:latin typeface="Gadugi"/>
                <a:cs typeface="Gadugi"/>
              </a:rPr>
              <a:t>5000</a:t>
            </a:r>
            <a:endParaRPr sz="1600">
              <a:latin typeface="Gadugi"/>
              <a:cs typeface="Gadug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029698" y="2438399"/>
            <a:ext cx="2781300" cy="762000"/>
            <a:chOff x="9029698" y="2438399"/>
            <a:chExt cx="2781300" cy="762000"/>
          </a:xfrm>
        </p:grpSpPr>
        <p:sp>
          <p:nvSpPr>
            <p:cNvPr id="27" name="object 27"/>
            <p:cNvSpPr/>
            <p:nvPr/>
          </p:nvSpPr>
          <p:spPr>
            <a:xfrm>
              <a:off x="9048748" y="2438399"/>
              <a:ext cx="2762250" cy="762000"/>
            </a:xfrm>
            <a:custGeom>
              <a:avLst/>
              <a:gdLst/>
              <a:ahLst/>
              <a:cxnLst/>
              <a:rect l="l" t="t" r="r" b="b"/>
              <a:pathLst>
                <a:path w="2762250" h="762000">
                  <a:moveTo>
                    <a:pt x="2708852" y="761999"/>
                  </a:moveTo>
                  <a:lnTo>
                    <a:pt x="33047" y="761999"/>
                  </a:lnTo>
                  <a:lnTo>
                    <a:pt x="28187" y="760549"/>
                  </a:lnTo>
                  <a:lnTo>
                    <a:pt x="966" y="719718"/>
                  </a:lnTo>
                  <a:lnTo>
                    <a:pt x="0" y="712428"/>
                  </a:lnTo>
                  <a:lnTo>
                    <a:pt x="0" y="7048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2708852" y="0"/>
                  </a:lnTo>
                  <a:lnTo>
                    <a:pt x="2748165" y="19392"/>
                  </a:lnTo>
                  <a:lnTo>
                    <a:pt x="2762250" y="53397"/>
                  </a:lnTo>
                  <a:lnTo>
                    <a:pt x="2762250" y="708602"/>
                  </a:lnTo>
                  <a:lnTo>
                    <a:pt x="2742857" y="747914"/>
                  </a:lnTo>
                  <a:lnTo>
                    <a:pt x="2712568" y="761633"/>
                  </a:lnTo>
                  <a:lnTo>
                    <a:pt x="2708852" y="761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029698" y="2438399"/>
              <a:ext cx="52069" cy="762000"/>
            </a:xfrm>
            <a:custGeom>
              <a:avLst/>
              <a:gdLst/>
              <a:ahLst/>
              <a:cxnLst/>
              <a:rect l="l" t="t" r="r" b="b"/>
              <a:pathLst>
                <a:path w="52070" h="762000">
                  <a:moveTo>
                    <a:pt x="51889" y="761999"/>
                  </a:moveTo>
                  <a:lnTo>
                    <a:pt x="49571" y="761999"/>
                  </a:lnTo>
                  <a:lnTo>
                    <a:pt x="42281" y="760549"/>
                  </a:lnTo>
                  <a:lnTo>
                    <a:pt x="7249" y="733721"/>
                  </a:lnTo>
                  <a:lnTo>
                    <a:pt x="0" y="712428"/>
                  </a:lnTo>
                  <a:lnTo>
                    <a:pt x="0" y="49571"/>
                  </a:lnTo>
                  <a:lnTo>
                    <a:pt x="22096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704850"/>
                  </a:lnTo>
                  <a:lnTo>
                    <a:pt x="43679" y="745261"/>
                  </a:lnTo>
                  <a:lnTo>
                    <a:pt x="47399" y="756420"/>
                  </a:lnTo>
                  <a:lnTo>
                    <a:pt x="51889" y="761999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169400" y="2509616"/>
            <a:ext cx="1751331" cy="55912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0" spc="-85" dirty="0">
                <a:solidFill>
                  <a:srgbClr val="1C4ED8"/>
                </a:solidFill>
                <a:latin typeface="Roboto Medium"/>
                <a:cs typeface="Roboto Medium"/>
              </a:rPr>
              <a:t>Severidade</a:t>
            </a:r>
            <a:r>
              <a:rPr sz="1500" b="0" spc="-5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500" b="0" spc="-35" dirty="0">
                <a:solidFill>
                  <a:srgbClr val="1C4ED8"/>
                </a:solidFill>
                <a:latin typeface="Roboto Medium"/>
                <a:cs typeface="Roboto Medium"/>
              </a:rPr>
              <a:t>(S)</a:t>
            </a:r>
            <a:endParaRPr sz="1500" dirty="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600" b="1" spc="-50" dirty="0">
                <a:solidFill>
                  <a:srgbClr val="1F2937"/>
                </a:solidFill>
                <a:latin typeface="Gadugi"/>
                <a:cs typeface="Gadugi"/>
              </a:rPr>
              <a:t>1.0</a:t>
            </a:r>
            <a:r>
              <a:rPr sz="1600" b="1" spc="-65" dirty="0">
                <a:solidFill>
                  <a:srgbClr val="1F2937"/>
                </a:solidFill>
                <a:latin typeface="Gadugi"/>
                <a:cs typeface="Gadugi"/>
              </a:rPr>
              <a:t> </a:t>
            </a:r>
            <a:r>
              <a:rPr lang="pt-BR" sz="1600" b="1" spc="-65" dirty="0">
                <a:solidFill>
                  <a:srgbClr val="1F2937"/>
                </a:solidFill>
                <a:latin typeface="Gadugi"/>
                <a:cs typeface="Gadugi"/>
              </a:rPr>
              <a:t>– 2.0 –</a:t>
            </a:r>
            <a:r>
              <a:rPr sz="1600" b="1" spc="-65" dirty="0">
                <a:solidFill>
                  <a:srgbClr val="1F2937"/>
                </a:solidFill>
                <a:latin typeface="Gadugi"/>
                <a:cs typeface="Gadugi"/>
              </a:rPr>
              <a:t> </a:t>
            </a:r>
            <a:r>
              <a:rPr sz="1600" b="1" spc="-25" dirty="0">
                <a:solidFill>
                  <a:srgbClr val="1F2937"/>
                </a:solidFill>
                <a:latin typeface="Gadugi"/>
                <a:cs typeface="Gadugi"/>
              </a:rPr>
              <a:t>5.0</a:t>
            </a:r>
            <a:endParaRPr sz="1600" dirty="0">
              <a:latin typeface="Gadugi"/>
              <a:cs typeface="Gadug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095999" y="3352799"/>
            <a:ext cx="2781300" cy="762000"/>
            <a:chOff x="6095999" y="3352799"/>
            <a:chExt cx="2781300" cy="762000"/>
          </a:xfrm>
        </p:grpSpPr>
        <p:sp>
          <p:nvSpPr>
            <p:cNvPr id="31" name="object 31"/>
            <p:cNvSpPr/>
            <p:nvPr/>
          </p:nvSpPr>
          <p:spPr>
            <a:xfrm>
              <a:off x="6115048" y="3352799"/>
              <a:ext cx="2762250" cy="762000"/>
            </a:xfrm>
            <a:custGeom>
              <a:avLst/>
              <a:gdLst/>
              <a:ahLst/>
              <a:cxnLst/>
              <a:rect l="l" t="t" r="r" b="b"/>
              <a:pathLst>
                <a:path w="2762250" h="762000">
                  <a:moveTo>
                    <a:pt x="2708853" y="761999"/>
                  </a:moveTo>
                  <a:lnTo>
                    <a:pt x="33047" y="761999"/>
                  </a:lnTo>
                  <a:lnTo>
                    <a:pt x="28187" y="760549"/>
                  </a:lnTo>
                  <a:lnTo>
                    <a:pt x="966" y="719718"/>
                  </a:lnTo>
                  <a:lnTo>
                    <a:pt x="0" y="712428"/>
                  </a:lnTo>
                  <a:lnTo>
                    <a:pt x="0" y="7048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2708853" y="0"/>
                  </a:lnTo>
                  <a:lnTo>
                    <a:pt x="2748164" y="19392"/>
                  </a:lnTo>
                  <a:lnTo>
                    <a:pt x="2762249" y="53397"/>
                  </a:lnTo>
                  <a:lnTo>
                    <a:pt x="2762249" y="708602"/>
                  </a:lnTo>
                  <a:lnTo>
                    <a:pt x="2742856" y="747914"/>
                  </a:lnTo>
                  <a:lnTo>
                    <a:pt x="2712569" y="761633"/>
                  </a:lnTo>
                  <a:lnTo>
                    <a:pt x="2708853" y="761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95999" y="3352799"/>
              <a:ext cx="52069" cy="762000"/>
            </a:xfrm>
            <a:custGeom>
              <a:avLst/>
              <a:gdLst/>
              <a:ahLst/>
              <a:cxnLst/>
              <a:rect l="l" t="t" r="r" b="b"/>
              <a:pathLst>
                <a:path w="52070" h="762000">
                  <a:moveTo>
                    <a:pt x="51889" y="761999"/>
                  </a:moveTo>
                  <a:lnTo>
                    <a:pt x="49571" y="761999"/>
                  </a:lnTo>
                  <a:lnTo>
                    <a:pt x="42280" y="760549"/>
                  </a:lnTo>
                  <a:lnTo>
                    <a:pt x="7249" y="733721"/>
                  </a:lnTo>
                  <a:lnTo>
                    <a:pt x="0" y="7124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704850"/>
                  </a:lnTo>
                  <a:lnTo>
                    <a:pt x="43679" y="745261"/>
                  </a:lnTo>
                  <a:lnTo>
                    <a:pt x="47399" y="756420"/>
                  </a:lnTo>
                  <a:lnTo>
                    <a:pt x="51889" y="761999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235699" y="3424015"/>
            <a:ext cx="1739264" cy="5638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0" spc="-105" dirty="0">
                <a:solidFill>
                  <a:srgbClr val="1C4ED8"/>
                </a:solidFill>
                <a:latin typeface="Roboto Medium"/>
                <a:cs typeface="Roboto Medium"/>
              </a:rPr>
              <a:t>Número</a:t>
            </a:r>
            <a:r>
              <a:rPr sz="1500" b="0" spc="-5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500" b="0" spc="-100" dirty="0">
                <a:solidFill>
                  <a:srgbClr val="1C4ED8"/>
                </a:solidFill>
                <a:latin typeface="Roboto Medium"/>
                <a:cs typeface="Roboto Medium"/>
              </a:rPr>
              <a:t>de</a:t>
            </a:r>
            <a:r>
              <a:rPr sz="1500" b="0" spc="-5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500" b="0" spc="-80" dirty="0">
                <a:solidFill>
                  <a:srgbClr val="1C4ED8"/>
                </a:solidFill>
                <a:latin typeface="Roboto Medium"/>
                <a:cs typeface="Roboto Medium"/>
              </a:rPr>
              <a:t>Ambientes</a:t>
            </a:r>
            <a:endParaRPr sz="150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600" b="1" spc="-25" dirty="0">
                <a:solidFill>
                  <a:srgbClr val="1F2937"/>
                </a:solidFill>
                <a:latin typeface="Gadugi"/>
                <a:cs typeface="Gadugi"/>
              </a:rPr>
              <a:t>100</a:t>
            </a:r>
            <a:endParaRPr sz="1600">
              <a:latin typeface="Gadugi"/>
              <a:cs typeface="Gadug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029698" y="3352799"/>
            <a:ext cx="2781300" cy="762000"/>
            <a:chOff x="9029698" y="3352799"/>
            <a:chExt cx="2781300" cy="762000"/>
          </a:xfrm>
        </p:grpSpPr>
        <p:sp>
          <p:nvSpPr>
            <p:cNvPr id="35" name="object 35"/>
            <p:cNvSpPr/>
            <p:nvPr/>
          </p:nvSpPr>
          <p:spPr>
            <a:xfrm>
              <a:off x="9048748" y="3352799"/>
              <a:ext cx="2762250" cy="762000"/>
            </a:xfrm>
            <a:custGeom>
              <a:avLst/>
              <a:gdLst/>
              <a:ahLst/>
              <a:cxnLst/>
              <a:rect l="l" t="t" r="r" b="b"/>
              <a:pathLst>
                <a:path w="2762250" h="762000">
                  <a:moveTo>
                    <a:pt x="2708852" y="761999"/>
                  </a:moveTo>
                  <a:lnTo>
                    <a:pt x="33047" y="761999"/>
                  </a:lnTo>
                  <a:lnTo>
                    <a:pt x="28187" y="760549"/>
                  </a:lnTo>
                  <a:lnTo>
                    <a:pt x="966" y="719718"/>
                  </a:lnTo>
                  <a:lnTo>
                    <a:pt x="0" y="712428"/>
                  </a:lnTo>
                  <a:lnTo>
                    <a:pt x="0" y="7048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2708852" y="0"/>
                  </a:lnTo>
                  <a:lnTo>
                    <a:pt x="2748165" y="19392"/>
                  </a:lnTo>
                  <a:lnTo>
                    <a:pt x="2762250" y="53397"/>
                  </a:lnTo>
                  <a:lnTo>
                    <a:pt x="2762250" y="708602"/>
                  </a:lnTo>
                  <a:lnTo>
                    <a:pt x="2742857" y="747914"/>
                  </a:lnTo>
                  <a:lnTo>
                    <a:pt x="2712568" y="761633"/>
                  </a:lnTo>
                  <a:lnTo>
                    <a:pt x="2708852" y="761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029698" y="3352799"/>
              <a:ext cx="52069" cy="762000"/>
            </a:xfrm>
            <a:custGeom>
              <a:avLst/>
              <a:gdLst/>
              <a:ahLst/>
              <a:cxnLst/>
              <a:rect l="l" t="t" r="r" b="b"/>
              <a:pathLst>
                <a:path w="52070" h="762000">
                  <a:moveTo>
                    <a:pt x="51889" y="761999"/>
                  </a:moveTo>
                  <a:lnTo>
                    <a:pt x="49571" y="761999"/>
                  </a:lnTo>
                  <a:lnTo>
                    <a:pt x="42281" y="760549"/>
                  </a:lnTo>
                  <a:lnTo>
                    <a:pt x="7249" y="733721"/>
                  </a:lnTo>
                  <a:lnTo>
                    <a:pt x="0" y="712428"/>
                  </a:lnTo>
                  <a:lnTo>
                    <a:pt x="0" y="49571"/>
                  </a:lnTo>
                  <a:lnTo>
                    <a:pt x="22096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704850"/>
                  </a:lnTo>
                  <a:lnTo>
                    <a:pt x="43679" y="745261"/>
                  </a:lnTo>
                  <a:lnTo>
                    <a:pt x="47399" y="756420"/>
                  </a:lnTo>
                  <a:lnTo>
                    <a:pt x="51889" y="761999"/>
                  </a:lnTo>
                  <a:close/>
                </a:path>
              </a:pathLst>
            </a:custGeom>
            <a:solidFill>
              <a:srgbClr val="318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169400" y="3424015"/>
            <a:ext cx="850900" cy="5638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500" b="0" spc="-85" dirty="0">
                <a:solidFill>
                  <a:srgbClr val="1C4ED8"/>
                </a:solidFill>
                <a:latin typeface="Roboto Medium"/>
                <a:cs typeface="Roboto Medium"/>
              </a:rPr>
              <a:t>Execuções</a:t>
            </a:r>
            <a:endParaRPr sz="150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600" b="1" spc="-25" dirty="0">
                <a:solidFill>
                  <a:srgbClr val="1F2937"/>
                </a:solidFill>
                <a:latin typeface="Gadugi"/>
                <a:cs typeface="Gadugi"/>
              </a:rPr>
              <a:t>31</a:t>
            </a:r>
            <a:endParaRPr sz="1600">
              <a:latin typeface="Gadugi"/>
              <a:cs typeface="Gadugi"/>
            </a:endParaRPr>
          </a:p>
        </p:txBody>
      </p:sp>
      <p:sp>
        <p:nvSpPr>
          <p:cNvPr id="50" name="object 6">
            <a:extLst>
              <a:ext uri="{FF2B5EF4-FFF2-40B4-BE49-F238E27FC236}">
                <a16:creationId xmlns:a16="http://schemas.microsoft.com/office/drawing/2014/main" id="{E7A58607-8621-94BB-B92A-009C0BC48FFA}"/>
              </a:ext>
            </a:extLst>
          </p:cNvPr>
          <p:cNvSpPr txBox="1"/>
          <p:nvPr/>
        </p:nvSpPr>
        <p:spPr>
          <a:xfrm>
            <a:off x="520699" y="1061430"/>
            <a:ext cx="502094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27065" algn="l"/>
              </a:tabLst>
            </a:pPr>
            <a:r>
              <a:rPr sz="2000" b="0" spc="-105" dirty="0">
                <a:solidFill>
                  <a:srgbClr val="1D40AF"/>
                </a:solidFill>
                <a:latin typeface="Roboto Medium"/>
                <a:cs typeface="Roboto Medium"/>
              </a:rPr>
              <a:t>Generalized</a:t>
            </a:r>
            <a:r>
              <a:rPr sz="2000" b="0" spc="-1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130" dirty="0">
                <a:solidFill>
                  <a:srgbClr val="1D40AF"/>
                </a:solidFill>
                <a:latin typeface="Roboto Medium"/>
                <a:cs typeface="Roboto Medium"/>
              </a:rPr>
              <a:t>Moving</a:t>
            </a:r>
            <a:r>
              <a:rPr sz="2000" b="0" spc="-10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125" dirty="0">
                <a:solidFill>
                  <a:srgbClr val="1D40AF"/>
                </a:solidFill>
                <a:latin typeface="Roboto Medium"/>
                <a:cs typeface="Roboto Medium"/>
              </a:rPr>
              <a:t>Peaks</a:t>
            </a:r>
            <a:r>
              <a:rPr sz="2000" b="0" spc="-10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125" dirty="0">
                <a:solidFill>
                  <a:srgbClr val="1D40AF"/>
                </a:solidFill>
                <a:latin typeface="Roboto Medium"/>
                <a:cs typeface="Roboto Medium"/>
              </a:rPr>
              <a:t>Benchmark</a:t>
            </a:r>
            <a:r>
              <a:rPr sz="2000" b="0" spc="-10" dirty="0">
                <a:solidFill>
                  <a:srgbClr val="1D40AF"/>
                </a:solidFill>
                <a:latin typeface="Roboto Medium"/>
                <a:cs typeface="Roboto Medium"/>
              </a:rPr>
              <a:t> (GMPB)</a:t>
            </a:r>
            <a:endParaRPr sz="2000" dirty="0">
              <a:latin typeface="Roboto Medium"/>
              <a:cs typeface="Roboto Medium"/>
            </a:endParaRPr>
          </a:p>
        </p:txBody>
      </p:sp>
      <p:sp>
        <p:nvSpPr>
          <p:cNvPr id="53" name="object 4">
            <a:extLst>
              <a:ext uri="{FF2B5EF4-FFF2-40B4-BE49-F238E27FC236}">
                <a16:creationId xmlns:a16="http://schemas.microsoft.com/office/drawing/2014/main" id="{2E276EB3-D887-30E3-2051-81BEAFAA8CE3}"/>
              </a:ext>
            </a:extLst>
          </p:cNvPr>
          <p:cNvSpPr/>
          <p:nvPr/>
        </p:nvSpPr>
        <p:spPr>
          <a:xfrm>
            <a:off x="465085" y="4799567"/>
            <a:ext cx="11410043" cy="1371600"/>
          </a:xfrm>
          <a:custGeom>
            <a:avLst/>
            <a:gdLst/>
            <a:ahLst/>
            <a:cxnLst/>
            <a:rect l="l" t="t" r="r" b="b"/>
            <a:pathLst>
              <a:path w="5410200" h="1371600">
                <a:moveTo>
                  <a:pt x="5339002" y="1371599"/>
                </a:moveTo>
                <a:lnTo>
                  <a:pt x="71196" y="1371599"/>
                </a:lnTo>
                <a:lnTo>
                  <a:pt x="66241" y="1371111"/>
                </a:lnTo>
                <a:lnTo>
                  <a:pt x="29705" y="1355977"/>
                </a:lnTo>
                <a:lnTo>
                  <a:pt x="3885" y="1319937"/>
                </a:lnTo>
                <a:lnTo>
                  <a:pt x="0" y="1300402"/>
                </a:lnTo>
                <a:lnTo>
                  <a:pt x="0" y="12953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5339002" y="0"/>
                </a:lnTo>
                <a:lnTo>
                  <a:pt x="5380493" y="15621"/>
                </a:lnTo>
                <a:lnTo>
                  <a:pt x="5406312" y="51660"/>
                </a:lnTo>
                <a:lnTo>
                  <a:pt x="5410199" y="71196"/>
                </a:lnTo>
                <a:lnTo>
                  <a:pt x="5410199" y="1300402"/>
                </a:lnTo>
                <a:lnTo>
                  <a:pt x="5394577" y="1341894"/>
                </a:lnTo>
                <a:lnTo>
                  <a:pt x="5358537" y="1367713"/>
                </a:lnTo>
                <a:lnTo>
                  <a:pt x="5343957" y="1371111"/>
                </a:lnTo>
                <a:lnTo>
                  <a:pt x="5339002" y="13715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3">
            <a:extLst>
              <a:ext uri="{FF2B5EF4-FFF2-40B4-BE49-F238E27FC236}">
                <a16:creationId xmlns:a16="http://schemas.microsoft.com/office/drawing/2014/main" id="{37602F64-5808-233F-AF5E-E95A77306896}"/>
              </a:ext>
            </a:extLst>
          </p:cNvPr>
          <p:cNvSpPr txBox="1"/>
          <p:nvPr/>
        </p:nvSpPr>
        <p:spPr>
          <a:xfrm>
            <a:off x="443315" y="4801695"/>
            <a:ext cx="11357436" cy="1393458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R="3275329" algn="ctr">
              <a:lnSpc>
                <a:spcPct val="100000"/>
              </a:lnSpc>
              <a:spcBef>
                <a:spcPts val="970"/>
              </a:spcBef>
            </a:pPr>
            <a:r>
              <a:rPr lang="pt-BR" sz="2000" b="0" spc="-80" dirty="0">
                <a:solidFill>
                  <a:srgbClr val="1D40AF"/>
                </a:solidFill>
                <a:latin typeface="Roboto Medium"/>
                <a:cs typeface="Roboto Medium"/>
              </a:rPr>
              <a:t>                                                    </a:t>
            </a:r>
            <a:r>
              <a:rPr sz="2000" b="0" spc="-80" dirty="0" err="1">
                <a:solidFill>
                  <a:srgbClr val="1D40AF"/>
                </a:solidFill>
                <a:latin typeface="Roboto Medium"/>
                <a:cs typeface="Roboto Medium"/>
              </a:rPr>
              <a:t>Métrica</a:t>
            </a:r>
            <a:r>
              <a:rPr sz="2000" b="0" spc="-3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90" dirty="0">
                <a:solidFill>
                  <a:srgbClr val="1D40AF"/>
                </a:solidFill>
                <a:latin typeface="Roboto Medium"/>
                <a:cs typeface="Roboto Medium"/>
              </a:rPr>
              <a:t>de</a:t>
            </a:r>
            <a:r>
              <a:rPr sz="2000" b="0" spc="-3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20" dirty="0">
                <a:solidFill>
                  <a:srgbClr val="1D40AF"/>
                </a:solidFill>
                <a:latin typeface="Roboto Medium"/>
                <a:cs typeface="Roboto Medium"/>
              </a:rPr>
              <a:t>Avaliação</a:t>
            </a:r>
            <a:endParaRPr sz="2000" dirty="0">
              <a:latin typeface="Roboto Medium"/>
              <a:cs typeface="Roboto Medium"/>
            </a:endParaRPr>
          </a:p>
          <a:p>
            <a:pPr marR="3333750" algn="ctr">
              <a:lnSpc>
                <a:spcPct val="100000"/>
              </a:lnSpc>
              <a:spcBef>
                <a:spcPts val="795"/>
              </a:spcBef>
            </a:pPr>
            <a:r>
              <a:rPr lang="pt-BR" sz="2000" b="0" spc="-80" dirty="0">
                <a:latin typeface="Roboto Medium"/>
                <a:cs typeface="Roboto Medium"/>
              </a:rPr>
              <a:t>                                                     </a:t>
            </a:r>
            <a:r>
              <a:rPr sz="2000" b="0" spc="-80" dirty="0">
                <a:latin typeface="Roboto Medium"/>
                <a:cs typeface="Roboto Medium"/>
              </a:rPr>
              <a:t>Erro</a:t>
            </a:r>
            <a:r>
              <a:rPr sz="2000" b="0" spc="-25" dirty="0">
                <a:latin typeface="Roboto Medium"/>
                <a:cs typeface="Roboto Medium"/>
              </a:rPr>
              <a:t> </a:t>
            </a:r>
            <a:r>
              <a:rPr sz="2000" b="0" spc="-85" dirty="0">
                <a:latin typeface="Roboto Medium"/>
                <a:cs typeface="Roboto Medium"/>
              </a:rPr>
              <a:t>Offline</a:t>
            </a:r>
            <a:r>
              <a:rPr sz="2000" b="0" spc="-20" dirty="0">
                <a:latin typeface="Roboto Medium"/>
                <a:cs typeface="Roboto Medium"/>
              </a:rPr>
              <a:t> (</a:t>
            </a:r>
            <a:r>
              <a:rPr sz="2000" b="0" spc="-20" dirty="0" err="1">
                <a:latin typeface="Roboto Medium"/>
                <a:cs typeface="Roboto Medium"/>
              </a:rPr>
              <a:t>E</a:t>
            </a:r>
            <a:r>
              <a:rPr sz="2000" b="0" spc="-30" baseline="-14619" dirty="0" err="1">
                <a:latin typeface="Bookman Old Style"/>
                <a:cs typeface="Bookman Old Style"/>
              </a:rPr>
              <a:t>o</a:t>
            </a:r>
            <a:r>
              <a:rPr sz="2000" b="0" spc="-20" dirty="0">
                <a:latin typeface="Roboto Medium"/>
                <a:cs typeface="Roboto Medium"/>
              </a:rPr>
              <a:t>)</a:t>
            </a:r>
            <a:endParaRPr lang="pt-BR" sz="800" b="0" spc="-20" dirty="0">
              <a:latin typeface="Roboto Medium"/>
              <a:cs typeface="Roboto Medium"/>
            </a:endParaRPr>
          </a:p>
          <a:p>
            <a:pPr marR="3333750" algn="ctr">
              <a:lnSpc>
                <a:spcPct val="100000"/>
              </a:lnSpc>
              <a:spcBef>
                <a:spcPts val="795"/>
              </a:spcBef>
            </a:pPr>
            <a:r>
              <a:rPr lang="pt-BR" sz="1000" dirty="0">
                <a:latin typeface="Roboto Medium"/>
                <a:cs typeface="Roboto Medium"/>
              </a:rPr>
              <a:t> </a:t>
            </a:r>
            <a:endParaRPr sz="1000" dirty="0">
              <a:latin typeface="Roboto Medium"/>
              <a:cs typeface="Roboto Medium"/>
            </a:endParaRPr>
          </a:p>
          <a:p>
            <a:pPr marL="304165" marR="30480">
              <a:lnSpc>
                <a:spcPct val="115399"/>
              </a:lnSpc>
              <a:spcBef>
                <a:spcPts val="30"/>
              </a:spcBef>
            </a:pPr>
            <a:r>
              <a:rPr lang="pt-BR" sz="900" spc="-65" dirty="0">
                <a:latin typeface="Roboto"/>
                <a:cs typeface="Roboto"/>
              </a:rPr>
              <a:t>                                                                   </a:t>
            </a:r>
            <a:r>
              <a:rPr sz="1600" spc="-65" dirty="0" err="1">
                <a:latin typeface="Roboto"/>
                <a:cs typeface="Roboto"/>
              </a:rPr>
              <a:t>Média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-65" dirty="0">
                <a:latin typeface="Roboto"/>
                <a:cs typeface="Roboto"/>
              </a:rPr>
              <a:t>dos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60" dirty="0">
                <a:latin typeface="Roboto"/>
                <a:cs typeface="Roboto"/>
              </a:rPr>
              <a:t>erros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55" dirty="0">
                <a:latin typeface="Roboto"/>
                <a:cs typeface="Roboto"/>
              </a:rPr>
              <a:t>entre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70" dirty="0">
                <a:latin typeface="Roboto"/>
                <a:cs typeface="Roboto"/>
              </a:rPr>
              <a:t>o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-60" dirty="0">
                <a:latin typeface="Roboto"/>
                <a:cs typeface="Roboto"/>
              </a:rPr>
              <a:t>melhor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60" dirty="0">
                <a:latin typeface="Roboto"/>
                <a:cs typeface="Roboto"/>
              </a:rPr>
              <a:t>fitness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60" dirty="0">
                <a:latin typeface="Roboto"/>
                <a:cs typeface="Roboto"/>
              </a:rPr>
              <a:t>encontrado</a:t>
            </a:r>
            <a:r>
              <a:rPr sz="1600" dirty="0">
                <a:latin typeface="Roboto"/>
                <a:cs typeface="Roboto"/>
              </a:rPr>
              <a:t> e </a:t>
            </a:r>
            <a:r>
              <a:rPr sz="1600" spc="-70" dirty="0">
                <a:latin typeface="Roboto"/>
                <a:cs typeface="Roboto"/>
              </a:rPr>
              <a:t>o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-60" dirty="0">
                <a:latin typeface="Roboto"/>
                <a:cs typeface="Roboto"/>
              </a:rPr>
              <a:t>ótimo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55" dirty="0">
                <a:latin typeface="Roboto"/>
                <a:cs typeface="Roboto"/>
              </a:rPr>
              <a:t>global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25" dirty="0">
                <a:latin typeface="Roboto"/>
                <a:cs typeface="Roboto"/>
              </a:rPr>
              <a:t>em </a:t>
            </a:r>
            <a:r>
              <a:rPr sz="1600" spc="-60" dirty="0">
                <a:latin typeface="Roboto"/>
                <a:cs typeface="Roboto"/>
              </a:rPr>
              <a:t>cada</a:t>
            </a:r>
            <a:r>
              <a:rPr sz="1600" spc="-1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avaliação</a:t>
            </a:r>
            <a:endParaRPr sz="16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FB8E-3D88-3D5E-83BB-E1DE9E439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9FF3CA6-36B3-8384-8031-F593C0663C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Configuração Experimental &amp; Benchmark</a:t>
            </a: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53EC2151-32F6-529B-AE92-2E4908599CE9}"/>
              </a:ext>
            </a:extLst>
          </p:cNvPr>
          <p:cNvSpPr txBox="1"/>
          <p:nvPr/>
        </p:nvSpPr>
        <p:spPr>
          <a:xfrm>
            <a:off x="618670" y="1057083"/>
            <a:ext cx="171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spc="-75" dirty="0">
                <a:solidFill>
                  <a:srgbClr val="1D40AF"/>
                </a:solidFill>
                <a:latin typeface="Roboto Medium"/>
                <a:cs typeface="Roboto Medium"/>
              </a:rPr>
              <a:t>P</a:t>
            </a:r>
            <a:endParaRPr sz="2000">
              <a:latin typeface="Roboto Medium"/>
              <a:cs typeface="Roboto Medium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2CE66CF7-9E1D-AEAD-ACE6-EE4C1FA61280}"/>
              </a:ext>
            </a:extLst>
          </p:cNvPr>
          <p:cNvSpPr/>
          <p:nvPr/>
        </p:nvSpPr>
        <p:spPr>
          <a:xfrm>
            <a:off x="631369" y="1552748"/>
            <a:ext cx="2781300" cy="1524000"/>
          </a:xfrm>
          <a:custGeom>
            <a:avLst/>
            <a:gdLst/>
            <a:ahLst/>
            <a:cxnLst/>
            <a:rect l="l" t="t" r="r" b="b"/>
            <a:pathLst>
              <a:path w="2781300" h="1524000">
                <a:moveTo>
                  <a:pt x="2727903" y="1523999"/>
                </a:moveTo>
                <a:lnTo>
                  <a:pt x="53397" y="1523999"/>
                </a:lnTo>
                <a:lnTo>
                  <a:pt x="49681" y="1523633"/>
                </a:lnTo>
                <a:lnTo>
                  <a:pt x="14085" y="1504606"/>
                </a:lnTo>
                <a:lnTo>
                  <a:pt x="0" y="1470601"/>
                </a:lnTo>
                <a:lnTo>
                  <a:pt x="0" y="1466849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727903" y="0"/>
                </a:lnTo>
                <a:lnTo>
                  <a:pt x="2767214" y="19391"/>
                </a:lnTo>
                <a:lnTo>
                  <a:pt x="2781299" y="53397"/>
                </a:lnTo>
                <a:lnTo>
                  <a:pt x="2781299" y="1470601"/>
                </a:lnTo>
                <a:lnTo>
                  <a:pt x="2761906" y="1509914"/>
                </a:lnTo>
                <a:lnTo>
                  <a:pt x="2731619" y="1523633"/>
                </a:lnTo>
                <a:lnTo>
                  <a:pt x="2727903" y="15239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083281F7-29EC-8FE9-5027-31F635A6FC49}"/>
              </a:ext>
            </a:extLst>
          </p:cNvPr>
          <p:cNvSpPr/>
          <p:nvPr/>
        </p:nvSpPr>
        <p:spPr>
          <a:xfrm>
            <a:off x="3565069" y="1552748"/>
            <a:ext cx="2781300" cy="1524000"/>
          </a:xfrm>
          <a:custGeom>
            <a:avLst/>
            <a:gdLst/>
            <a:ahLst/>
            <a:cxnLst/>
            <a:rect l="l" t="t" r="r" b="b"/>
            <a:pathLst>
              <a:path w="2781300" h="1524000">
                <a:moveTo>
                  <a:pt x="2727902" y="1523999"/>
                </a:moveTo>
                <a:lnTo>
                  <a:pt x="53397" y="1523999"/>
                </a:lnTo>
                <a:lnTo>
                  <a:pt x="49681" y="1523633"/>
                </a:lnTo>
                <a:lnTo>
                  <a:pt x="14084" y="1504606"/>
                </a:lnTo>
                <a:lnTo>
                  <a:pt x="0" y="1470601"/>
                </a:lnTo>
                <a:lnTo>
                  <a:pt x="0" y="1466849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727902" y="0"/>
                </a:lnTo>
                <a:lnTo>
                  <a:pt x="2767215" y="19391"/>
                </a:lnTo>
                <a:lnTo>
                  <a:pt x="2781300" y="53397"/>
                </a:lnTo>
                <a:lnTo>
                  <a:pt x="2781300" y="1470601"/>
                </a:lnTo>
                <a:lnTo>
                  <a:pt x="2761907" y="1509914"/>
                </a:lnTo>
                <a:lnTo>
                  <a:pt x="2731618" y="1523633"/>
                </a:lnTo>
                <a:lnTo>
                  <a:pt x="2727902" y="15239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1" name="object 41">
            <a:extLst>
              <a:ext uri="{FF2B5EF4-FFF2-40B4-BE49-F238E27FC236}">
                <a16:creationId xmlns:a16="http://schemas.microsoft.com/office/drawing/2014/main" id="{B5532A43-7940-C6E7-E6D1-12BF6C99B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238270"/>
              </p:ext>
            </p:extLst>
          </p:nvPr>
        </p:nvGraphicFramePr>
        <p:xfrm>
          <a:off x="713920" y="1142206"/>
          <a:ext cx="5550534" cy="17862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0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9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765">
                <a:tc gridSpan="4">
                  <a:txBody>
                    <a:bodyPr/>
                    <a:lstStyle/>
                    <a:p>
                      <a:pPr marL="61594">
                        <a:lnSpc>
                          <a:spcPts val="1835"/>
                        </a:lnSpc>
                      </a:pPr>
                      <a:r>
                        <a:rPr sz="2000" b="0" spc="-125" dirty="0">
                          <a:solidFill>
                            <a:srgbClr val="1D40AF"/>
                          </a:solidFill>
                          <a:latin typeface="Roboto Medium"/>
                          <a:cs typeface="Roboto Medium"/>
                        </a:rPr>
                        <a:t>arâmetros</a:t>
                      </a:r>
                      <a:r>
                        <a:rPr sz="2000" b="0" spc="-5" dirty="0">
                          <a:solidFill>
                            <a:srgbClr val="1D40AF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sz="2000" b="0" spc="-125" dirty="0">
                          <a:solidFill>
                            <a:srgbClr val="1D40AF"/>
                          </a:solidFill>
                          <a:latin typeface="Roboto Medium"/>
                          <a:cs typeface="Roboto Medium"/>
                        </a:rPr>
                        <a:t>do</a:t>
                      </a:r>
                      <a:r>
                        <a:rPr sz="2000" b="0" spc="-5" dirty="0">
                          <a:solidFill>
                            <a:srgbClr val="1D40AF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sz="2000" b="0" spc="-35" dirty="0">
                          <a:solidFill>
                            <a:srgbClr val="1D40AF"/>
                          </a:solidFill>
                          <a:latin typeface="Roboto Medium"/>
                          <a:cs typeface="Roboto Medium"/>
                        </a:rPr>
                        <a:t>SPSO+AP+AD</a:t>
                      </a:r>
                      <a:endParaRPr sz="2000" dirty="0">
                        <a:latin typeface="Roboto Medium"/>
                        <a:cs typeface="Roboto Medium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9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500" b="0" spc="-90" dirty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Parâmetros</a:t>
                      </a:r>
                      <a:r>
                        <a:rPr sz="1500" b="0" spc="-20" dirty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sz="1500" b="0" spc="-100" dirty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de</a:t>
                      </a:r>
                      <a:r>
                        <a:rPr sz="1500" b="0" spc="-15" dirty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sz="1500" b="0" spc="-10" dirty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População</a:t>
                      </a:r>
                      <a:endParaRPr sz="1500">
                        <a:latin typeface="Roboto Medium"/>
                        <a:cs typeface="Roboto Medium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75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Tamanho</a:t>
                      </a:r>
                      <a:r>
                        <a:rPr sz="1300" spc="-20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00" spc="-60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de</a:t>
                      </a:r>
                      <a:r>
                        <a:rPr sz="1300" spc="-20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00" spc="-10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espécie: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82880" algn="r">
                        <a:lnSpc>
                          <a:spcPct val="100000"/>
                        </a:lnSpc>
                      </a:pPr>
                      <a:r>
                        <a:rPr sz="1300" b="1" spc="-50" dirty="0">
                          <a:latin typeface="Arial Nova"/>
                          <a:cs typeface="Arial Nova"/>
                        </a:rPr>
                        <a:t>5</a:t>
                      </a:r>
                      <a:endParaRPr sz="1300">
                        <a:latin typeface="Arial Nova"/>
                        <a:cs typeface="Arial Nov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500" b="0" spc="-90" dirty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Parâmetros</a:t>
                      </a:r>
                      <a:r>
                        <a:rPr sz="1500" b="0" spc="-25" dirty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sz="1500" b="0" spc="-95" dirty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do</a:t>
                      </a:r>
                      <a:r>
                        <a:rPr sz="1500" b="0" spc="-20" dirty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sz="1500" b="0" spc="-25" dirty="0">
                          <a:solidFill>
                            <a:srgbClr val="1C4ED8"/>
                          </a:solidFill>
                          <a:latin typeface="Roboto Medium"/>
                          <a:cs typeface="Roboto Medium"/>
                        </a:rPr>
                        <a:t>PSO</a:t>
                      </a:r>
                      <a:endParaRPr sz="1500" dirty="0">
                        <a:latin typeface="Roboto Medium"/>
                        <a:cs typeface="Roboto Medium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spc="-45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Inércia</a:t>
                      </a:r>
                      <a:r>
                        <a:rPr sz="1300" spc="-30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00" spc="-20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(w):</a:t>
                      </a:r>
                      <a:endParaRPr sz="1300" dirty="0">
                        <a:latin typeface="Roboto"/>
                        <a:cs typeface="Roboto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</a:pPr>
                      <a:r>
                        <a:rPr sz="1300" b="1" spc="-10" dirty="0">
                          <a:latin typeface="Arial Nova"/>
                          <a:cs typeface="Arial Nova"/>
                        </a:rPr>
                        <a:t>0.729843788</a:t>
                      </a:r>
                      <a:endParaRPr sz="1300">
                        <a:latin typeface="Arial Nova"/>
                        <a:cs typeface="Arial Nov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spc="-60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População</a:t>
                      </a:r>
                      <a:r>
                        <a:rPr sz="1300" spc="-10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inicial: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b="1" spc="-25" dirty="0">
                          <a:latin typeface="Arial Nova"/>
                          <a:cs typeface="Arial Nova"/>
                        </a:rPr>
                        <a:t>50</a:t>
                      </a:r>
                      <a:endParaRPr sz="1300">
                        <a:latin typeface="Arial Nova"/>
                        <a:cs typeface="Arial Nova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spc="-25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c</a:t>
                      </a:r>
                      <a:r>
                        <a:rPr sz="1150" spc="-25" dirty="0">
                          <a:solidFill>
                            <a:srgbClr val="374050"/>
                          </a:solidFill>
                          <a:latin typeface="Calibri"/>
                          <a:cs typeface="Calibri"/>
                        </a:rPr>
                        <a:t>₁</a:t>
                      </a:r>
                      <a:r>
                        <a:rPr sz="1300" spc="-25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: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b="1" spc="-20" dirty="0">
                          <a:latin typeface="Arial Nova"/>
                          <a:cs typeface="Arial Nova"/>
                        </a:rPr>
                        <a:t>2.05</a:t>
                      </a:r>
                      <a:endParaRPr sz="1300">
                        <a:latin typeface="Arial Nova"/>
                        <a:cs typeface="Arial Nova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spc="-75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Novos</a:t>
                      </a:r>
                      <a:r>
                        <a:rPr sz="1300" spc="5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00" spc="-10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indivíduos: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8288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b="1" spc="-50" dirty="0">
                          <a:latin typeface="Arial Nova"/>
                          <a:cs typeface="Arial Nova"/>
                        </a:rPr>
                        <a:t>5</a:t>
                      </a:r>
                      <a:endParaRPr sz="1300">
                        <a:latin typeface="Arial Nova"/>
                        <a:cs typeface="Arial Nova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spc="-25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c</a:t>
                      </a:r>
                      <a:r>
                        <a:rPr sz="1150" spc="-25" dirty="0">
                          <a:solidFill>
                            <a:srgbClr val="374050"/>
                          </a:solidFill>
                          <a:latin typeface="Calibri"/>
                          <a:cs typeface="Calibri"/>
                        </a:rPr>
                        <a:t>₂</a:t>
                      </a:r>
                      <a:r>
                        <a:rPr sz="1300" spc="-25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: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300" b="1" spc="-20" dirty="0">
                          <a:latin typeface="Arial Nova"/>
                          <a:cs typeface="Arial Nova"/>
                        </a:rPr>
                        <a:t>2.05</a:t>
                      </a:r>
                      <a:endParaRPr sz="1300">
                        <a:latin typeface="Arial Nova"/>
                        <a:cs typeface="Arial Nova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454">
                <a:tc>
                  <a:txBody>
                    <a:bodyPr/>
                    <a:lstStyle/>
                    <a:p>
                      <a:pPr marL="31750">
                        <a:lnSpc>
                          <a:spcPts val="1475"/>
                        </a:lnSpc>
                        <a:spcBef>
                          <a:spcPts val="90"/>
                        </a:spcBef>
                      </a:pPr>
                      <a:r>
                        <a:rPr sz="1300" spc="-10" dirty="0">
                          <a:solidFill>
                            <a:srgbClr val="374050"/>
                          </a:solidFill>
                          <a:latin typeface="Roboto"/>
                          <a:cs typeface="Roboto"/>
                        </a:rPr>
                        <a:t>Nmax:</a:t>
                      </a:r>
                      <a:endParaRPr sz="1300" dirty="0">
                        <a:latin typeface="Roboto"/>
                        <a:cs typeface="Roboto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ts val="1475"/>
                        </a:lnSpc>
                        <a:spcBef>
                          <a:spcPts val="90"/>
                        </a:spcBef>
                      </a:pPr>
                      <a:r>
                        <a:rPr sz="1300" b="1" spc="-25" dirty="0">
                          <a:latin typeface="Arial Nova"/>
                          <a:cs typeface="Arial Nova"/>
                        </a:rPr>
                        <a:t>30</a:t>
                      </a:r>
                      <a:endParaRPr sz="1300">
                        <a:latin typeface="Arial Nova"/>
                        <a:cs typeface="Arial Nova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" name="object 12">
            <a:extLst>
              <a:ext uri="{FF2B5EF4-FFF2-40B4-BE49-F238E27FC236}">
                <a16:creationId xmlns:a16="http://schemas.microsoft.com/office/drawing/2014/main" id="{1A0E97ED-698C-AC10-9C98-5B6D3123DA67}"/>
              </a:ext>
            </a:extLst>
          </p:cNvPr>
          <p:cNvSpPr txBox="1"/>
          <p:nvPr/>
        </p:nvSpPr>
        <p:spPr>
          <a:xfrm>
            <a:off x="596899" y="3301116"/>
            <a:ext cx="11366501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215"/>
              </a:spcBef>
            </a:pPr>
            <a:r>
              <a:rPr lang="pt-BR" sz="1400" spc="-55" dirty="0">
                <a:solidFill>
                  <a:schemeClr val="tx1"/>
                </a:solidFill>
                <a:latin typeface="Roboto"/>
                <a:cs typeface="Roboto"/>
              </a:rPr>
              <a:t>C1 e C2 são as componentes de aceleração da partícula. </a:t>
            </a:r>
          </a:p>
          <a:p>
            <a:pPr marL="12700" marR="5080">
              <a:spcBef>
                <a:spcPts val="215"/>
              </a:spcBef>
            </a:pPr>
            <a:endParaRPr lang="pt-BR" sz="1400" spc="-55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12700" marR="5080">
              <a:spcBef>
                <a:spcPts val="215"/>
              </a:spcBef>
            </a:pPr>
            <a:r>
              <a:rPr lang="pt-BR" sz="1400" b="1" spc="-55" dirty="0">
                <a:solidFill>
                  <a:schemeClr val="tx1"/>
                </a:solidFill>
                <a:latin typeface="Roboto"/>
                <a:cs typeface="Roboto"/>
              </a:rPr>
              <a:t>C1</a:t>
            </a:r>
            <a:r>
              <a:rPr lang="pt-BR" sz="1400" spc="-55" dirty="0">
                <a:solidFill>
                  <a:schemeClr val="tx1"/>
                </a:solidFill>
                <a:latin typeface="Roboto"/>
                <a:cs typeface="Roboto"/>
              </a:rPr>
              <a:t> é o peso que define a atração da partícula em direção à sua própria melhor posição já encontrada (</a:t>
            </a:r>
            <a:r>
              <a:rPr lang="pt-BR" sz="1400" spc="-55" dirty="0" err="1">
                <a:solidFill>
                  <a:schemeClr val="tx1"/>
                </a:solidFill>
                <a:latin typeface="Roboto"/>
                <a:cs typeface="Roboto"/>
              </a:rPr>
              <a:t>PbestPosition</a:t>
            </a:r>
            <a:r>
              <a:rPr lang="pt-BR" sz="1400" spc="-55" dirty="0">
                <a:solidFill>
                  <a:schemeClr val="tx1"/>
                </a:solidFill>
                <a:latin typeface="Roboto"/>
                <a:cs typeface="Roboto"/>
              </a:rPr>
              <a:t>). Ele representa o componente "cognitivo" ou de memória individual da partícula. Um valor mais alto de c1 faz com que a partícula confie mais em sua própria experiência e explore mais as vizinhanças dos melhores lugares que ela pessoalmente já visitou.  </a:t>
            </a:r>
          </a:p>
          <a:p>
            <a:pPr marL="12700" marR="5080">
              <a:spcBef>
                <a:spcPts val="215"/>
              </a:spcBef>
            </a:pPr>
            <a:br>
              <a:rPr lang="pt-BR" sz="1400" spc="-55" dirty="0">
                <a:solidFill>
                  <a:schemeClr val="tx1"/>
                </a:solidFill>
                <a:latin typeface="Roboto"/>
                <a:cs typeface="Roboto"/>
              </a:rPr>
            </a:br>
            <a:r>
              <a:rPr lang="pt-BR" sz="1400" b="1" spc="-55" dirty="0">
                <a:solidFill>
                  <a:schemeClr val="tx1"/>
                </a:solidFill>
                <a:latin typeface="Roboto"/>
                <a:cs typeface="Roboto"/>
              </a:rPr>
              <a:t> C2 </a:t>
            </a:r>
            <a:r>
              <a:rPr lang="pt-BR" sz="1400" spc="-55" dirty="0">
                <a:solidFill>
                  <a:schemeClr val="tx1"/>
                </a:solidFill>
                <a:latin typeface="Roboto"/>
                <a:cs typeface="Roboto"/>
              </a:rPr>
              <a:t>é o peso que define a atração da partícula em direção à melhor posição encontrada pelo seu grupo.  Ele representa o componente "social" ou de aprendizado coletivo. Um valor mais alto de c2 faz com que a partícula siga mais o sucesso do grupo, convergindo mais rapidamente para a melhor solução encontrada pela vizinhança.</a:t>
            </a:r>
          </a:p>
          <a:p>
            <a:pPr marL="12700" marR="5080">
              <a:spcBef>
                <a:spcPts val="215"/>
              </a:spcBef>
            </a:pPr>
            <a:endParaRPr lang="pt-BR" sz="1400" spc="-55" dirty="0">
              <a:solidFill>
                <a:schemeClr val="tx1"/>
              </a:solidFill>
              <a:latin typeface="Roboto"/>
              <a:cs typeface="Roboto"/>
            </a:endParaRPr>
          </a:p>
          <a:p>
            <a:pPr marL="12700" marR="5080">
              <a:spcBef>
                <a:spcPts val="215"/>
              </a:spcBef>
            </a:pPr>
            <a:r>
              <a:rPr lang="pt-BR" sz="1400" b="1" spc="-55" dirty="0">
                <a:solidFill>
                  <a:schemeClr val="tx1"/>
                </a:solidFill>
                <a:latin typeface="Roboto"/>
                <a:cs typeface="Roboto"/>
              </a:rPr>
              <a:t>A Inércia (w) </a:t>
            </a:r>
            <a:r>
              <a:rPr lang="pt-BR" sz="1400" spc="-55" dirty="0">
                <a:solidFill>
                  <a:schemeClr val="tx1"/>
                </a:solidFill>
                <a:latin typeface="Roboto"/>
                <a:cs typeface="Roboto"/>
              </a:rPr>
              <a:t>tem principal função é controlar o impacto da velocidade anterior de uma partícula sobre sua velocidade atual. </a:t>
            </a:r>
          </a:p>
          <a:p>
            <a:pPr marL="12700" marR="5080">
              <a:spcBef>
                <a:spcPts val="215"/>
              </a:spcBef>
            </a:pPr>
            <a:r>
              <a:rPr lang="pt-BR" sz="1400" spc="-55" dirty="0">
                <a:solidFill>
                  <a:schemeClr val="tx1"/>
                </a:solidFill>
                <a:latin typeface="Roboto"/>
                <a:cs typeface="Roboto"/>
              </a:rPr>
              <a:t>w alto (próximo de 1.0): A partícula tem alta "inércia" e tende a continuar se movendo na mesma direção, incentiva a exploração global.</a:t>
            </a:r>
            <a:br>
              <a:rPr lang="pt-BR" sz="1400" spc="-55" dirty="0">
                <a:solidFill>
                  <a:schemeClr val="tx1"/>
                </a:solidFill>
                <a:latin typeface="Roboto"/>
                <a:cs typeface="Roboto"/>
              </a:rPr>
            </a:br>
            <a:r>
              <a:rPr lang="pt-BR" sz="1400" spc="-55" dirty="0">
                <a:solidFill>
                  <a:schemeClr val="tx1"/>
                </a:solidFill>
                <a:latin typeface="Roboto"/>
                <a:cs typeface="Roboto"/>
              </a:rPr>
              <a:t>w baixo (próximo de 0): A partícula muda de direção mais rapidamente, sendo mais influenciada pela sua própria melhor posição (</a:t>
            </a:r>
            <a:r>
              <a:rPr lang="pt-BR" sz="1400" spc="-55" dirty="0" err="1">
                <a:solidFill>
                  <a:schemeClr val="tx1"/>
                </a:solidFill>
                <a:latin typeface="Roboto"/>
                <a:cs typeface="Roboto"/>
              </a:rPr>
              <a:t>Pbest</a:t>
            </a:r>
            <a:r>
              <a:rPr lang="pt-BR" sz="1400" spc="-55" dirty="0">
                <a:solidFill>
                  <a:schemeClr val="tx1"/>
                </a:solidFill>
                <a:latin typeface="Roboto"/>
                <a:cs typeface="Roboto"/>
              </a:rPr>
              <a:t>) e pela melhor posição do seu grupo (</a:t>
            </a:r>
            <a:r>
              <a:rPr lang="pt-BR" sz="1400" spc="-55" dirty="0" err="1">
                <a:solidFill>
                  <a:schemeClr val="tx1"/>
                </a:solidFill>
                <a:latin typeface="Roboto"/>
                <a:cs typeface="Roboto"/>
              </a:rPr>
              <a:t>Gbest</a:t>
            </a:r>
            <a:r>
              <a:rPr lang="pt-BR" sz="1400" spc="-55" dirty="0">
                <a:solidFill>
                  <a:schemeClr val="tx1"/>
                </a:solidFill>
                <a:latin typeface="Roboto"/>
                <a:cs typeface="Roboto"/>
              </a:rPr>
              <a:t> da espécie). Isso incentiva a </a:t>
            </a:r>
            <a:r>
              <a:rPr lang="pt-BR" sz="1400" spc="-55" dirty="0" err="1">
                <a:solidFill>
                  <a:schemeClr val="tx1"/>
                </a:solidFill>
                <a:latin typeface="Roboto"/>
                <a:cs typeface="Roboto"/>
              </a:rPr>
              <a:t>explotacão</a:t>
            </a:r>
            <a:r>
              <a:rPr lang="pt-BR" sz="1400" spc="-55" dirty="0">
                <a:solidFill>
                  <a:schemeClr val="tx1"/>
                </a:solidFill>
                <a:latin typeface="Roboto"/>
                <a:cs typeface="Roboto"/>
              </a:rPr>
              <a:t> local, ou seja, uma busca mais refinada ao redor das melhores soluções já encontradas.</a:t>
            </a:r>
            <a:endParaRPr sz="1400" spc="-55" dirty="0">
              <a:solidFill>
                <a:schemeClr val="tx1"/>
              </a:solidFill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808195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dirty="0"/>
              <a:t>Validação Estatística dos Resultados</a:t>
            </a:r>
          </a:p>
        </p:txBody>
      </p:sp>
      <p:sp>
        <p:nvSpPr>
          <p:cNvPr id="3" name="object 3"/>
          <p:cNvSpPr/>
          <p:nvPr/>
        </p:nvSpPr>
        <p:spPr>
          <a:xfrm>
            <a:off x="390524" y="1533524"/>
            <a:ext cx="1857375" cy="657225"/>
          </a:xfrm>
          <a:custGeom>
            <a:avLst/>
            <a:gdLst/>
            <a:ahLst/>
            <a:cxnLst/>
            <a:rect l="l" t="t" r="r" b="b"/>
            <a:pathLst>
              <a:path w="1857375" h="657225">
                <a:moveTo>
                  <a:pt x="1857374" y="657224"/>
                </a:moveTo>
                <a:lnTo>
                  <a:pt x="0" y="657224"/>
                </a:lnTo>
                <a:lnTo>
                  <a:pt x="0" y="29853"/>
                </a:lnTo>
                <a:lnTo>
                  <a:pt x="29854" y="0"/>
                </a:lnTo>
                <a:lnTo>
                  <a:pt x="1857374" y="0"/>
                </a:lnTo>
                <a:lnTo>
                  <a:pt x="1857374" y="657224"/>
                </a:lnTo>
                <a:close/>
              </a:path>
            </a:pathLst>
          </a:custGeom>
          <a:solidFill>
            <a:srgbClr val="ECF1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95924" y="1533524"/>
            <a:ext cx="1457325" cy="657225"/>
          </a:xfrm>
          <a:custGeom>
            <a:avLst/>
            <a:gdLst/>
            <a:ahLst/>
            <a:cxnLst/>
            <a:rect l="l" t="t" r="r" b="b"/>
            <a:pathLst>
              <a:path w="1457325" h="657225">
                <a:moveTo>
                  <a:pt x="1457324" y="657224"/>
                </a:moveTo>
                <a:lnTo>
                  <a:pt x="0" y="657224"/>
                </a:lnTo>
                <a:lnTo>
                  <a:pt x="0" y="0"/>
                </a:lnTo>
                <a:lnTo>
                  <a:pt x="1417945" y="0"/>
                </a:lnTo>
                <a:lnTo>
                  <a:pt x="1423466" y="3305"/>
                </a:lnTo>
                <a:lnTo>
                  <a:pt x="1451524" y="37514"/>
                </a:lnTo>
                <a:lnTo>
                  <a:pt x="1457324" y="657224"/>
                </a:lnTo>
                <a:close/>
              </a:path>
            </a:pathLst>
          </a:custGeom>
          <a:solidFill>
            <a:srgbClr val="ECF1F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80999" y="1523999"/>
          <a:ext cx="6562725" cy="1941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6590">
                <a:tc>
                  <a:txBody>
                    <a:bodyPr/>
                    <a:lstStyle/>
                    <a:p>
                      <a:pPr marL="837565" marR="98425" indent="-728345">
                        <a:lnSpc>
                          <a:spcPct val="115399"/>
                        </a:lnSpc>
                        <a:spcBef>
                          <a:spcPts val="520"/>
                        </a:spcBef>
                      </a:pPr>
                      <a:r>
                        <a:rPr sz="1300" b="1" spc="-55" dirty="0">
                          <a:latin typeface="Roboto"/>
                          <a:cs typeface="Roboto"/>
                        </a:rPr>
                        <a:t>Severidade</a:t>
                      </a:r>
                      <a:r>
                        <a:rPr sz="1300" b="1" spc="-2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300" b="1" spc="-65" dirty="0">
                          <a:latin typeface="Roboto"/>
                          <a:cs typeface="Roboto"/>
                        </a:rPr>
                        <a:t>da</a:t>
                      </a:r>
                      <a:r>
                        <a:rPr sz="1300" b="1" spc="-20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300" b="1" spc="-70" dirty="0">
                          <a:latin typeface="Roboto"/>
                          <a:cs typeface="Roboto"/>
                        </a:rPr>
                        <a:t>Mudança </a:t>
                      </a:r>
                      <a:r>
                        <a:rPr sz="1300" b="1" spc="-20" dirty="0">
                          <a:latin typeface="Roboto"/>
                          <a:cs typeface="Roboto"/>
                        </a:rPr>
                        <a:t>(</a:t>
                      </a:r>
                      <a:r>
                        <a:rPr sz="1150" spc="-20" dirty="0">
                          <a:latin typeface="Lucida Sans"/>
                          <a:cs typeface="Lucida Sans"/>
                        </a:rPr>
                        <a:t>s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̃</a:t>
                      </a:r>
                      <a:r>
                        <a:rPr sz="1300" b="1" spc="-20" dirty="0">
                          <a:latin typeface="Roboto"/>
                          <a:cs typeface="Roboto"/>
                        </a:rPr>
                        <a:t>)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0" marR="346075" indent="-10795">
                        <a:lnSpc>
                          <a:spcPct val="115399"/>
                        </a:lnSpc>
                        <a:spcBef>
                          <a:spcPts val="520"/>
                        </a:spcBef>
                      </a:pPr>
                      <a:r>
                        <a:rPr sz="1300" b="1" spc="-65" dirty="0">
                          <a:latin typeface="Roboto"/>
                          <a:cs typeface="Roboto"/>
                        </a:rPr>
                        <a:t>Média</a:t>
                      </a:r>
                      <a:r>
                        <a:rPr sz="1300" b="1" spc="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300" b="1" spc="-40" dirty="0">
                          <a:latin typeface="Roboto"/>
                          <a:cs typeface="Roboto"/>
                        </a:rPr>
                        <a:t>E</a:t>
                      </a:r>
                      <a:r>
                        <a:rPr sz="1275" b="1" spc="-60" baseline="-16339" dirty="0">
                          <a:latin typeface="Trebuchet MS"/>
                          <a:cs typeface="Trebuchet MS"/>
                        </a:rPr>
                        <a:t>o </a:t>
                      </a:r>
                      <a:r>
                        <a:rPr sz="1300" b="1" spc="-50" dirty="0">
                          <a:latin typeface="Roboto"/>
                          <a:cs typeface="Roboto"/>
                        </a:rPr>
                        <a:t>(Python)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marL="365125" marR="320675" indent="-39370">
                        <a:lnSpc>
                          <a:spcPct val="115399"/>
                        </a:lnSpc>
                        <a:spcBef>
                          <a:spcPts val="520"/>
                        </a:spcBef>
                      </a:pPr>
                      <a:r>
                        <a:rPr sz="1300" b="1" spc="-65" dirty="0">
                          <a:latin typeface="Roboto"/>
                          <a:cs typeface="Roboto"/>
                        </a:rPr>
                        <a:t>Média</a:t>
                      </a:r>
                      <a:r>
                        <a:rPr sz="1300" b="1" spc="5" dirty="0">
                          <a:latin typeface="Roboto"/>
                          <a:cs typeface="Roboto"/>
                        </a:rPr>
                        <a:t> </a:t>
                      </a:r>
                      <a:r>
                        <a:rPr sz="1300" b="1" spc="-40" dirty="0">
                          <a:latin typeface="Roboto"/>
                          <a:cs typeface="Roboto"/>
                        </a:rPr>
                        <a:t>E</a:t>
                      </a:r>
                      <a:r>
                        <a:rPr sz="1275" b="1" spc="-60" baseline="-16339" dirty="0">
                          <a:latin typeface="Trebuchet MS"/>
                          <a:cs typeface="Trebuchet MS"/>
                        </a:rPr>
                        <a:t>o </a:t>
                      </a:r>
                      <a:r>
                        <a:rPr sz="1300" b="1" spc="-10" dirty="0">
                          <a:latin typeface="Roboto"/>
                          <a:cs typeface="Roboto"/>
                        </a:rPr>
                        <a:t>(Artigo)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marL="160655" marR="158115" indent="96520">
                        <a:lnSpc>
                          <a:spcPct val="115399"/>
                        </a:lnSpc>
                        <a:spcBef>
                          <a:spcPts val="520"/>
                        </a:spcBef>
                      </a:pPr>
                      <a:r>
                        <a:rPr sz="1300" b="1" spc="-25" dirty="0">
                          <a:latin typeface="Roboto"/>
                          <a:cs typeface="Roboto"/>
                        </a:rPr>
                        <a:t>p- </a:t>
                      </a:r>
                      <a:r>
                        <a:rPr sz="1300" b="1" spc="-65" dirty="0">
                          <a:latin typeface="Roboto"/>
                          <a:cs typeface="Roboto"/>
                        </a:rPr>
                        <a:t>valor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marL="428625" marR="356235" indent="-67945">
                        <a:lnSpc>
                          <a:spcPct val="115399"/>
                        </a:lnSpc>
                        <a:spcBef>
                          <a:spcPts val="520"/>
                        </a:spcBef>
                      </a:pPr>
                      <a:r>
                        <a:rPr sz="1300" b="1" spc="-65" dirty="0">
                          <a:latin typeface="Roboto"/>
                          <a:cs typeface="Roboto"/>
                        </a:rPr>
                        <a:t>Conclusão </a:t>
                      </a:r>
                      <a:r>
                        <a:rPr sz="1300" b="1" spc="-10" dirty="0">
                          <a:latin typeface="Roboto"/>
                          <a:cs typeface="Roboto"/>
                        </a:rPr>
                        <a:t>(</a:t>
                      </a:r>
                      <a:r>
                        <a:rPr sz="1150" b="1" spc="-10" dirty="0">
                          <a:latin typeface="Arial"/>
                          <a:cs typeface="Arial"/>
                        </a:rPr>
                        <a:t>α</a:t>
                      </a:r>
                      <a:r>
                        <a:rPr sz="1300" b="1" spc="-10" dirty="0">
                          <a:latin typeface="Roboto"/>
                          <a:cs typeface="Roboto"/>
                        </a:rPr>
                        <a:t>=0.05)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6604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b="0" spc="-25" dirty="0">
                          <a:latin typeface="Ubuntu Light"/>
                          <a:cs typeface="Ubuntu Light"/>
                        </a:rPr>
                        <a:t>1.0</a:t>
                      </a:r>
                      <a:endParaRPr sz="1300">
                        <a:latin typeface="Ubuntu Light"/>
                        <a:cs typeface="Ubuntu Light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20" dirty="0">
                          <a:latin typeface="Roboto"/>
                          <a:cs typeface="Roboto"/>
                        </a:rPr>
                        <a:t>3.775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20" dirty="0">
                          <a:latin typeface="Roboto"/>
                          <a:cs typeface="Roboto"/>
                        </a:rPr>
                        <a:t>3.47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20" dirty="0">
                          <a:latin typeface="Roboto"/>
                          <a:cs typeface="Roboto"/>
                        </a:rPr>
                        <a:t>0.166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70" dirty="0">
                          <a:solidFill>
                            <a:srgbClr val="049569"/>
                          </a:solidFill>
                          <a:latin typeface="Roboto"/>
                          <a:cs typeface="Roboto"/>
                        </a:rPr>
                        <a:t>Não</a:t>
                      </a:r>
                      <a:r>
                        <a:rPr sz="1300" spc="-15" dirty="0">
                          <a:solidFill>
                            <a:srgbClr val="04956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00" spc="-10" dirty="0">
                          <a:solidFill>
                            <a:srgbClr val="049569"/>
                          </a:solidFill>
                          <a:latin typeface="Roboto"/>
                          <a:cs typeface="Roboto"/>
                        </a:rPr>
                        <a:t>Significativa</a:t>
                      </a:r>
                      <a:endParaRPr sz="1300" dirty="0">
                        <a:latin typeface="Roboto"/>
                        <a:cs typeface="Roboto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b="0" spc="-25" dirty="0">
                          <a:latin typeface="Ubuntu Light"/>
                          <a:cs typeface="Ubuntu Light"/>
                        </a:rPr>
                        <a:t>2.0</a:t>
                      </a:r>
                      <a:endParaRPr sz="1300">
                        <a:latin typeface="Ubuntu Light"/>
                        <a:cs typeface="Ubuntu Light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20" dirty="0">
                          <a:latin typeface="Roboto"/>
                          <a:cs typeface="Roboto"/>
                        </a:rPr>
                        <a:t>5.410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20" dirty="0">
                          <a:latin typeface="Roboto"/>
                          <a:cs typeface="Roboto"/>
                        </a:rPr>
                        <a:t>5.23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20" dirty="0">
                          <a:latin typeface="Roboto"/>
                          <a:cs typeface="Roboto"/>
                        </a:rPr>
                        <a:t>0.446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70" dirty="0">
                          <a:solidFill>
                            <a:srgbClr val="049569"/>
                          </a:solidFill>
                          <a:latin typeface="Roboto"/>
                          <a:cs typeface="Roboto"/>
                        </a:rPr>
                        <a:t>Não</a:t>
                      </a:r>
                      <a:r>
                        <a:rPr sz="1300" spc="-15" dirty="0">
                          <a:solidFill>
                            <a:srgbClr val="04956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00" spc="-10" dirty="0">
                          <a:solidFill>
                            <a:srgbClr val="049569"/>
                          </a:solidFill>
                          <a:latin typeface="Roboto"/>
                          <a:cs typeface="Roboto"/>
                        </a:rPr>
                        <a:t>Significativa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b="0" spc="-25" dirty="0">
                          <a:latin typeface="Ubuntu Light"/>
                          <a:cs typeface="Ubuntu Light"/>
                        </a:rPr>
                        <a:t>5.0</a:t>
                      </a:r>
                      <a:endParaRPr sz="1300" dirty="0">
                        <a:latin typeface="Ubuntu Light"/>
                        <a:cs typeface="Ubuntu Light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20" dirty="0">
                          <a:latin typeface="Roboto"/>
                          <a:cs typeface="Roboto"/>
                        </a:rPr>
                        <a:t>9.539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20" dirty="0">
                          <a:latin typeface="Roboto"/>
                          <a:cs typeface="Roboto"/>
                        </a:rPr>
                        <a:t>9.11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20" dirty="0">
                          <a:latin typeface="Roboto"/>
                          <a:cs typeface="Roboto"/>
                        </a:rPr>
                        <a:t>0.089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300" spc="-70" dirty="0">
                          <a:solidFill>
                            <a:srgbClr val="049569"/>
                          </a:solidFill>
                          <a:latin typeface="Roboto"/>
                          <a:cs typeface="Roboto"/>
                        </a:rPr>
                        <a:t>Não</a:t>
                      </a:r>
                      <a:r>
                        <a:rPr sz="1300" spc="-15" dirty="0">
                          <a:solidFill>
                            <a:srgbClr val="049569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00" spc="-10" dirty="0">
                          <a:solidFill>
                            <a:srgbClr val="049569"/>
                          </a:solidFill>
                          <a:latin typeface="Roboto"/>
                          <a:cs typeface="Roboto"/>
                        </a:rPr>
                        <a:t>Significativa</a:t>
                      </a:r>
                      <a:endParaRPr sz="1300" dirty="0">
                        <a:latin typeface="Roboto"/>
                        <a:cs typeface="Roboto"/>
                      </a:endParaRPr>
                    </a:p>
                  </a:txBody>
                  <a:tcPr marL="0" marR="0" marT="96520" marB="0">
                    <a:lnL w="9525">
                      <a:solidFill>
                        <a:srgbClr val="CBD5DF"/>
                      </a:solidFill>
                      <a:prstDash val="solid"/>
                    </a:lnL>
                    <a:lnR w="9525">
                      <a:solidFill>
                        <a:srgbClr val="CBD5DF"/>
                      </a:solidFill>
                      <a:prstDash val="solid"/>
                    </a:lnR>
                    <a:lnT w="9525">
                      <a:solidFill>
                        <a:srgbClr val="CBD5DF"/>
                      </a:solidFill>
                      <a:prstDash val="solid"/>
                    </a:lnT>
                    <a:lnB w="9525">
                      <a:solidFill>
                        <a:srgbClr val="CBD5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80999" y="3667124"/>
            <a:ext cx="6572250" cy="1066800"/>
            <a:chOff x="380999" y="3667124"/>
            <a:chExt cx="6572250" cy="1066800"/>
          </a:xfrm>
        </p:grpSpPr>
        <p:sp>
          <p:nvSpPr>
            <p:cNvPr id="7" name="object 7"/>
            <p:cNvSpPr/>
            <p:nvPr/>
          </p:nvSpPr>
          <p:spPr>
            <a:xfrm>
              <a:off x="400049" y="3667124"/>
              <a:ext cx="6553200" cy="1066800"/>
            </a:xfrm>
            <a:custGeom>
              <a:avLst/>
              <a:gdLst/>
              <a:ahLst/>
              <a:cxnLst/>
              <a:rect l="l" t="t" r="r" b="b"/>
              <a:pathLst>
                <a:path w="6553200" h="1066800">
                  <a:moveTo>
                    <a:pt x="6482003" y="1066799"/>
                  </a:moveTo>
                  <a:lnTo>
                    <a:pt x="53397" y="1066799"/>
                  </a:lnTo>
                  <a:lnTo>
                    <a:pt x="49681" y="1066311"/>
                  </a:lnTo>
                  <a:lnTo>
                    <a:pt x="14085" y="1040943"/>
                  </a:lnTo>
                  <a:lnTo>
                    <a:pt x="366" y="1000558"/>
                  </a:lnTo>
                  <a:lnTo>
                    <a:pt x="0" y="995603"/>
                  </a:lnTo>
                  <a:lnTo>
                    <a:pt x="0" y="9905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6482003" y="0"/>
                  </a:lnTo>
                  <a:lnTo>
                    <a:pt x="6523493" y="15621"/>
                  </a:lnTo>
                  <a:lnTo>
                    <a:pt x="6549313" y="51661"/>
                  </a:lnTo>
                  <a:lnTo>
                    <a:pt x="6553199" y="71196"/>
                  </a:lnTo>
                  <a:lnTo>
                    <a:pt x="6553199" y="995603"/>
                  </a:lnTo>
                  <a:lnTo>
                    <a:pt x="6537577" y="1037093"/>
                  </a:lnTo>
                  <a:lnTo>
                    <a:pt x="6501536" y="1062913"/>
                  </a:lnTo>
                  <a:lnTo>
                    <a:pt x="6486958" y="1066311"/>
                  </a:lnTo>
                  <a:lnTo>
                    <a:pt x="6482003" y="1066799"/>
                  </a:lnTo>
                  <a:close/>
                </a:path>
              </a:pathLst>
            </a:custGeom>
            <a:solidFill>
              <a:srgbClr val="E6FF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0999" y="3667402"/>
              <a:ext cx="70485" cy="1066800"/>
            </a:xfrm>
            <a:custGeom>
              <a:avLst/>
              <a:gdLst/>
              <a:ahLst/>
              <a:cxnLst/>
              <a:rect l="l" t="t" r="r" b="b"/>
              <a:pathLst>
                <a:path w="70484" h="1066800">
                  <a:moveTo>
                    <a:pt x="70450" y="1066244"/>
                  </a:moveTo>
                  <a:lnTo>
                    <a:pt x="33857" y="1053691"/>
                  </a:lnTo>
                  <a:lnTo>
                    <a:pt x="5800" y="1019482"/>
                  </a:lnTo>
                  <a:lnTo>
                    <a:pt x="0" y="9903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90322"/>
                  </a:lnTo>
                  <a:lnTo>
                    <a:pt x="44514" y="1032663"/>
                  </a:lnTo>
                  <a:lnTo>
                    <a:pt x="66287" y="1064588"/>
                  </a:lnTo>
                  <a:lnTo>
                    <a:pt x="70450" y="1066244"/>
                  </a:lnTo>
                  <a:close/>
                </a:path>
              </a:pathLst>
            </a:custGeom>
            <a:solidFill>
              <a:srgbClr val="37B1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499" y="4162424"/>
              <a:ext cx="152399" cy="1523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499" y="4429124"/>
              <a:ext cx="152399" cy="152399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380999" y="4886324"/>
            <a:ext cx="6572250" cy="1504950"/>
            <a:chOff x="380999" y="4886324"/>
            <a:chExt cx="6572250" cy="1504950"/>
          </a:xfrm>
        </p:grpSpPr>
        <p:sp>
          <p:nvSpPr>
            <p:cNvPr id="12" name="object 12"/>
            <p:cNvSpPr/>
            <p:nvPr/>
          </p:nvSpPr>
          <p:spPr>
            <a:xfrm>
              <a:off x="385762" y="4891087"/>
              <a:ext cx="6562725" cy="1495425"/>
            </a:xfrm>
            <a:custGeom>
              <a:avLst/>
              <a:gdLst/>
              <a:ahLst/>
              <a:cxnLst/>
              <a:rect l="l" t="t" r="r" b="b"/>
              <a:pathLst>
                <a:path w="6562725" h="1495425">
                  <a:moveTo>
                    <a:pt x="6495977" y="1495424"/>
                  </a:moveTo>
                  <a:lnTo>
                    <a:pt x="66746" y="1495424"/>
                  </a:lnTo>
                  <a:lnTo>
                    <a:pt x="62101" y="1494966"/>
                  </a:lnTo>
                  <a:lnTo>
                    <a:pt x="24240" y="1477817"/>
                  </a:lnTo>
                  <a:lnTo>
                    <a:pt x="2287" y="1442524"/>
                  </a:lnTo>
                  <a:lnTo>
                    <a:pt x="0" y="1428677"/>
                  </a:lnTo>
                  <a:lnTo>
                    <a:pt x="0" y="14239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6495977" y="0"/>
                  </a:lnTo>
                  <a:lnTo>
                    <a:pt x="6534874" y="14645"/>
                  </a:lnTo>
                  <a:lnTo>
                    <a:pt x="6559081" y="48433"/>
                  </a:lnTo>
                  <a:lnTo>
                    <a:pt x="6562724" y="66746"/>
                  </a:lnTo>
                  <a:lnTo>
                    <a:pt x="6562724" y="1428677"/>
                  </a:lnTo>
                  <a:lnTo>
                    <a:pt x="6548078" y="1467575"/>
                  </a:lnTo>
                  <a:lnTo>
                    <a:pt x="6514290" y="1491781"/>
                  </a:lnTo>
                  <a:lnTo>
                    <a:pt x="6500623" y="1494966"/>
                  </a:lnTo>
                  <a:lnTo>
                    <a:pt x="6495977" y="1495424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5762" y="4891087"/>
              <a:ext cx="6562725" cy="1495425"/>
            </a:xfrm>
            <a:custGeom>
              <a:avLst/>
              <a:gdLst/>
              <a:ahLst/>
              <a:cxnLst/>
              <a:rect l="l" t="t" r="r" b="b"/>
              <a:pathLst>
                <a:path w="6562725" h="1495425">
                  <a:moveTo>
                    <a:pt x="0" y="14239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7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491286" y="0"/>
                  </a:lnTo>
                  <a:lnTo>
                    <a:pt x="6495977" y="0"/>
                  </a:lnTo>
                  <a:lnTo>
                    <a:pt x="6500623" y="457"/>
                  </a:lnTo>
                  <a:lnTo>
                    <a:pt x="6505223" y="1372"/>
                  </a:lnTo>
                  <a:lnTo>
                    <a:pt x="6509823" y="2287"/>
                  </a:lnTo>
                  <a:lnTo>
                    <a:pt x="6530974" y="12039"/>
                  </a:lnTo>
                  <a:lnTo>
                    <a:pt x="6534874" y="14645"/>
                  </a:lnTo>
                  <a:lnTo>
                    <a:pt x="6559081" y="48433"/>
                  </a:lnTo>
                  <a:lnTo>
                    <a:pt x="6562724" y="66746"/>
                  </a:lnTo>
                  <a:lnTo>
                    <a:pt x="6562724" y="71437"/>
                  </a:lnTo>
                  <a:lnTo>
                    <a:pt x="6562724" y="1423987"/>
                  </a:lnTo>
                  <a:lnTo>
                    <a:pt x="6562724" y="1428677"/>
                  </a:lnTo>
                  <a:lnTo>
                    <a:pt x="6562266" y="1433323"/>
                  </a:lnTo>
                  <a:lnTo>
                    <a:pt x="6561351" y="1437923"/>
                  </a:lnTo>
                  <a:lnTo>
                    <a:pt x="6560436" y="1442524"/>
                  </a:lnTo>
                  <a:lnTo>
                    <a:pt x="6550684" y="1463675"/>
                  </a:lnTo>
                  <a:lnTo>
                    <a:pt x="6548078" y="1467575"/>
                  </a:lnTo>
                  <a:lnTo>
                    <a:pt x="6530974" y="1483384"/>
                  </a:lnTo>
                  <a:lnTo>
                    <a:pt x="6527074" y="1485990"/>
                  </a:lnTo>
                  <a:lnTo>
                    <a:pt x="6505223" y="1494051"/>
                  </a:lnTo>
                  <a:lnTo>
                    <a:pt x="6500623" y="1494966"/>
                  </a:lnTo>
                  <a:lnTo>
                    <a:pt x="6495977" y="1495424"/>
                  </a:lnTo>
                  <a:lnTo>
                    <a:pt x="6491286" y="1495424"/>
                  </a:lnTo>
                  <a:lnTo>
                    <a:pt x="71437" y="1495424"/>
                  </a:lnTo>
                  <a:lnTo>
                    <a:pt x="66746" y="1495424"/>
                  </a:lnTo>
                  <a:lnTo>
                    <a:pt x="62101" y="1494966"/>
                  </a:lnTo>
                  <a:lnTo>
                    <a:pt x="57500" y="1494051"/>
                  </a:lnTo>
                  <a:lnTo>
                    <a:pt x="52900" y="1493136"/>
                  </a:lnTo>
                  <a:lnTo>
                    <a:pt x="31748" y="1483384"/>
                  </a:lnTo>
                  <a:lnTo>
                    <a:pt x="27848" y="1480778"/>
                  </a:lnTo>
                  <a:lnTo>
                    <a:pt x="24240" y="1477817"/>
                  </a:lnTo>
                  <a:lnTo>
                    <a:pt x="20923" y="1474501"/>
                  </a:lnTo>
                  <a:lnTo>
                    <a:pt x="17606" y="1471184"/>
                  </a:lnTo>
                  <a:lnTo>
                    <a:pt x="457" y="1433323"/>
                  </a:lnTo>
                  <a:lnTo>
                    <a:pt x="0" y="1428677"/>
                  </a:lnTo>
                  <a:lnTo>
                    <a:pt x="0" y="1423987"/>
                  </a:lnTo>
                  <a:close/>
                </a:path>
              </a:pathLst>
            </a:custGeom>
            <a:ln w="9524">
              <a:solidFill>
                <a:srgbClr val="BEDA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924" y="5429249"/>
              <a:ext cx="133349" cy="152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924" y="5734049"/>
              <a:ext cx="152399" cy="1523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6734" y="6038849"/>
              <a:ext cx="144750" cy="15237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42899" y="1025686"/>
            <a:ext cx="3337560" cy="334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000" b="0" spc="-135" dirty="0">
                <a:solidFill>
                  <a:srgbClr val="1D40AF"/>
                </a:solidFill>
                <a:latin typeface="Roboto Medium"/>
                <a:cs typeface="Roboto Medium"/>
              </a:rPr>
              <a:t>Comparação</a:t>
            </a:r>
            <a:r>
              <a:rPr sz="2000" b="0" spc="-10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125" dirty="0">
                <a:solidFill>
                  <a:srgbClr val="1D40AF"/>
                </a:solidFill>
                <a:latin typeface="Roboto Medium"/>
                <a:cs typeface="Roboto Medium"/>
              </a:rPr>
              <a:t>do</a:t>
            </a:r>
            <a:r>
              <a:rPr sz="2000" b="0" spc="-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110" dirty="0">
                <a:solidFill>
                  <a:srgbClr val="1D40AF"/>
                </a:solidFill>
                <a:latin typeface="Roboto Medium"/>
                <a:cs typeface="Roboto Medium"/>
              </a:rPr>
              <a:t>Erro</a:t>
            </a:r>
            <a:r>
              <a:rPr sz="2000" b="0" spc="-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114" dirty="0">
                <a:solidFill>
                  <a:srgbClr val="1D40AF"/>
                </a:solidFill>
                <a:latin typeface="Roboto Medium"/>
                <a:cs typeface="Roboto Medium"/>
              </a:rPr>
              <a:t>Offline</a:t>
            </a:r>
            <a:r>
              <a:rPr sz="2000" b="0" spc="-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20" dirty="0">
                <a:solidFill>
                  <a:srgbClr val="1D40AF"/>
                </a:solidFill>
                <a:latin typeface="Roboto Medium"/>
                <a:cs typeface="Roboto Medium"/>
              </a:rPr>
              <a:t>(E</a:t>
            </a:r>
            <a:r>
              <a:rPr sz="1950" b="0" spc="-30" baseline="-17094" dirty="0">
                <a:solidFill>
                  <a:srgbClr val="1D40AF"/>
                </a:solidFill>
                <a:latin typeface="Bookman Old Style"/>
                <a:cs typeface="Bookman Old Style"/>
              </a:rPr>
              <a:t>o</a:t>
            </a:r>
            <a:r>
              <a:rPr sz="2000" b="0" spc="-20" dirty="0">
                <a:solidFill>
                  <a:srgbClr val="1D40AF"/>
                </a:solidFill>
                <a:latin typeface="Roboto Medium"/>
                <a:cs typeface="Roboto Medium"/>
              </a:rPr>
              <a:t>)</a:t>
            </a:r>
            <a:endParaRPr sz="2000">
              <a:latin typeface="Roboto Medium"/>
              <a:cs typeface="Roboto Mediu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7525" y="3648525"/>
            <a:ext cx="4834890" cy="256095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045"/>
              </a:spcBef>
            </a:pPr>
            <a:r>
              <a:rPr sz="1500" b="0" spc="-80" dirty="0">
                <a:latin typeface="Roboto Medium"/>
                <a:cs typeface="Roboto Medium"/>
              </a:rPr>
              <a:t>Análise</a:t>
            </a:r>
            <a:r>
              <a:rPr sz="1500" b="0" spc="-35" dirty="0">
                <a:latin typeface="Roboto Medium"/>
                <a:cs typeface="Roboto Medium"/>
              </a:rPr>
              <a:t> </a:t>
            </a:r>
            <a:r>
              <a:rPr sz="1500" b="0" spc="-70" dirty="0">
                <a:latin typeface="Roboto Medium"/>
                <a:cs typeface="Roboto Medium"/>
              </a:rPr>
              <a:t>estatística</a:t>
            </a:r>
            <a:r>
              <a:rPr sz="1500" b="0" spc="-35" dirty="0">
                <a:latin typeface="Roboto Medium"/>
                <a:cs typeface="Roboto Medium"/>
              </a:rPr>
              <a:t> </a:t>
            </a:r>
            <a:r>
              <a:rPr sz="1500" b="0" spc="-10" dirty="0">
                <a:latin typeface="Roboto Medium"/>
                <a:cs typeface="Roboto Medium"/>
              </a:rPr>
              <a:t>confirmada:</a:t>
            </a:r>
            <a:endParaRPr sz="1500">
              <a:latin typeface="Roboto Medium"/>
              <a:cs typeface="Roboto Medium"/>
            </a:endParaRPr>
          </a:p>
          <a:p>
            <a:pPr marL="281940" algn="just">
              <a:lnSpc>
                <a:spcPct val="100000"/>
              </a:lnSpc>
              <a:spcBef>
                <a:spcPts val="875"/>
              </a:spcBef>
            </a:pPr>
            <a:r>
              <a:rPr sz="1300" spc="-80" dirty="0">
                <a:latin typeface="Roboto"/>
                <a:cs typeface="Roboto"/>
              </a:rPr>
              <a:t>Todos</a:t>
            </a:r>
            <a:r>
              <a:rPr sz="1300" spc="-15" dirty="0">
                <a:latin typeface="Roboto"/>
                <a:cs typeface="Roboto"/>
              </a:rPr>
              <a:t> </a:t>
            </a:r>
            <a:r>
              <a:rPr sz="1300" spc="-70" dirty="0">
                <a:latin typeface="Roboto"/>
                <a:cs typeface="Roboto"/>
              </a:rPr>
              <a:t>os</a:t>
            </a:r>
            <a:r>
              <a:rPr sz="1300" spc="-10" dirty="0">
                <a:latin typeface="Roboto"/>
                <a:cs typeface="Roboto"/>
              </a:rPr>
              <a:t> </a:t>
            </a:r>
            <a:r>
              <a:rPr sz="1300" spc="-45" dirty="0">
                <a:latin typeface="Roboto"/>
                <a:cs typeface="Roboto"/>
              </a:rPr>
              <a:t>p-</a:t>
            </a:r>
            <a:r>
              <a:rPr sz="1300" spc="-55" dirty="0">
                <a:latin typeface="Roboto"/>
                <a:cs typeface="Roboto"/>
              </a:rPr>
              <a:t>valores</a:t>
            </a:r>
            <a:r>
              <a:rPr sz="1300" spc="-15" dirty="0">
                <a:latin typeface="Roboto"/>
                <a:cs typeface="Roboto"/>
              </a:rPr>
              <a:t> </a:t>
            </a:r>
            <a:r>
              <a:rPr sz="1300" dirty="0">
                <a:latin typeface="Roboto"/>
                <a:cs typeface="Roboto"/>
              </a:rPr>
              <a:t>&gt;</a:t>
            </a:r>
            <a:r>
              <a:rPr sz="1300" spc="-10" dirty="0">
                <a:latin typeface="Roboto"/>
                <a:cs typeface="Roboto"/>
              </a:rPr>
              <a:t> </a:t>
            </a:r>
            <a:r>
              <a:rPr sz="1300" spc="-55" dirty="0">
                <a:latin typeface="Roboto"/>
                <a:cs typeface="Roboto"/>
              </a:rPr>
              <a:t>0.05</a:t>
            </a:r>
            <a:r>
              <a:rPr sz="1300" spc="-15" dirty="0">
                <a:latin typeface="Roboto"/>
                <a:cs typeface="Roboto"/>
              </a:rPr>
              <a:t> </a:t>
            </a:r>
            <a:r>
              <a:rPr sz="1300" spc="-60" dirty="0">
                <a:latin typeface="Roboto"/>
                <a:cs typeface="Roboto"/>
              </a:rPr>
              <a:t>(não</a:t>
            </a:r>
            <a:r>
              <a:rPr sz="1300" spc="-10" dirty="0">
                <a:latin typeface="Roboto"/>
                <a:cs typeface="Roboto"/>
              </a:rPr>
              <a:t> </a:t>
            </a:r>
            <a:r>
              <a:rPr sz="1300" spc="-55" dirty="0">
                <a:latin typeface="Roboto"/>
                <a:cs typeface="Roboto"/>
              </a:rPr>
              <a:t>rejeitamos</a:t>
            </a:r>
            <a:r>
              <a:rPr sz="1300" spc="-10" dirty="0">
                <a:latin typeface="Roboto"/>
                <a:cs typeface="Roboto"/>
              </a:rPr>
              <a:t> </a:t>
            </a:r>
            <a:r>
              <a:rPr sz="1300" spc="-25" dirty="0">
                <a:latin typeface="Roboto"/>
                <a:cs typeface="Roboto"/>
              </a:rPr>
              <a:t>H</a:t>
            </a:r>
            <a:r>
              <a:rPr sz="1150" spc="-25" dirty="0">
                <a:latin typeface="Calibri"/>
                <a:cs typeface="Calibri"/>
              </a:rPr>
              <a:t>₀</a:t>
            </a:r>
            <a:r>
              <a:rPr sz="1300" spc="-25" dirty="0">
                <a:latin typeface="Roboto"/>
                <a:cs typeface="Roboto"/>
              </a:rPr>
              <a:t>)</a:t>
            </a:r>
            <a:endParaRPr sz="1300">
              <a:latin typeface="Roboto"/>
              <a:cs typeface="Roboto"/>
            </a:endParaRPr>
          </a:p>
          <a:p>
            <a:pPr marL="281940" algn="just">
              <a:lnSpc>
                <a:spcPct val="100000"/>
              </a:lnSpc>
              <a:spcBef>
                <a:spcPts val="540"/>
              </a:spcBef>
            </a:pPr>
            <a:r>
              <a:rPr sz="1300" spc="-55" dirty="0">
                <a:latin typeface="Roboto"/>
                <a:cs typeface="Roboto"/>
              </a:rPr>
              <a:t>Diferenças</a:t>
            </a:r>
            <a:r>
              <a:rPr sz="1300" dirty="0">
                <a:latin typeface="Roboto"/>
                <a:cs typeface="Roboto"/>
              </a:rPr>
              <a:t> </a:t>
            </a:r>
            <a:r>
              <a:rPr sz="1300" spc="-55" dirty="0">
                <a:latin typeface="Roboto"/>
                <a:cs typeface="Roboto"/>
              </a:rPr>
              <a:t>entre</a:t>
            </a:r>
            <a:r>
              <a:rPr sz="1300" spc="5" dirty="0">
                <a:latin typeface="Roboto"/>
                <a:cs typeface="Roboto"/>
              </a:rPr>
              <a:t> </a:t>
            </a:r>
            <a:r>
              <a:rPr sz="1300" spc="-65" dirty="0">
                <a:latin typeface="Roboto"/>
                <a:cs typeface="Roboto"/>
              </a:rPr>
              <a:t>as</a:t>
            </a:r>
            <a:r>
              <a:rPr sz="1300" dirty="0">
                <a:latin typeface="Roboto"/>
                <a:cs typeface="Roboto"/>
              </a:rPr>
              <a:t> </a:t>
            </a:r>
            <a:r>
              <a:rPr sz="1300" spc="-65" dirty="0">
                <a:latin typeface="Roboto"/>
                <a:cs typeface="Roboto"/>
              </a:rPr>
              <a:t>médias</a:t>
            </a:r>
            <a:r>
              <a:rPr sz="1300" spc="5" dirty="0">
                <a:latin typeface="Roboto"/>
                <a:cs typeface="Roboto"/>
              </a:rPr>
              <a:t> </a:t>
            </a:r>
            <a:r>
              <a:rPr sz="1300" spc="-70" dirty="0">
                <a:latin typeface="Roboto"/>
                <a:cs typeface="Roboto"/>
              </a:rPr>
              <a:t>não</a:t>
            </a:r>
            <a:r>
              <a:rPr sz="1300" dirty="0">
                <a:latin typeface="Roboto"/>
                <a:cs typeface="Roboto"/>
              </a:rPr>
              <a:t> </a:t>
            </a:r>
            <a:r>
              <a:rPr sz="1300" spc="-65" dirty="0">
                <a:latin typeface="Roboto"/>
                <a:cs typeface="Roboto"/>
              </a:rPr>
              <a:t>são</a:t>
            </a:r>
            <a:r>
              <a:rPr sz="1300" spc="5" dirty="0">
                <a:latin typeface="Roboto"/>
                <a:cs typeface="Roboto"/>
              </a:rPr>
              <a:t> </a:t>
            </a:r>
            <a:r>
              <a:rPr sz="1300" spc="-50" dirty="0">
                <a:latin typeface="Roboto"/>
                <a:cs typeface="Roboto"/>
              </a:rPr>
              <a:t>estatisticamente</a:t>
            </a:r>
            <a:r>
              <a:rPr sz="1300" dirty="0">
                <a:latin typeface="Roboto"/>
                <a:cs typeface="Roboto"/>
              </a:rPr>
              <a:t> </a:t>
            </a:r>
            <a:r>
              <a:rPr sz="1300" spc="-35" dirty="0">
                <a:latin typeface="Roboto"/>
                <a:cs typeface="Roboto"/>
              </a:rPr>
              <a:t>significativas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200">
              <a:latin typeface="Roboto"/>
              <a:cs typeface="Roboto"/>
            </a:endParaRPr>
          </a:p>
          <a:p>
            <a:pPr marL="234315" marR="1827530" indent="-209550" algn="just">
              <a:lnSpc>
                <a:spcPct val="146400"/>
              </a:lnSpc>
            </a:pPr>
            <a:r>
              <a:rPr sz="1650" b="0" spc="-90" dirty="0">
                <a:solidFill>
                  <a:srgbClr val="1D40AF"/>
                </a:solidFill>
                <a:latin typeface="Roboto Medium"/>
                <a:cs typeface="Roboto Medium"/>
              </a:rPr>
              <a:t>Procedimento</a:t>
            </a:r>
            <a:r>
              <a:rPr sz="1650" b="0" spc="-1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1650" b="0" spc="-150" dirty="0">
                <a:solidFill>
                  <a:srgbClr val="1D40AF"/>
                </a:solidFill>
                <a:latin typeface="Roboto Medium"/>
                <a:cs typeface="Roboto Medium"/>
              </a:rPr>
              <a:t>do</a:t>
            </a:r>
            <a:r>
              <a:rPr sz="1650" b="0" spc="4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1650" b="0" spc="-100" dirty="0">
                <a:solidFill>
                  <a:srgbClr val="1D40AF"/>
                </a:solidFill>
                <a:latin typeface="Roboto Medium"/>
                <a:cs typeface="Roboto Medium"/>
              </a:rPr>
              <a:t>Teste</a:t>
            </a:r>
            <a:r>
              <a:rPr sz="1650" b="0" spc="2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1650" b="0" spc="-70" dirty="0">
                <a:solidFill>
                  <a:srgbClr val="1D40AF"/>
                </a:solidFill>
                <a:latin typeface="Roboto Medium"/>
                <a:cs typeface="Roboto Medium"/>
              </a:rPr>
              <a:t>Estatístico: </a:t>
            </a:r>
            <a:r>
              <a:rPr sz="1300" spc="-70" dirty="0">
                <a:solidFill>
                  <a:srgbClr val="1C4ED8"/>
                </a:solidFill>
                <a:latin typeface="Roboto"/>
                <a:cs typeface="Roboto"/>
              </a:rPr>
              <a:t>Teste</a:t>
            </a:r>
            <a:r>
              <a:rPr sz="1300" spc="-10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1C4ED8"/>
                </a:solidFill>
                <a:latin typeface="Roboto"/>
                <a:cs typeface="Roboto"/>
              </a:rPr>
              <a:t>t</a:t>
            </a:r>
            <a:r>
              <a:rPr sz="1300" spc="-5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1C4ED8"/>
                </a:solidFill>
                <a:latin typeface="Roboto"/>
                <a:cs typeface="Roboto"/>
              </a:rPr>
              <a:t>de</a:t>
            </a:r>
            <a:r>
              <a:rPr sz="1300" spc="-5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1C4ED8"/>
                </a:solidFill>
                <a:latin typeface="Roboto"/>
                <a:cs typeface="Roboto"/>
              </a:rPr>
              <a:t>duas</a:t>
            </a:r>
            <a:r>
              <a:rPr sz="1300" spc="-10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300" spc="-70" dirty="0">
                <a:solidFill>
                  <a:srgbClr val="1C4ED8"/>
                </a:solidFill>
                <a:latin typeface="Roboto"/>
                <a:cs typeface="Roboto"/>
              </a:rPr>
              <a:t>amostras</a:t>
            </a:r>
            <a:r>
              <a:rPr sz="1300" spc="-5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1C4ED8"/>
                </a:solidFill>
                <a:latin typeface="Roboto"/>
                <a:cs typeface="Roboto"/>
              </a:rPr>
              <a:t>independentes </a:t>
            </a:r>
            <a:r>
              <a:rPr sz="1300" spc="-35" dirty="0">
                <a:solidFill>
                  <a:srgbClr val="1C4ED8"/>
                </a:solidFill>
                <a:latin typeface="Roboto"/>
                <a:cs typeface="Roboto"/>
              </a:rPr>
              <a:t>H</a:t>
            </a:r>
            <a:r>
              <a:rPr sz="1150" spc="-35" dirty="0">
                <a:solidFill>
                  <a:srgbClr val="1C4ED8"/>
                </a:solidFill>
                <a:latin typeface="Calibri"/>
                <a:cs typeface="Calibri"/>
              </a:rPr>
              <a:t>₀</a:t>
            </a:r>
            <a:r>
              <a:rPr sz="1300" spc="-35" dirty="0">
                <a:solidFill>
                  <a:srgbClr val="1C4ED8"/>
                </a:solidFill>
                <a:latin typeface="Roboto"/>
                <a:cs typeface="Roboto"/>
              </a:rPr>
              <a:t>:</a:t>
            </a:r>
            <a:r>
              <a:rPr sz="1300" spc="-50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150" spc="-30" dirty="0">
                <a:solidFill>
                  <a:srgbClr val="1C4ED8"/>
                </a:solidFill>
                <a:latin typeface="Calibri"/>
                <a:cs typeface="Calibri"/>
              </a:rPr>
              <a:t>μ</a:t>
            </a:r>
            <a:r>
              <a:rPr sz="1500" spc="-44" baseline="-13888" dirty="0">
                <a:solidFill>
                  <a:srgbClr val="1C4ED8"/>
                </a:solidFill>
                <a:latin typeface="Roboto"/>
                <a:cs typeface="Roboto"/>
              </a:rPr>
              <a:t>Python </a:t>
            </a:r>
            <a:r>
              <a:rPr sz="1300" spc="-70" dirty="0">
                <a:solidFill>
                  <a:srgbClr val="1C4ED8"/>
                </a:solidFill>
                <a:latin typeface="Roboto"/>
                <a:cs typeface="Roboto"/>
              </a:rPr>
              <a:t>=</a:t>
            </a:r>
            <a:r>
              <a:rPr sz="1300" spc="-25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150" spc="-20" dirty="0">
                <a:solidFill>
                  <a:srgbClr val="1C4ED8"/>
                </a:solidFill>
                <a:latin typeface="Calibri"/>
                <a:cs typeface="Calibri"/>
              </a:rPr>
              <a:t>μ</a:t>
            </a:r>
            <a:r>
              <a:rPr sz="1500" spc="-30" baseline="-13888" dirty="0">
                <a:solidFill>
                  <a:srgbClr val="1C4ED8"/>
                </a:solidFill>
                <a:latin typeface="Roboto"/>
                <a:cs typeface="Roboto"/>
              </a:rPr>
              <a:t>Artigo</a:t>
            </a:r>
            <a:r>
              <a:rPr sz="1500" spc="22" baseline="-13888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1C4ED8"/>
                </a:solidFill>
                <a:latin typeface="Roboto"/>
                <a:cs typeface="Roboto"/>
              </a:rPr>
              <a:t>(médias</a:t>
            </a:r>
            <a:r>
              <a:rPr sz="1300" spc="-25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C4ED8"/>
                </a:solidFill>
                <a:latin typeface="Roboto"/>
                <a:cs typeface="Roboto"/>
              </a:rPr>
              <a:t>iguais)</a:t>
            </a:r>
            <a:endParaRPr sz="1300">
              <a:latin typeface="Roboto"/>
              <a:cs typeface="Roboto"/>
            </a:endParaRPr>
          </a:p>
          <a:p>
            <a:pPr marL="253365" algn="just">
              <a:lnSpc>
                <a:spcPct val="100000"/>
              </a:lnSpc>
              <a:spcBef>
                <a:spcPts val="840"/>
              </a:spcBef>
            </a:pPr>
            <a:r>
              <a:rPr sz="1300" spc="-60" dirty="0">
                <a:solidFill>
                  <a:srgbClr val="1C4ED8"/>
                </a:solidFill>
                <a:latin typeface="Roboto"/>
                <a:cs typeface="Roboto"/>
              </a:rPr>
              <a:t>31</a:t>
            </a:r>
            <a:r>
              <a:rPr sz="1300" spc="-15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1C4ED8"/>
                </a:solidFill>
                <a:latin typeface="Roboto"/>
                <a:cs typeface="Roboto"/>
              </a:rPr>
              <a:t>execuções</a:t>
            </a:r>
            <a:r>
              <a:rPr sz="1300" spc="-15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1C4ED8"/>
                </a:solidFill>
                <a:latin typeface="Roboto"/>
                <a:cs typeface="Roboto"/>
              </a:rPr>
              <a:t>independentes</a:t>
            </a:r>
            <a:r>
              <a:rPr sz="1300" spc="-15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1C4ED8"/>
                </a:solidFill>
                <a:latin typeface="Roboto"/>
                <a:cs typeface="Roboto"/>
              </a:rPr>
              <a:t>por</a:t>
            </a:r>
            <a:r>
              <a:rPr sz="1300" spc="-15" dirty="0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C4ED8"/>
                </a:solidFill>
                <a:latin typeface="Roboto"/>
                <a:cs typeface="Roboto"/>
              </a:rPr>
              <a:t>configuração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19951" y="3648525"/>
            <a:ext cx="4629150" cy="2762250"/>
            <a:chOff x="7181849" y="4419599"/>
            <a:chExt cx="4629150" cy="2762250"/>
          </a:xfrm>
        </p:grpSpPr>
        <p:sp>
          <p:nvSpPr>
            <p:cNvPr id="20" name="object 20"/>
            <p:cNvSpPr/>
            <p:nvPr/>
          </p:nvSpPr>
          <p:spPr>
            <a:xfrm>
              <a:off x="7181849" y="4419599"/>
              <a:ext cx="4629150" cy="2762250"/>
            </a:xfrm>
            <a:custGeom>
              <a:avLst/>
              <a:gdLst/>
              <a:ahLst/>
              <a:cxnLst/>
              <a:rect l="l" t="t" r="r" b="b"/>
              <a:pathLst>
                <a:path w="4629150" h="2762250">
                  <a:moveTo>
                    <a:pt x="4557952" y="2762249"/>
                  </a:moveTo>
                  <a:lnTo>
                    <a:pt x="71196" y="2762249"/>
                  </a:lnTo>
                  <a:lnTo>
                    <a:pt x="66240" y="2761761"/>
                  </a:lnTo>
                  <a:lnTo>
                    <a:pt x="29704" y="2746626"/>
                  </a:lnTo>
                  <a:lnTo>
                    <a:pt x="3885" y="2710586"/>
                  </a:lnTo>
                  <a:lnTo>
                    <a:pt x="0" y="2691052"/>
                  </a:lnTo>
                  <a:lnTo>
                    <a:pt x="0" y="2686049"/>
                  </a:lnTo>
                  <a:lnTo>
                    <a:pt x="0" y="71196"/>
                  </a:lnTo>
                  <a:lnTo>
                    <a:pt x="15620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557952" y="0"/>
                  </a:lnTo>
                  <a:lnTo>
                    <a:pt x="4599444" y="15621"/>
                  </a:lnTo>
                  <a:lnTo>
                    <a:pt x="4625263" y="51661"/>
                  </a:lnTo>
                  <a:lnTo>
                    <a:pt x="4629149" y="71196"/>
                  </a:lnTo>
                  <a:lnTo>
                    <a:pt x="4629149" y="2691052"/>
                  </a:lnTo>
                  <a:lnTo>
                    <a:pt x="4613527" y="2732543"/>
                  </a:lnTo>
                  <a:lnTo>
                    <a:pt x="4577487" y="2758363"/>
                  </a:lnTo>
                  <a:lnTo>
                    <a:pt x="4562908" y="2761761"/>
                  </a:lnTo>
                  <a:lnTo>
                    <a:pt x="4557952" y="2762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39011" y="4957762"/>
              <a:ext cx="4314825" cy="504825"/>
            </a:xfrm>
            <a:custGeom>
              <a:avLst/>
              <a:gdLst/>
              <a:ahLst/>
              <a:cxnLst/>
              <a:rect l="l" t="t" r="r" b="b"/>
              <a:pathLst>
                <a:path w="4314825" h="504825">
                  <a:moveTo>
                    <a:pt x="4248078" y="504824"/>
                  </a:moveTo>
                  <a:lnTo>
                    <a:pt x="66747" y="504824"/>
                  </a:lnTo>
                  <a:lnTo>
                    <a:pt x="62100" y="504367"/>
                  </a:lnTo>
                  <a:lnTo>
                    <a:pt x="24239" y="487217"/>
                  </a:lnTo>
                  <a:lnTo>
                    <a:pt x="2287" y="451924"/>
                  </a:lnTo>
                  <a:lnTo>
                    <a:pt x="0" y="438077"/>
                  </a:lnTo>
                  <a:lnTo>
                    <a:pt x="0" y="4333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4248078" y="0"/>
                  </a:lnTo>
                  <a:lnTo>
                    <a:pt x="4286974" y="14644"/>
                  </a:lnTo>
                  <a:lnTo>
                    <a:pt x="4311181" y="48432"/>
                  </a:lnTo>
                  <a:lnTo>
                    <a:pt x="4314825" y="66746"/>
                  </a:lnTo>
                  <a:lnTo>
                    <a:pt x="4314825" y="438077"/>
                  </a:lnTo>
                  <a:lnTo>
                    <a:pt x="4300178" y="476976"/>
                  </a:lnTo>
                  <a:lnTo>
                    <a:pt x="4266389" y="501181"/>
                  </a:lnTo>
                  <a:lnTo>
                    <a:pt x="4252723" y="504367"/>
                  </a:lnTo>
                  <a:lnTo>
                    <a:pt x="4248078" y="504824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39011" y="4957762"/>
              <a:ext cx="4314825" cy="504825"/>
            </a:xfrm>
            <a:custGeom>
              <a:avLst/>
              <a:gdLst/>
              <a:ahLst/>
              <a:cxnLst/>
              <a:rect l="l" t="t" r="r" b="b"/>
              <a:pathLst>
                <a:path w="4314825" h="504825">
                  <a:moveTo>
                    <a:pt x="0" y="4333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1" y="48432"/>
                  </a:lnTo>
                  <a:lnTo>
                    <a:pt x="5436" y="44099"/>
                  </a:lnTo>
                  <a:lnTo>
                    <a:pt x="7231" y="39765"/>
                  </a:lnTo>
                  <a:lnTo>
                    <a:pt x="9431" y="35649"/>
                  </a:lnTo>
                  <a:lnTo>
                    <a:pt x="12038" y="31748"/>
                  </a:lnTo>
                  <a:lnTo>
                    <a:pt x="14644" y="27848"/>
                  </a:lnTo>
                  <a:lnTo>
                    <a:pt x="17605" y="24239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57500" y="1372"/>
                  </a:lnTo>
                  <a:lnTo>
                    <a:pt x="62100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243387" y="0"/>
                  </a:lnTo>
                  <a:lnTo>
                    <a:pt x="4248078" y="0"/>
                  </a:lnTo>
                  <a:lnTo>
                    <a:pt x="4252723" y="457"/>
                  </a:lnTo>
                  <a:lnTo>
                    <a:pt x="4290582" y="17606"/>
                  </a:lnTo>
                  <a:lnTo>
                    <a:pt x="4293899" y="20923"/>
                  </a:lnTo>
                  <a:lnTo>
                    <a:pt x="4297217" y="24239"/>
                  </a:lnTo>
                  <a:lnTo>
                    <a:pt x="4309384" y="44099"/>
                  </a:lnTo>
                  <a:lnTo>
                    <a:pt x="4311181" y="48432"/>
                  </a:lnTo>
                  <a:lnTo>
                    <a:pt x="4312537" y="52899"/>
                  </a:lnTo>
                  <a:lnTo>
                    <a:pt x="4313452" y="57499"/>
                  </a:lnTo>
                  <a:lnTo>
                    <a:pt x="4314367" y="62100"/>
                  </a:lnTo>
                  <a:lnTo>
                    <a:pt x="4314825" y="66746"/>
                  </a:lnTo>
                  <a:lnTo>
                    <a:pt x="4314825" y="71437"/>
                  </a:lnTo>
                  <a:lnTo>
                    <a:pt x="4314825" y="433387"/>
                  </a:lnTo>
                  <a:lnTo>
                    <a:pt x="4314825" y="438077"/>
                  </a:lnTo>
                  <a:lnTo>
                    <a:pt x="4314367" y="442723"/>
                  </a:lnTo>
                  <a:lnTo>
                    <a:pt x="4313452" y="447323"/>
                  </a:lnTo>
                  <a:lnTo>
                    <a:pt x="4312537" y="451924"/>
                  </a:lnTo>
                  <a:lnTo>
                    <a:pt x="4311181" y="456391"/>
                  </a:lnTo>
                  <a:lnTo>
                    <a:pt x="4309384" y="460725"/>
                  </a:lnTo>
                  <a:lnTo>
                    <a:pt x="4307589" y="465058"/>
                  </a:lnTo>
                  <a:lnTo>
                    <a:pt x="4293899" y="483901"/>
                  </a:lnTo>
                  <a:lnTo>
                    <a:pt x="4290582" y="487217"/>
                  </a:lnTo>
                  <a:lnTo>
                    <a:pt x="4257322" y="503451"/>
                  </a:lnTo>
                  <a:lnTo>
                    <a:pt x="4252723" y="504367"/>
                  </a:lnTo>
                  <a:lnTo>
                    <a:pt x="4248078" y="504824"/>
                  </a:lnTo>
                  <a:lnTo>
                    <a:pt x="4243387" y="504824"/>
                  </a:lnTo>
                  <a:lnTo>
                    <a:pt x="71438" y="504824"/>
                  </a:lnTo>
                  <a:lnTo>
                    <a:pt x="66747" y="504824"/>
                  </a:lnTo>
                  <a:lnTo>
                    <a:pt x="62100" y="504367"/>
                  </a:lnTo>
                  <a:lnTo>
                    <a:pt x="57499" y="503451"/>
                  </a:lnTo>
                  <a:lnTo>
                    <a:pt x="52899" y="502536"/>
                  </a:lnTo>
                  <a:lnTo>
                    <a:pt x="20923" y="483901"/>
                  </a:lnTo>
                  <a:lnTo>
                    <a:pt x="17605" y="480584"/>
                  </a:lnTo>
                  <a:lnTo>
                    <a:pt x="14644" y="476976"/>
                  </a:lnTo>
                  <a:lnTo>
                    <a:pt x="12038" y="473075"/>
                  </a:lnTo>
                  <a:lnTo>
                    <a:pt x="9432" y="469175"/>
                  </a:lnTo>
                  <a:lnTo>
                    <a:pt x="7231" y="465058"/>
                  </a:lnTo>
                  <a:lnTo>
                    <a:pt x="5436" y="460725"/>
                  </a:lnTo>
                  <a:lnTo>
                    <a:pt x="3641" y="456391"/>
                  </a:lnTo>
                  <a:lnTo>
                    <a:pt x="2287" y="451924"/>
                  </a:lnTo>
                  <a:lnTo>
                    <a:pt x="1372" y="447323"/>
                  </a:lnTo>
                  <a:lnTo>
                    <a:pt x="457" y="442723"/>
                  </a:lnTo>
                  <a:lnTo>
                    <a:pt x="0" y="438077"/>
                  </a:lnTo>
                  <a:lnTo>
                    <a:pt x="0" y="433387"/>
                  </a:lnTo>
                  <a:close/>
                </a:path>
              </a:pathLst>
            </a:custGeom>
            <a:ln w="9524">
              <a:solidFill>
                <a:srgbClr val="A6F2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58074" y="5114924"/>
              <a:ext cx="190499" cy="19049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359652" y="423519"/>
            <a:ext cx="2712720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b="0" spc="-95" dirty="0">
                <a:solidFill>
                  <a:srgbClr val="1D40AF"/>
                </a:solidFill>
                <a:latin typeface="Roboto Medium"/>
                <a:cs typeface="Roboto Medium"/>
              </a:rPr>
              <a:t>Comparação</a:t>
            </a:r>
            <a:r>
              <a:rPr sz="1650" b="0" spc="-10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1650" b="0" spc="-85" dirty="0">
                <a:solidFill>
                  <a:srgbClr val="1D40AF"/>
                </a:solidFill>
                <a:latin typeface="Roboto Medium"/>
                <a:cs typeface="Roboto Medium"/>
              </a:rPr>
              <a:t>Visual</a:t>
            </a:r>
            <a:r>
              <a:rPr sz="1650" b="0" spc="-10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1650" b="0" spc="-95" dirty="0">
                <a:solidFill>
                  <a:srgbClr val="1D40AF"/>
                </a:solidFill>
                <a:latin typeface="Roboto Medium"/>
                <a:cs typeface="Roboto Medium"/>
              </a:rPr>
              <a:t>das</a:t>
            </a:r>
            <a:r>
              <a:rPr sz="1650" b="0" spc="-10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1650" b="0" spc="-65" dirty="0">
                <a:solidFill>
                  <a:srgbClr val="1D40AF"/>
                </a:solidFill>
                <a:latin typeface="Roboto Medium"/>
                <a:cs typeface="Roboto Medium"/>
              </a:rPr>
              <a:t>Médias</a:t>
            </a:r>
            <a:endParaRPr sz="1650">
              <a:latin typeface="Roboto Medium"/>
              <a:cs typeface="Roboto Medium"/>
            </a:endParaRPr>
          </a:p>
        </p:txBody>
      </p: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72352" y="867226"/>
            <a:ext cx="4324349" cy="243839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7359652" y="3776319"/>
            <a:ext cx="4315460" cy="24625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b="0" spc="-85" dirty="0">
                <a:solidFill>
                  <a:srgbClr val="1F2937"/>
                </a:solidFill>
                <a:latin typeface="Roboto Medium"/>
                <a:cs typeface="Roboto Medium"/>
              </a:rPr>
              <a:t>Conclusão</a:t>
            </a:r>
            <a:r>
              <a:rPr sz="1650" b="0" spc="-30" dirty="0">
                <a:solidFill>
                  <a:srgbClr val="1F2937"/>
                </a:solidFill>
                <a:latin typeface="Roboto Medium"/>
                <a:cs typeface="Roboto Medium"/>
              </a:rPr>
              <a:t> </a:t>
            </a:r>
            <a:r>
              <a:rPr sz="1650" b="0" spc="-20" dirty="0">
                <a:solidFill>
                  <a:srgbClr val="1F2937"/>
                </a:solidFill>
                <a:latin typeface="Roboto Medium"/>
                <a:cs typeface="Roboto Medium"/>
              </a:rPr>
              <a:t>Final</a:t>
            </a:r>
            <a:endParaRPr sz="1650" dirty="0">
              <a:latin typeface="Roboto Medium"/>
              <a:cs typeface="Roboto Medium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500" dirty="0">
              <a:latin typeface="Roboto Medium"/>
              <a:cs typeface="Roboto Medium"/>
            </a:endParaRPr>
          </a:p>
          <a:p>
            <a:pPr marL="402590">
              <a:lnSpc>
                <a:spcPct val="100000"/>
              </a:lnSpc>
            </a:pPr>
            <a:r>
              <a:rPr sz="1500" b="0" spc="-80" dirty="0">
                <a:solidFill>
                  <a:srgbClr val="055E45"/>
                </a:solidFill>
                <a:latin typeface="Roboto Medium"/>
                <a:cs typeface="Roboto Medium"/>
              </a:rPr>
              <a:t>Replicação</a:t>
            </a:r>
            <a:r>
              <a:rPr sz="1500" b="0" spc="-5" dirty="0">
                <a:solidFill>
                  <a:srgbClr val="055E45"/>
                </a:solidFill>
                <a:latin typeface="Roboto Medium"/>
                <a:cs typeface="Roboto Medium"/>
              </a:rPr>
              <a:t> </a:t>
            </a:r>
            <a:r>
              <a:rPr sz="1500" b="0" spc="-80" dirty="0">
                <a:solidFill>
                  <a:srgbClr val="055E45"/>
                </a:solidFill>
                <a:latin typeface="Roboto Medium"/>
                <a:cs typeface="Roboto Medium"/>
              </a:rPr>
              <a:t>estatisticamente</a:t>
            </a:r>
            <a:r>
              <a:rPr sz="1500" b="0" spc="5" dirty="0">
                <a:solidFill>
                  <a:srgbClr val="055E45"/>
                </a:solidFill>
                <a:latin typeface="Roboto Medium"/>
                <a:cs typeface="Roboto Medium"/>
              </a:rPr>
              <a:t> </a:t>
            </a:r>
            <a:r>
              <a:rPr sz="1500" b="0" spc="-10" dirty="0">
                <a:solidFill>
                  <a:srgbClr val="055E45"/>
                </a:solidFill>
                <a:latin typeface="Roboto Medium"/>
                <a:cs typeface="Roboto Medium"/>
              </a:rPr>
              <a:t>validada</a:t>
            </a:r>
            <a:endParaRPr sz="1500" dirty="0">
              <a:latin typeface="Roboto Medium"/>
              <a:cs typeface="Roboto Medium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350" dirty="0">
              <a:latin typeface="Roboto Medium"/>
              <a:cs typeface="Roboto Medium"/>
            </a:endParaRPr>
          </a:p>
          <a:p>
            <a:pPr marL="12700" marR="5080">
              <a:lnSpc>
                <a:spcPct val="115399"/>
              </a:lnSpc>
            </a:pPr>
            <a:r>
              <a:rPr sz="1300" spc="-85" dirty="0">
                <a:solidFill>
                  <a:srgbClr val="374050"/>
                </a:solidFill>
                <a:latin typeface="Roboto"/>
                <a:cs typeface="Roboto"/>
              </a:rPr>
              <a:t>A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implementação</a:t>
            </a:r>
            <a:r>
              <a:rPr sz="130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80" dirty="0">
                <a:solidFill>
                  <a:srgbClr val="374050"/>
                </a:solidFill>
                <a:latin typeface="Roboto"/>
                <a:cs typeface="Roboto"/>
              </a:rPr>
              <a:t>em</a:t>
            </a:r>
            <a:r>
              <a:rPr sz="130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Python</a:t>
            </a:r>
            <a:r>
              <a:rPr sz="130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do</a:t>
            </a:r>
            <a:r>
              <a:rPr sz="130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374050"/>
                </a:solidFill>
                <a:latin typeface="Roboto"/>
                <a:cs typeface="Roboto"/>
              </a:rPr>
              <a:t>algoritmo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70" dirty="0">
                <a:solidFill>
                  <a:srgbClr val="374050"/>
                </a:solidFill>
                <a:latin typeface="Roboto"/>
                <a:cs typeface="Roboto"/>
              </a:rPr>
              <a:t>SPSO+AP+AD</a:t>
            </a:r>
            <a:r>
              <a:rPr sz="130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374050"/>
                </a:solidFill>
                <a:latin typeface="Roboto"/>
                <a:cs typeface="Roboto"/>
              </a:rPr>
              <a:t>é estatisticamente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374050"/>
                </a:solidFill>
                <a:latin typeface="Roboto"/>
                <a:cs typeface="Roboto"/>
              </a:rPr>
              <a:t>equivalente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à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implementação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40" dirty="0">
                <a:solidFill>
                  <a:srgbClr val="374050"/>
                </a:solidFill>
                <a:latin typeface="Roboto"/>
                <a:cs typeface="Roboto"/>
              </a:rPr>
              <a:t>original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40" dirty="0">
                <a:solidFill>
                  <a:srgbClr val="374050"/>
                </a:solidFill>
                <a:latin typeface="Roboto"/>
                <a:cs typeface="Roboto"/>
              </a:rPr>
              <a:t>descrita </a:t>
            </a: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no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35" dirty="0">
                <a:solidFill>
                  <a:srgbClr val="374050"/>
                </a:solidFill>
                <a:latin typeface="Roboto"/>
                <a:cs typeface="Roboto"/>
              </a:rPr>
              <a:t>artigo,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conforme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demonstrado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pelos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resultados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dos</a:t>
            </a:r>
            <a:r>
              <a:rPr sz="130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testes estatísticos.</a:t>
            </a:r>
            <a:endParaRPr sz="1300" dirty="0">
              <a:latin typeface="Roboto"/>
              <a:cs typeface="Roboto"/>
            </a:endParaRPr>
          </a:p>
          <a:p>
            <a:pPr marL="12700" marR="100965">
              <a:lnSpc>
                <a:spcPct val="115399"/>
              </a:lnSpc>
              <a:spcBef>
                <a:spcPts val="600"/>
              </a:spcBef>
            </a:pP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Isso</a:t>
            </a:r>
            <a:r>
              <a:rPr sz="1300" spc="-1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comprova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a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374050"/>
                </a:solidFill>
                <a:latin typeface="Roboto"/>
                <a:cs typeface="Roboto"/>
              </a:rPr>
              <a:t>fidelidade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da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0" dirty="0" err="1">
                <a:solidFill>
                  <a:srgbClr val="374050"/>
                </a:solidFill>
                <a:latin typeface="Roboto"/>
                <a:cs typeface="Roboto"/>
              </a:rPr>
              <a:t>replicação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80" dirty="0">
                <a:solidFill>
                  <a:srgbClr val="374050"/>
                </a:solidFill>
                <a:latin typeface="Roboto"/>
                <a:cs typeface="Roboto"/>
              </a:rPr>
              <a:t>em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termos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25" dirty="0">
                <a:solidFill>
                  <a:srgbClr val="374050"/>
                </a:solidFill>
                <a:latin typeface="Roboto"/>
                <a:cs typeface="Roboto"/>
              </a:rPr>
              <a:t>de </a:t>
            </a: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performance</a:t>
            </a:r>
            <a:r>
              <a:rPr sz="1300" spc="-3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374050"/>
                </a:solidFill>
                <a:latin typeface="Roboto"/>
                <a:cs typeface="Roboto"/>
              </a:rPr>
              <a:t>e</a:t>
            </a: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comportamento.</a:t>
            </a:r>
            <a:endParaRPr sz="13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444780"/>
            <a:ext cx="5943600" cy="400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dirty="0"/>
              <a:t>Conclusão e Perspectivas Futuras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2285206"/>
            <a:ext cx="11277600" cy="2590800"/>
            <a:chOff x="457199" y="1142999"/>
            <a:chExt cx="11277600" cy="2590800"/>
          </a:xfrm>
        </p:grpSpPr>
        <p:sp>
          <p:nvSpPr>
            <p:cNvPr id="4" name="object 4"/>
            <p:cNvSpPr/>
            <p:nvPr/>
          </p:nvSpPr>
          <p:spPr>
            <a:xfrm>
              <a:off x="481012" y="1142999"/>
              <a:ext cx="11254105" cy="2590800"/>
            </a:xfrm>
            <a:custGeom>
              <a:avLst/>
              <a:gdLst/>
              <a:ahLst/>
              <a:cxnLst/>
              <a:rect l="l" t="t" r="r" b="b"/>
              <a:pathLst>
                <a:path w="11254105" h="2590800">
                  <a:moveTo>
                    <a:pt x="11182589" y="2590799"/>
                  </a:moveTo>
                  <a:lnTo>
                    <a:pt x="48947" y="2590799"/>
                  </a:lnTo>
                  <a:lnTo>
                    <a:pt x="45540" y="2590311"/>
                  </a:lnTo>
                  <a:lnTo>
                    <a:pt x="12911" y="2564943"/>
                  </a:lnTo>
                  <a:lnTo>
                    <a:pt x="335" y="2524558"/>
                  </a:lnTo>
                  <a:lnTo>
                    <a:pt x="0" y="2519602"/>
                  </a:lnTo>
                  <a:lnTo>
                    <a:pt x="0" y="2514599"/>
                  </a:lnTo>
                  <a:lnTo>
                    <a:pt x="0" y="71196"/>
                  </a:lnTo>
                  <a:lnTo>
                    <a:pt x="10739" y="29705"/>
                  </a:lnTo>
                  <a:lnTo>
                    <a:pt x="38793" y="2440"/>
                  </a:lnTo>
                  <a:lnTo>
                    <a:pt x="48947" y="0"/>
                  </a:lnTo>
                  <a:lnTo>
                    <a:pt x="11182589" y="0"/>
                  </a:lnTo>
                  <a:lnTo>
                    <a:pt x="11224079" y="15621"/>
                  </a:lnTo>
                  <a:lnTo>
                    <a:pt x="11249899" y="51661"/>
                  </a:lnTo>
                  <a:lnTo>
                    <a:pt x="11253786" y="71196"/>
                  </a:lnTo>
                  <a:lnTo>
                    <a:pt x="11253786" y="2519602"/>
                  </a:lnTo>
                  <a:lnTo>
                    <a:pt x="11238163" y="2561094"/>
                  </a:lnTo>
                  <a:lnTo>
                    <a:pt x="11202123" y="2586913"/>
                  </a:lnTo>
                  <a:lnTo>
                    <a:pt x="11187545" y="2590311"/>
                  </a:lnTo>
                  <a:lnTo>
                    <a:pt x="11182589" y="2590799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199" y="1143201"/>
              <a:ext cx="72390" cy="2590800"/>
            </a:xfrm>
            <a:custGeom>
              <a:avLst/>
              <a:gdLst/>
              <a:ahLst/>
              <a:cxnLst/>
              <a:rect l="l" t="t" r="r" b="b"/>
              <a:pathLst>
                <a:path w="72390" h="2590800">
                  <a:moveTo>
                    <a:pt x="72031" y="2590397"/>
                  </a:moveTo>
                  <a:lnTo>
                    <a:pt x="33857" y="2577767"/>
                  </a:lnTo>
                  <a:lnTo>
                    <a:pt x="5800" y="2543558"/>
                  </a:lnTo>
                  <a:lnTo>
                    <a:pt x="0" y="2514398"/>
                  </a:lnTo>
                  <a:lnTo>
                    <a:pt x="0" y="75998"/>
                  </a:lnTo>
                  <a:lnTo>
                    <a:pt x="12830" y="33656"/>
                  </a:lnTo>
                  <a:lnTo>
                    <a:pt x="47039" y="5598"/>
                  </a:lnTo>
                  <a:lnTo>
                    <a:pt x="72031" y="0"/>
                  </a:lnTo>
                  <a:lnTo>
                    <a:pt x="68765" y="1732"/>
                  </a:lnTo>
                  <a:lnTo>
                    <a:pt x="61763" y="9465"/>
                  </a:lnTo>
                  <a:lnTo>
                    <a:pt x="49800" y="46838"/>
                  </a:lnTo>
                  <a:lnTo>
                    <a:pt x="47625" y="75998"/>
                  </a:lnTo>
                  <a:lnTo>
                    <a:pt x="47625" y="2514398"/>
                  </a:lnTo>
                  <a:lnTo>
                    <a:pt x="52436" y="2556740"/>
                  </a:lnTo>
                  <a:lnTo>
                    <a:pt x="68765" y="2588664"/>
                  </a:lnTo>
                  <a:lnTo>
                    <a:pt x="72031" y="2590397"/>
                  </a:lnTo>
                  <a:close/>
                </a:path>
              </a:pathLst>
            </a:custGeom>
            <a:solidFill>
              <a:srgbClr val="2A6B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0725" y="2475389"/>
            <a:ext cx="22555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spc="-95" dirty="0">
                <a:solidFill>
                  <a:srgbClr val="1D40AF"/>
                </a:solidFill>
                <a:latin typeface="Roboto Medium"/>
                <a:cs typeface="Roboto Medium"/>
              </a:rPr>
              <a:t>Principais</a:t>
            </a:r>
            <a:r>
              <a:rPr sz="2000" b="0" spc="-55" dirty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sz="2000" b="0" spc="-100" dirty="0">
                <a:solidFill>
                  <a:srgbClr val="1D40AF"/>
                </a:solidFill>
                <a:latin typeface="Roboto Medium"/>
                <a:cs typeface="Roboto Medium"/>
              </a:rPr>
              <a:t>Conquistas</a:t>
            </a:r>
            <a:endParaRPr sz="2000">
              <a:latin typeface="Roboto Medium"/>
              <a:cs typeface="Roboto Medium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76450" y="2971006"/>
            <a:ext cx="762000" cy="762000"/>
            <a:chOff x="2076449" y="1828799"/>
            <a:chExt cx="762000" cy="762000"/>
          </a:xfrm>
        </p:grpSpPr>
        <p:sp>
          <p:nvSpPr>
            <p:cNvPr id="8" name="object 8"/>
            <p:cNvSpPr/>
            <p:nvPr/>
          </p:nvSpPr>
          <p:spPr>
            <a:xfrm>
              <a:off x="2076449" y="18287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609599" y="761999"/>
                  </a:moveTo>
                  <a:lnTo>
                    <a:pt x="152399" y="761999"/>
                  </a:lnTo>
                  <a:lnTo>
                    <a:pt x="144912" y="761816"/>
                  </a:lnTo>
                  <a:lnTo>
                    <a:pt x="101065" y="753094"/>
                  </a:lnTo>
                  <a:lnTo>
                    <a:pt x="61607" y="732003"/>
                  </a:lnTo>
                  <a:lnTo>
                    <a:pt x="29995" y="700392"/>
                  </a:lnTo>
                  <a:lnTo>
                    <a:pt x="8904" y="660933"/>
                  </a:lnTo>
                  <a:lnTo>
                    <a:pt x="183" y="617086"/>
                  </a:lnTo>
                  <a:lnTo>
                    <a:pt x="0" y="609599"/>
                  </a:lnTo>
                  <a:lnTo>
                    <a:pt x="0" y="152399"/>
                  </a:lnTo>
                  <a:lnTo>
                    <a:pt x="6560" y="108159"/>
                  </a:lnTo>
                  <a:lnTo>
                    <a:pt x="25683" y="67731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609599" y="0"/>
                  </a:lnTo>
                  <a:lnTo>
                    <a:pt x="653839" y="6560"/>
                  </a:lnTo>
                  <a:lnTo>
                    <a:pt x="694268" y="25683"/>
                  </a:lnTo>
                  <a:lnTo>
                    <a:pt x="727407" y="55717"/>
                  </a:lnTo>
                  <a:lnTo>
                    <a:pt x="750398" y="94078"/>
                  </a:lnTo>
                  <a:lnTo>
                    <a:pt x="761267" y="137461"/>
                  </a:lnTo>
                  <a:lnTo>
                    <a:pt x="761999" y="152399"/>
                  </a:lnTo>
                  <a:lnTo>
                    <a:pt x="761999" y="609599"/>
                  </a:lnTo>
                  <a:lnTo>
                    <a:pt x="755439" y="653839"/>
                  </a:lnTo>
                  <a:lnTo>
                    <a:pt x="736315" y="694268"/>
                  </a:lnTo>
                  <a:lnTo>
                    <a:pt x="706282" y="727407"/>
                  </a:lnTo>
                  <a:lnTo>
                    <a:pt x="667920" y="750398"/>
                  </a:lnTo>
                  <a:lnTo>
                    <a:pt x="624537" y="761267"/>
                  </a:lnTo>
                  <a:lnTo>
                    <a:pt x="609599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5999" y="20383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8" y="322657"/>
                  </a:lnTo>
                  <a:lnTo>
                    <a:pt x="56318" y="298493"/>
                  </a:lnTo>
                  <a:lnTo>
                    <a:pt x="28894" y="266702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147" y="165421"/>
                  </a:lnTo>
                  <a:lnTo>
                    <a:pt x="205" y="163027"/>
                  </a:lnTo>
                  <a:lnTo>
                    <a:pt x="679" y="156599"/>
                  </a:lnTo>
                  <a:lnTo>
                    <a:pt x="765" y="155435"/>
                  </a:lnTo>
                  <a:lnTo>
                    <a:pt x="10032" y="113660"/>
                  </a:lnTo>
                  <a:lnTo>
                    <a:pt x="28894" y="76197"/>
                  </a:lnTo>
                  <a:lnTo>
                    <a:pt x="56318" y="44406"/>
                  </a:lnTo>
                  <a:lnTo>
                    <a:pt x="90628" y="20242"/>
                  </a:lnTo>
                  <a:lnTo>
                    <a:pt x="129780" y="5139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2411" y="112480"/>
                  </a:lnTo>
                  <a:lnTo>
                    <a:pt x="235735" y="112480"/>
                  </a:lnTo>
                  <a:lnTo>
                    <a:pt x="229685" y="113660"/>
                  </a:lnTo>
                  <a:lnTo>
                    <a:pt x="224358" y="117202"/>
                  </a:lnTo>
                  <a:lnTo>
                    <a:pt x="186159" y="155435"/>
                  </a:lnTo>
                  <a:lnTo>
                    <a:pt x="107214" y="155435"/>
                  </a:lnTo>
                  <a:lnTo>
                    <a:pt x="101261" y="156599"/>
                  </a:lnTo>
                  <a:lnTo>
                    <a:pt x="95837" y="160131"/>
                  </a:lnTo>
                  <a:lnTo>
                    <a:pt x="92296" y="165421"/>
                  </a:lnTo>
                  <a:lnTo>
                    <a:pt x="91117" y="171449"/>
                  </a:lnTo>
                  <a:lnTo>
                    <a:pt x="92296" y="177507"/>
                  </a:lnTo>
                  <a:lnTo>
                    <a:pt x="95837" y="182835"/>
                  </a:lnTo>
                  <a:lnTo>
                    <a:pt x="138700" y="225697"/>
                  </a:lnTo>
                  <a:lnTo>
                    <a:pt x="143932" y="229200"/>
                  </a:lnTo>
                  <a:lnTo>
                    <a:pt x="143793" y="229200"/>
                  </a:lnTo>
                  <a:lnTo>
                    <a:pt x="150027" y="230419"/>
                  </a:lnTo>
                  <a:lnTo>
                    <a:pt x="332411" y="230419"/>
                  </a:lnTo>
                  <a:lnTo>
                    <a:pt x="329849" y="237061"/>
                  </a:lnTo>
                  <a:lnTo>
                    <a:pt x="309154" y="273591"/>
                  </a:lnTo>
                  <a:lnTo>
                    <a:pt x="280217" y="303984"/>
                  </a:lnTo>
                  <a:lnTo>
                    <a:pt x="244764" y="326435"/>
                  </a:lnTo>
                  <a:lnTo>
                    <a:pt x="204898" y="339605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  <a:path w="342900" h="342900">
                  <a:moveTo>
                    <a:pt x="246792" y="140308"/>
                  </a:moveTo>
                  <a:lnTo>
                    <a:pt x="250593" y="134616"/>
                  </a:lnTo>
                  <a:lnTo>
                    <a:pt x="251758" y="128579"/>
                  </a:lnTo>
                  <a:lnTo>
                    <a:pt x="250575" y="122529"/>
                  </a:lnTo>
                  <a:lnTo>
                    <a:pt x="247062" y="117202"/>
                  </a:lnTo>
                  <a:lnTo>
                    <a:pt x="241772" y="113660"/>
                  </a:lnTo>
                  <a:lnTo>
                    <a:pt x="235735" y="112480"/>
                  </a:lnTo>
                  <a:lnTo>
                    <a:pt x="332411" y="112480"/>
                  </a:lnTo>
                  <a:lnTo>
                    <a:pt x="339938" y="139921"/>
                  </a:lnTo>
                  <a:lnTo>
                    <a:pt x="247180" y="139921"/>
                  </a:lnTo>
                  <a:lnTo>
                    <a:pt x="246792" y="140308"/>
                  </a:lnTo>
                  <a:close/>
                </a:path>
                <a:path w="342900" h="342900">
                  <a:moveTo>
                    <a:pt x="332411" y="230419"/>
                  </a:moveTo>
                  <a:lnTo>
                    <a:pt x="150027" y="230419"/>
                  </a:lnTo>
                  <a:lnTo>
                    <a:pt x="156273" y="229200"/>
                  </a:lnTo>
                  <a:lnTo>
                    <a:pt x="156134" y="229200"/>
                  </a:lnTo>
                  <a:lnTo>
                    <a:pt x="161404" y="225697"/>
                  </a:lnTo>
                  <a:lnTo>
                    <a:pt x="247180" y="139921"/>
                  </a:lnTo>
                  <a:lnTo>
                    <a:pt x="339938" y="139921"/>
                  </a:lnTo>
                  <a:lnTo>
                    <a:pt x="341046" y="146302"/>
                  </a:lnTo>
                  <a:lnTo>
                    <a:pt x="342076" y="154644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751" y="177507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32882" y="229200"/>
                  </a:lnTo>
                  <a:lnTo>
                    <a:pt x="332411" y="230419"/>
                  </a:lnTo>
                  <a:close/>
                </a:path>
                <a:path w="342900" h="342900">
                  <a:moveTo>
                    <a:pt x="150018" y="191608"/>
                  </a:moveTo>
                  <a:lnTo>
                    <a:pt x="118541" y="160131"/>
                  </a:lnTo>
                  <a:lnTo>
                    <a:pt x="113251" y="156599"/>
                  </a:lnTo>
                  <a:lnTo>
                    <a:pt x="107214" y="155435"/>
                  </a:lnTo>
                  <a:lnTo>
                    <a:pt x="186159" y="155435"/>
                  </a:lnTo>
                  <a:lnTo>
                    <a:pt x="150018" y="191608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76549" y="3706615"/>
            <a:ext cx="3152775" cy="112447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650" b="0" spc="-85" dirty="0" err="1">
                <a:solidFill>
                  <a:srgbClr val="1C4ED8"/>
                </a:solidFill>
                <a:latin typeface="Roboto Medium"/>
                <a:cs typeface="Roboto Medium"/>
              </a:rPr>
              <a:t>Implementação</a:t>
            </a:r>
            <a:r>
              <a:rPr sz="1650" b="0" spc="-35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lang="pt-BR" sz="1650" b="0" spc="-10" dirty="0">
                <a:solidFill>
                  <a:srgbClr val="1C4ED8"/>
                </a:solidFill>
                <a:latin typeface="Roboto Medium"/>
                <a:cs typeface="Roboto Medium"/>
              </a:rPr>
              <a:t>Fiel</a:t>
            </a:r>
            <a:endParaRPr sz="1650" dirty="0">
              <a:latin typeface="Roboto Medium"/>
              <a:cs typeface="Roboto Medium"/>
            </a:endParaRPr>
          </a:p>
          <a:p>
            <a:pPr marL="12700" marR="5080" algn="ctr">
              <a:lnSpc>
                <a:spcPct val="115399"/>
              </a:lnSpc>
              <a:spcBef>
                <a:spcPts val="530"/>
              </a:spcBef>
            </a:pP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Replicação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45" dirty="0">
                <a:solidFill>
                  <a:srgbClr val="374050"/>
                </a:solidFill>
                <a:latin typeface="Roboto"/>
                <a:cs typeface="Roboto"/>
              </a:rPr>
              <a:t>fiel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do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374050"/>
                </a:solidFill>
                <a:latin typeface="Roboto"/>
                <a:cs typeface="Roboto"/>
              </a:rPr>
              <a:t>algoritmo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70" dirty="0">
                <a:solidFill>
                  <a:srgbClr val="374050"/>
                </a:solidFill>
                <a:latin typeface="Roboto"/>
                <a:cs typeface="Roboto"/>
              </a:rPr>
              <a:t>SPSO+AP+AD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40" dirty="0" err="1">
                <a:solidFill>
                  <a:srgbClr val="374050"/>
                </a:solidFill>
                <a:latin typeface="Roboto"/>
                <a:cs typeface="Roboto"/>
              </a:rPr>
              <a:t>em</a:t>
            </a:r>
            <a:r>
              <a:rPr sz="1300" spc="-4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Python</a:t>
            </a:r>
            <a:r>
              <a:rPr lang="pt-BR" sz="1300" spc="-10" dirty="0">
                <a:solidFill>
                  <a:srgbClr val="374050"/>
                </a:solidFill>
                <a:latin typeface="Roboto"/>
                <a:cs typeface="Roboto"/>
              </a:rPr>
              <a:t>. Para o cenário de mudança de severidade de </a:t>
            </a:r>
            <a:r>
              <a:rPr lang="pt-BR" sz="1300" spc="-10" dirty="0" err="1">
                <a:solidFill>
                  <a:srgbClr val="374050"/>
                </a:solidFill>
                <a:latin typeface="Roboto"/>
                <a:cs typeface="Roboto"/>
              </a:rPr>
              <a:t>fitnes</a:t>
            </a:r>
            <a:endParaRPr sz="1300" dirty="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43575" y="2971006"/>
            <a:ext cx="762000" cy="762000"/>
            <a:chOff x="5743574" y="1828799"/>
            <a:chExt cx="762000" cy="762000"/>
          </a:xfrm>
        </p:grpSpPr>
        <p:sp>
          <p:nvSpPr>
            <p:cNvPr id="12" name="object 12"/>
            <p:cNvSpPr/>
            <p:nvPr/>
          </p:nvSpPr>
          <p:spPr>
            <a:xfrm>
              <a:off x="5743574" y="18287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609599" y="761999"/>
                  </a:moveTo>
                  <a:lnTo>
                    <a:pt x="152399" y="761999"/>
                  </a:lnTo>
                  <a:lnTo>
                    <a:pt x="144912" y="761816"/>
                  </a:lnTo>
                  <a:lnTo>
                    <a:pt x="101065" y="753094"/>
                  </a:lnTo>
                  <a:lnTo>
                    <a:pt x="61606" y="732003"/>
                  </a:lnTo>
                  <a:lnTo>
                    <a:pt x="29995" y="700392"/>
                  </a:lnTo>
                  <a:lnTo>
                    <a:pt x="8903" y="660933"/>
                  </a:lnTo>
                  <a:lnTo>
                    <a:pt x="182" y="617086"/>
                  </a:lnTo>
                  <a:lnTo>
                    <a:pt x="0" y="609599"/>
                  </a:lnTo>
                  <a:lnTo>
                    <a:pt x="0" y="152399"/>
                  </a:lnTo>
                  <a:lnTo>
                    <a:pt x="6559" y="108159"/>
                  </a:lnTo>
                  <a:lnTo>
                    <a:pt x="25683" y="67731"/>
                  </a:lnTo>
                  <a:lnTo>
                    <a:pt x="55716" y="34591"/>
                  </a:lnTo>
                  <a:lnTo>
                    <a:pt x="94077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609599" y="0"/>
                  </a:lnTo>
                  <a:lnTo>
                    <a:pt x="653838" y="6560"/>
                  </a:lnTo>
                  <a:lnTo>
                    <a:pt x="694267" y="25683"/>
                  </a:lnTo>
                  <a:lnTo>
                    <a:pt x="727406" y="55717"/>
                  </a:lnTo>
                  <a:lnTo>
                    <a:pt x="750398" y="94078"/>
                  </a:lnTo>
                  <a:lnTo>
                    <a:pt x="761267" y="137461"/>
                  </a:lnTo>
                  <a:lnTo>
                    <a:pt x="761999" y="152399"/>
                  </a:lnTo>
                  <a:lnTo>
                    <a:pt x="761999" y="609599"/>
                  </a:lnTo>
                  <a:lnTo>
                    <a:pt x="755438" y="653839"/>
                  </a:lnTo>
                  <a:lnTo>
                    <a:pt x="736314" y="694268"/>
                  </a:lnTo>
                  <a:lnTo>
                    <a:pt x="706281" y="727407"/>
                  </a:lnTo>
                  <a:lnTo>
                    <a:pt x="667919" y="750398"/>
                  </a:lnTo>
                  <a:lnTo>
                    <a:pt x="624537" y="761267"/>
                  </a:lnTo>
                  <a:lnTo>
                    <a:pt x="609599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53124" y="2059781"/>
              <a:ext cx="342900" cy="300355"/>
            </a:xfrm>
            <a:custGeom>
              <a:avLst/>
              <a:gdLst/>
              <a:ahLst/>
              <a:cxnLst/>
              <a:rect l="l" t="t" r="r" b="b"/>
              <a:pathLst>
                <a:path w="342900" h="300355">
                  <a:moveTo>
                    <a:pt x="321468" y="300037"/>
                  </a:moveTo>
                  <a:lnTo>
                    <a:pt x="53578" y="300037"/>
                  </a:lnTo>
                  <a:lnTo>
                    <a:pt x="32718" y="295828"/>
                  </a:lnTo>
                  <a:lnTo>
                    <a:pt x="15688" y="284349"/>
                  </a:lnTo>
                  <a:lnTo>
                    <a:pt x="4208" y="267319"/>
                  </a:lnTo>
                  <a:lnTo>
                    <a:pt x="0" y="246459"/>
                  </a:lnTo>
                  <a:lnTo>
                    <a:pt x="0" y="21431"/>
                  </a:lnTo>
                  <a:lnTo>
                    <a:pt x="1681" y="13081"/>
                  </a:lnTo>
                  <a:lnTo>
                    <a:pt x="6270" y="6270"/>
                  </a:lnTo>
                  <a:lnTo>
                    <a:pt x="13081" y="1681"/>
                  </a:lnTo>
                  <a:lnTo>
                    <a:pt x="21431" y="0"/>
                  </a:lnTo>
                  <a:lnTo>
                    <a:pt x="29780" y="1681"/>
                  </a:lnTo>
                  <a:lnTo>
                    <a:pt x="36592" y="6270"/>
                  </a:lnTo>
                  <a:lnTo>
                    <a:pt x="41180" y="13081"/>
                  </a:lnTo>
                  <a:lnTo>
                    <a:pt x="42862" y="21431"/>
                  </a:lnTo>
                  <a:lnTo>
                    <a:pt x="42862" y="252352"/>
                  </a:lnTo>
                  <a:lnTo>
                    <a:pt x="47684" y="257174"/>
                  </a:lnTo>
                  <a:lnTo>
                    <a:pt x="321468" y="257174"/>
                  </a:lnTo>
                  <a:lnTo>
                    <a:pt x="329818" y="258856"/>
                  </a:lnTo>
                  <a:lnTo>
                    <a:pt x="336629" y="263445"/>
                  </a:lnTo>
                  <a:lnTo>
                    <a:pt x="341218" y="270256"/>
                  </a:lnTo>
                  <a:lnTo>
                    <a:pt x="342899" y="278606"/>
                  </a:lnTo>
                  <a:lnTo>
                    <a:pt x="341218" y="286955"/>
                  </a:lnTo>
                  <a:lnTo>
                    <a:pt x="336629" y="293767"/>
                  </a:lnTo>
                  <a:lnTo>
                    <a:pt x="329818" y="298355"/>
                  </a:lnTo>
                  <a:lnTo>
                    <a:pt x="321468" y="300037"/>
                  </a:lnTo>
                  <a:close/>
                </a:path>
                <a:path w="342900" h="300355">
                  <a:moveTo>
                    <a:pt x="235743" y="85724"/>
                  </a:moveTo>
                  <a:lnTo>
                    <a:pt x="107156" y="85724"/>
                  </a:lnTo>
                  <a:lnTo>
                    <a:pt x="98806" y="84043"/>
                  </a:lnTo>
                  <a:lnTo>
                    <a:pt x="91995" y="79454"/>
                  </a:lnTo>
                  <a:lnTo>
                    <a:pt x="87406" y="72643"/>
                  </a:lnTo>
                  <a:lnTo>
                    <a:pt x="85724" y="64293"/>
                  </a:lnTo>
                  <a:lnTo>
                    <a:pt x="87406" y="55944"/>
                  </a:lnTo>
                  <a:lnTo>
                    <a:pt x="91995" y="49132"/>
                  </a:lnTo>
                  <a:lnTo>
                    <a:pt x="98806" y="44544"/>
                  </a:lnTo>
                  <a:lnTo>
                    <a:pt x="107156" y="42862"/>
                  </a:lnTo>
                  <a:lnTo>
                    <a:pt x="235743" y="42862"/>
                  </a:lnTo>
                  <a:lnTo>
                    <a:pt x="244093" y="44544"/>
                  </a:lnTo>
                  <a:lnTo>
                    <a:pt x="250904" y="49132"/>
                  </a:lnTo>
                  <a:lnTo>
                    <a:pt x="255493" y="55944"/>
                  </a:lnTo>
                  <a:lnTo>
                    <a:pt x="257174" y="64293"/>
                  </a:lnTo>
                  <a:lnTo>
                    <a:pt x="255493" y="72643"/>
                  </a:lnTo>
                  <a:lnTo>
                    <a:pt x="250904" y="79454"/>
                  </a:lnTo>
                  <a:lnTo>
                    <a:pt x="244093" y="84043"/>
                  </a:lnTo>
                  <a:lnTo>
                    <a:pt x="235743" y="85724"/>
                  </a:lnTo>
                  <a:close/>
                </a:path>
                <a:path w="342900" h="300355">
                  <a:moveTo>
                    <a:pt x="192881" y="150018"/>
                  </a:moveTo>
                  <a:lnTo>
                    <a:pt x="107156" y="150018"/>
                  </a:lnTo>
                  <a:lnTo>
                    <a:pt x="98806" y="148337"/>
                  </a:lnTo>
                  <a:lnTo>
                    <a:pt x="91995" y="143748"/>
                  </a:lnTo>
                  <a:lnTo>
                    <a:pt x="87406" y="136937"/>
                  </a:lnTo>
                  <a:lnTo>
                    <a:pt x="85724" y="128587"/>
                  </a:lnTo>
                  <a:lnTo>
                    <a:pt x="87406" y="120237"/>
                  </a:lnTo>
                  <a:lnTo>
                    <a:pt x="91995" y="113426"/>
                  </a:lnTo>
                  <a:lnTo>
                    <a:pt x="98806" y="108837"/>
                  </a:lnTo>
                  <a:lnTo>
                    <a:pt x="107156" y="107156"/>
                  </a:lnTo>
                  <a:lnTo>
                    <a:pt x="192881" y="107156"/>
                  </a:lnTo>
                  <a:lnTo>
                    <a:pt x="201230" y="108837"/>
                  </a:lnTo>
                  <a:lnTo>
                    <a:pt x="208042" y="113426"/>
                  </a:lnTo>
                  <a:lnTo>
                    <a:pt x="212630" y="120237"/>
                  </a:lnTo>
                  <a:lnTo>
                    <a:pt x="214312" y="128587"/>
                  </a:lnTo>
                  <a:lnTo>
                    <a:pt x="212630" y="136937"/>
                  </a:lnTo>
                  <a:lnTo>
                    <a:pt x="208042" y="143748"/>
                  </a:lnTo>
                  <a:lnTo>
                    <a:pt x="201230" y="148337"/>
                  </a:lnTo>
                  <a:lnTo>
                    <a:pt x="192881" y="150018"/>
                  </a:lnTo>
                  <a:close/>
                </a:path>
                <a:path w="342900" h="300355">
                  <a:moveTo>
                    <a:pt x="278606" y="214312"/>
                  </a:moveTo>
                  <a:lnTo>
                    <a:pt x="107156" y="214312"/>
                  </a:lnTo>
                  <a:lnTo>
                    <a:pt x="98806" y="212630"/>
                  </a:lnTo>
                  <a:lnTo>
                    <a:pt x="91995" y="208042"/>
                  </a:lnTo>
                  <a:lnTo>
                    <a:pt x="87406" y="201230"/>
                  </a:lnTo>
                  <a:lnTo>
                    <a:pt x="85724" y="192881"/>
                  </a:lnTo>
                  <a:lnTo>
                    <a:pt x="87406" y="184531"/>
                  </a:lnTo>
                  <a:lnTo>
                    <a:pt x="91995" y="177720"/>
                  </a:lnTo>
                  <a:lnTo>
                    <a:pt x="98806" y="173131"/>
                  </a:lnTo>
                  <a:lnTo>
                    <a:pt x="107156" y="171449"/>
                  </a:lnTo>
                  <a:lnTo>
                    <a:pt x="278606" y="171449"/>
                  </a:lnTo>
                  <a:lnTo>
                    <a:pt x="286955" y="173131"/>
                  </a:lnTo>
                  <a:lnTo>
                    <a:pt x="293767" y="177720"/>
                  </a:lnTo>
                  <a:lnTo>
                    <a:pt x="298355" y="184531"/>
                  </a:lnTo>
                  <a:lnTo>
                    <a:pt x="300037" y="192881"/>
                  </a:lnTo>
                  <a:lnTo>
                    <a:pt x="298355" y="201230"/>
                  </a:lnTo>
                  <a:lnTo>
                    <a:pt x="293767" y="208042"/>
                  </a:lnTo>
                  <a:lnTo>
                    <a:pt x="286955" y="212630"/>
                  </a:lnTo>
                  <a:lnTo>
                    <a:pt x="278606" y="214312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83845" y="3706615"/>
            <a:ext cx="3272154" cy="92075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650" b="0" spc="-95" dirty="0">
                <a:solidFill>
                  <a:srgbClr val="1C4ED8"/>
                </a:solidFill>
                <a:latin typeface="Roboto Medium"/>
                <a:cs typeface="Roboto Medium"/>
              </a:rPr>
              <a:t>Validação</a:t>
            </a:r>
            <a:r>
              <a:rPr sz="1650" b="0" spc="45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650" b="0" spc="-10" dirty="0">
                <a:solidFill>
                  <a:srgbClr val="1C4ED8"/>
                </a:solidFill>
                <a:latin typeface="Roboto Medium"/>
                <a:cs typeface="Roboto Medium"/>
              </a:rPr>
              <a:t>Estatística</a:t>
            </a:r>
            <a:endParaRPr sz="1650">
              <a:latin typeface="Roboto Medium"/>
              <a:cs typeface="Roboto Medium"/>
            </a:endParaRPr>
          </a:p>
          <a:p>
            <a:pPr marL="12700" marR="5080" algn="ctr">
              <a:lnSpc>
                <a:spcPct val="115399"/>
              </a:lnSpc>
              <a:spcBef>
                <a:spcPts val="530"/>
              </a:spcBef>
            </a:pPr>
            <a:r>
              <a:rPr sz="1300" spc="-55" dirty="0">
                <a:solidFill>
                  <a:srgbClr val="374050"/>
                </a:solidFill>
                <a:latin typeface="Roboto"/>
                <a:cs typeface="Roboto"/>
              </a:rPr>
              <a:t>Resultados</a:t>
            </a:r>
            <a:r>
              <a:rPr sz="1300" spc="-1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374050"/>
                </a:solidFill>
                <a:latin typeface="Roboto"/>
                <a:cs typeface="Roboto"/>
              </a:rPr>
              <a:t>indistinguíveis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do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40" dirty="0">
                <a:solidFill>
                  <a:srgbClr val="374050"/>
                </a:solidFill>
                <a:latin typeface="Roboto"/>
                <a:cs typeface="Roboto"/>
              </a:rPr>
              <a:t>artigo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40" dirty="0">
                <a:solidFill>
                  <a:srgbClr val="374050"/>
                </a:solidFill>
                <a:latin typeface="Roboto"/>
                <a:cs typeface="Roboto"/>
              </a:rPr>
              <a:t>original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374050"/>
                </a:solidFill>
                <a:latin typeface="Roboto"/>
                <a:cs typeface="Roboto"/>
              </a:rPr>
              <a:t>(p</a:t>
            </a:r>
            <a:r>
              <a:rPr sz="1300" spc="-1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&gt; 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0.05)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410700" y="2971006"/>
            <a:ext cx="762000" cy="762000"/>
            <a:chOff x="9410699" y="1828799"/>
            <a:chExt cx="762000" cy="762000"/>
          </a:xfrm>
        </p:grpSpPr>
        <p:sp>
          <p:nvSpPr>
            <p:cNvPr id="16" name="object 16"/>
            <p:cNvSpPr/>
            <p:nvPr/>
          </p:nvSpPr>
          <p:spPr>
            <a:xfrm>
              <a:off x="9410699" y="18287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609599" y="761999"/>
                  </a:moveTo>
                  <a:lnTo>
                    <a:pt x="152399" y="761999"/>
                  </a:lnTo>
                  <a:lnTo>
                    <a:pt x="144912" y="761816"/>
                  </a:lnTo>
                  <a:lnTo>
                    <a:pt x="101065" y="753094"/>
                  </a:lnTo>
                  <a:lnTo>
                    <a:pt x="61606" y="732003"/>
                  </a:lnTo>
                  <a:lnTo>
                    <a:pt x="29994" y="700392"/>
                  </a:lnTo>
                  <a:lnTo>
                    <a:pt x="8903" y="660933"/>
                  </a:lnTo>
                  <a:lnTo>
                    <a:pt x="183" y="617086"/>
                  </a:lnTo>
                  <a:lnTo>
                    <a:pt x="0" y="609599"/>
                  </a:lnTo>
                  <a:lnTo>
                    <a:pt x="0" y="152399"/>
                  </a:lnTo>
                  <a:lnTo>
                    <a:pt x="6559" y="108159"/>
                  </a:lnTo>
                  <a:lnTo>
                    <a:pt x="25682" y="67731"/>
                  </a:lnTo>
                  <a:lnTo>
                    <a:pt x="55716" y="34591"/>
                  </a:lnTo>
                  <a:lnTo>
                    <a:pt x="94077" y="11600"/>
                  </a:lnTo>
                  <a:lnTo>
                    <a:pt x="137461" y="732"/>
                  </a:lnTo>
                  <a:lnTo>
                    <a:pt x="152399" y="0"/>
                  </a:lnTo>
                  <a:lnTo>
                    <a:pt x="609599" y="0"/>
                  </a:lnTo>
                  <a:lnTo>
                    <a:pt x="653838" y="6560"/>
                  </a:lnTo>
                  <a:lnTo>
                    <a:pt x="694266" y="25683"/>
                  </a:lnTo>
                  <a:lnTo>
                    <a:pt x="727406" y="55717"/>
                  </a:lnTo>
                  <a:lnTo>
                    <a:pt x="750398" y="94078"/>
                  </a:lnTo>
                  <a:lnTo>
                    <a:pt x="761267" y="137461"/>
                  </a:lnTo>
                  <a:lnTo>
                    <a:pt x="761999" y="152399"/>
                  </a:lnTo>
                  <a:lnTo>
                    <a:pt x="761999" y="609599"/>
                  </a:lnTo>
                  <a:lnTo>
                    <a:pt x="755438" y="653839"/>
                  </a:lnTo>
                  <a:lnTo>
                    <a:pt x="736314" y="694268"/>
                  </a:lnTo>
                  <a:lnTo>
                    <a:pt x="706282" y="727407"/>
                  </a:lnTo>
                  <a:lnTo>
                    <a:pt x="667919" y="750398"/>
                  </a:lnTo>
                  <a:lnTo>
                    <a:pt x="624537" y="761267"/>
                  </a:lnTo>
                  <a:lnTo>
                    <a:pt x="609599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572641" y="2038470"/>
              <a:ext cx="428625" cy="342900"/>
            </a:xfrm>
            <a:custGeom>
              <a:avLst/>
              <a:gdLst/>
              <a:ahLst/>
              <a:cxnLst/>
              <a:rect l="l" t="t" r="r" b="b"/>
              <a:pathLst>
                <a:path w="428625" h="342900">
                  <a:moveTo>
                    <a:pt x="174025" y="342659"/>
                  </a:moveTo>
                  <a:lnTo>
                    <a:pt x="165539" y="341975"/>
                  </a:lnTo>
                  <a:lnTo>
                    <a:pt x="157972" y="338048"/>
                  </a:lnTo>
                  <a:lnTo>
                    <a:pt x="152672" y="331754"/>
                  </a:lnTo>
                  <a:lnTo>
                    <a:pt x="150122" y="323940"/>
                  </a:lnTo>
                  <a:lnTo>
                    <a:pt x="150805" y="315454"/>
                  </a:lnTo>
                  <a:lnTo>
                    <a:pt x="236530" y="15417"/>
                  </a:lnTo>
                  <a:lnTo>
                    <a:pt x="240457" y="7850"/>
                  </a:lnTo>
                  <a:lnTo>
                    <a:pt x="246752" y="2550"/>
                  </a:lnTo>
                  <a:lnTo>
                    <a:pt x="254566" y="0"/>
                  </a:lnTo>
                  <a:lnTo>
                    <a:pt x="263051" y="683"/>
                  </a:lnTo>
                  <a:lnTo>
                    <a:pt x="270618" y="4610"/>
                  </a:lnTo>
                  <a:lnTo>
                    <a:pt x="275918" y="10905"/>
                  </a:lnTo>
                  <a:lnTo>
                    <a:pt x="278469" y="18718"/>
                  </a:lnTo>
                  <a:lnTo>
                    <a:pt x="277785" y="27204"/>
                  </a:lnTo>
                  <a:lnTo>
                    <a:pt x="192060" y="327242"/>
                  </a:lnTo>
                  <a:lnTo>
                    <a:pt x="188133" y="334808"/>
                  </a:lnTo>
                  <a:lnTo>
                    <a:pt x="181839" y="340109"/>
                  </a:lnTo>
                  <a:lnTo>
                    <a:pt x="174025" y="342659"/>
                  </a:lnTo>
                  <a:close/>
                </a:path>
                <a:path w="428625" h="342900">
                  <a:moveTo>
                    <a:pt x="332134" y="267820"/>
                  </a:moveTo>
                  <a:lnTo>
                    <a:pt x="324059" y="266250"/>
                  </a:lnTo>
                  <a:lnTo>
                    <a:pt x="316964" y="261541"/>
                  </a:lnTo>
                  <a:lnTo>
                    <a:pt x="312255" y="254446"/>
                  </a:lnTo>
                  <a:lnTo>
                    <a:pt x="310686" y="246372"/>
                  </a:lnTo>
                  <a:lnTo>
                    <a:pt x="312255" y="238298"/>
                  </a:lnTo>
                  <a:lnTo>
                    <a:pt x="316964" y="231203"/>
                  </a:lnTo>
                  <a:lnTo>
                    <a:pt x="376838" y="171329"/>
                  </a:lnTo>
                  <a:lnTo>
                    <a:pt x="317031" y="111456"/>
                  </a:lnTo>
                  <a:lnTo>
                    <a:pt x="312322" y="104361"/>
                  </a:lnTo>
                  <a:lnTo>
                    <a:pt x="310753" y="96286"/>
                  </a:lnTo>
                  <a:lnTo>
                    <a:pt x="312322" y="88212"/>
                  </a:lnTo>
                  <a:lnTo>
                    <a:pt x="317065" y="81117"/>
                  </a:lnTo>
                  <a:lnTo>
                    <a:pt x="324059" y="76475"/>
                  </a:lnTo>
                  <a:lnTo>
                    <a:pt x="332134" y="74905"/>
                  </a:lnTo>
                  <a:lnTo>
                    <a:pt x="340208" y="76475"/>
                  </a:lnTo>
                  <a:lnTo>
                    <a:pt x="347202" y="81117"/>
                  </a:lnTo>
                  <a:lnTo>
                    <a:pt x="422312" y="156193"/>
                  </a:lnTo>
                  <a:lnTo>
                    <a:pt x="427021" y="163288"/>
                  </a:lnTo>
                  <a:lnTo>
                    <a:pt x="428585" y="171329"/>
                  </a:lnTo>
                  <a:lnTo>
                    <a:pt x="427021" y="179437"/>
                  </a:lnTo>
                  <a:lnTo>
                    <a:pt x="422312" y="186532"/>
                  </a:lnTo>
                  <a:lnTo>
                    <a:pt x="347303" y="261541"/>
                  </a:lnTo>
                  <a:lnTo>
                    <a:pt x="340208" y="266250"/>
                  </a:lnTo>
                  <a:lnTo>
                    <a:pt x="332134" y="267820"/>
                  </a:lnTo>
                  <a:close/>
                </a:path>
                <a:path w="428625" h="342900">
                  <a:moveTo>
                    <a:pt x="96457" y="267753"/>
                  </a:moveTo>
                  <a:lnTo>
                    <a:pt x="6278" y="186465"/>
                  </a:lnTo>
                  <a:lnTo>
                    <a:pt x="0" y="171296"/>
                  </a:lnTo>
                  <a:lnTo>
                    <a:pt x="1569" y="163221"/>
                  </a:lnTo>
                  <a:lnTo>
                    <a:pt x="6278" y="156126"/>
                  </a:lnTo>
                  <a:lnTo>
                    <a:pt x="81288" y="81117"/>
                  </a:lnTo>
                  <a:lnTo>
                    <a:pt x="88382" y="76408"/>
                  </a:lnTo>
                  <a:lnTo>
                    <a:pt x="96457" y="74838"/>
                  </a:lnTo>
                  <a:lnTo>
                    <a:pt x="104531" y="76408"/>
                  </a:lnTo>
                  <a:lnTo>
                    <a:pt x="111626" y="81117"/>
                  </a:lnTo>
                  <a:lnTo>
                    <a:pt x="116335" y="88212"/>
                  </a:lnTo>
                  <a:lnTo>
                    <a:pt x="117905" y="96286"/>
                  </a:lnTo>
                  <a:lnTo>
                    <a:pt x="116335" y="104361"/>
                  </a:lnTo>
                  <a:lnTo>
                    <a:pt x="111626" y="111456"/>
                  </a:lnTo>
                  <a:lnTo>
                    <a:pt x="51786" y="171296"/>
                  </a:lnTo>
                  <a:lnTo>
                    <a:pt x="111626" y="231136"/>
                  </a:lnTo>
                  <a:lnTo>
                    <a:pt x="116335" y="238231"/>
                  </a:lnTo>
                  <a:lnTo>
                    <a:pt x="117905" y="246305"/>
                  </a:lnTo>
                  <a:lnTo>
                    <a:pt x="116335" y="254379"/>
                  </a:lnTo>
                  <a:lnTo>
                    <a:pt x="111626" y="261474"/>
                  </a:lnTo>
                  <a:lnTo>
                    <a:pt x="104531" y="266183"/>
                  </a:lnTo>
                  <a:lnTo>
                    <a:pt x="96457" y="267753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22109" y="3706615"/>
            <a:ext cx="3129915" cy="92075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650" b="0" spc="-95" dirty="0">
                <a:solidFill>
                  <a:srgbClr val="1C4ED8"/>
                </a:solidFill>
                <a:latin typeface="Roboto Medium"/>
                <a:cs typeface="Roboto Medium"/>
              </a:rPr>
              <a:t>Base</a:t>
            </a:r>
            <a:r>
              <a:rPr sz="1650" b="0" spc="-30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650" b="0" spc="-90" dirty="0">
                <a:solidFill>
                  <a:srgbClr val="1C4ED8"/>
                </a:solidFill>
                <a:latin typeface="Roboto Medium"/>
                <a:cs typeface="Roboto Medium"/>
              </a:rPr>
              <a:t>de</a:t>
            </a:r>
            <a:r>
              <a:rPr sz="1650" b="0" spc="-25" dirty="0">
                <a:solidFill>
                  <a:srgbClr val="1C4ED8"/>
                </a:solidFill>
                <a:latin typeface="Roboto Medium"/>
                <a:cs typeface="Roboto Medium"/>
              </a:rPr>
              <a:t> </a:t>
            </a:r>
            <a:r>
              <a:rPr sz="1650" b="0" spc="-10" dirty="0">
                <a:solidFill>
                  <a:srgbClr val="1C4ED8"/>
                </a:solidFill>
                <a:latin typeface="Roboto Medium"/>
                <a:cs typeface="Roboto Medium"/>
              </a:rPr>
              <a:t>Código</a:t>
            </a:r>
            <a:endParaRPr sz="1650">
              <a:latin typeface="Roboto Medium"/>
              <a:cs typeface="Roboto Medium"/>
            </a:endParaRPr>
          </a:p>
          <a:p>
            <a:pPr marL="12065" marR="5080" algn="ctr">
              <a:lnSpc>
                <a:spcPct val="115399"/>
              </a:lnSpc>
              <a:spcBef>
                <a:spcPts val="530"/>
              </a:spcBef>
            </a:pPr>
            <a:r>
              <a:rPr sz="1300" spc="-65" dirty="0">
                <a:solidFill>
                  <a:srgbClr val="374050"/>
                </a:solidFill>
                <a:latin typeface="Roboto"/>
                <a:cs typeface="Roboto"/>
              </a:rPr>
              <a:t>Framework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80" dirty="0">
                <a:solidFill>
                  <a:srgbClr val="374050"/>
                </a:solidFill>
                <a:latin typeface="Roboto"/>
                <a:cs typeface="Roboto"/>
              </a:rPr>
              <a:t>em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Python</a:t>
            </a:r>
            <a:r>
              <a:rPr sz="1300" spc="-5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374050"/>
                </a:solidFill>
                <a:latin typeface="Roboto"/>
                <a:cs typeface="Roboto"/>
              </a:rPr>
              <a:t>disponível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374050"/>
                </a:solidFill>
                <a:latin typeface="Roboto"/>
                <a:cs typeface="Roboto"/>
              </a:rPr>
              <a:t>para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300" spc="-40" dirty="0">
                <a:solidFill>
                  <a:srgbClr val="374050"/>
                </a:solidFill>
                <a:latin typeface="Roboto"/>
                <a:cs typeface="Roboto"/>
              </a:rPr>
              <a:t>futuras </a:t>
            </a:r>
            <a:r>
              <a:rPr sz="1300" spc="-10" dirty="0">
                <a:solidFill>
                  <a:srgbClr val="374050"/>
                </a:solidFill>
                <a:latin typeface="Roboto"/>
                <a:cs typeface="Roboto"/>
              </a:rPr>
              <a:t>pesquisas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38800" y="1046956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90830" y="913130"/>
                </a:moveTo>
                <a:lnTo>
                  <a:pt x="423569" y="913130"/>
                </a:lnTo>
                <a:lnTo>
                  <a:pt x="390114" y="909320"/>
                </a:lnTo>
                <a:lnTo>
                  <a:pt x="379039" y="906780"/>
                </a:lnTo>
                <a:lnTo>
                  <a:pt x="368004" y="905510"/>
                </a:lnTo>
                <a:lnTo>
                  <a:pt x="346109" y="900430"/>
                </a:lnTo>
                <a:lnTo>
                  <a:pt x="335262" y="896620"/>
                </a:lnTo>
                <a:lnTo>
                  <a:pt x="324481" y="894080"/>
                </a:lnTo>
                <a:lnTo>
                  <a:pt x="271920" y="875030"/>
                </a:lnTo>
                <a:lnTo>
                  <a:pt x="261721" y="869950"/>
                </a:lnTo>
                <a:lnTo>
                  <a:pt x="231843" y="854710"/>
                </a:lnTo>
                <a:lnTo>
                  <a:pt x="222152" y="848360"/>
                </a:lnTo>
                <a:lnTo>
                  <a:pt x="212601" y="843280"/>
                </a:lnTo>
                <a:lnTo>
                  <a:pt x="203193" y="836930"/>
                </a:lnTo>
                <a:lnTo>
                  <a:pt x="193937" y="830580"/>
                </a:lnTo>
                <a:lnTo>
                  <a:pt x="184846" y="824230"/>
                </a:lnTo>
                <a:lnTo>
                  <a:pt x="175918" y="816610"/>
                </a:lnTo>
                <a:lnTo>
                  <a:pt x="167155" y="810260"/>
                </a:lnTo>
                <a:lnTo>
                  <a:pt x="133910" y="779780"/>
                </a:lnTo>
                <a:lnTo>
                  <a:pt x="118436" y="763270"/>
                </a:lnTo>
                <a:lnTo>
                  <a:pt x="111006" y="755650"/>
                </a:lnTo>
                <a:lnTo>
                  <a:pt x="83402" y="720090"/>
                </a:lnTo>
                <a:lnTo>
                  <a:pt x="70930" y="701040"/>
                </a:lnTo>
                <a:lnTo>
                  <a:pt x="65046" y="692150"/>
                </a:lnTo>
                <a:lnTo>
                  <a:pt x="43895" y="651510"/>
                </a:lnTo>
                <a:lnTo>
                  <a:pt x="26725" y="610870"/>
                </a:lnTo>
                <a:lnTo>
                  <a:pt x="23076" y="599440"/>
                </a:lnTo>
                <a:lnTo>
                  <a:pt x="19686" y="589280"/>
                </a:lnTo>
                <a:lnTo>
                  <a:pt x="8784" y="546100"/>
                </a:lnTo>
                <a:lnTo>
                  <a:pt x="2201" y="501650"/>
                </a:lnTo>
                <a:lnTo>
                  <a:pt x="0" y="457200"/>
                </a:lnTo>
                <a:lnTo>
                  <a:pt x="137" y="445770"/>
                </a:lnTo>
                <a:lnTo>
                  <a:pt x="3438" y="400050"/>
                </a:lnTo>
                <a:lnTo>
                  <a:pt x="13701" y="345440"/>
                </a:lnTo>
                <a:lnTo>
                  <a:pt x="23076" y="313690"/>
                </a:lnTo>
                <a:lnTo>
                  <a:pt x="26725" y="302260"/>
                </a:lnTo>
                <a:lnTo>
                  <a:pt x="43895" y="261620"/>
                </a:lnTo>
                <a:lnTo>
                  <a:pt x="65046" y="220980"/>
                </a:lnTo>
                <a:lnTo>
                  <a:pt x="70930" y="212090"/>
                </a:lnTo>
                <a:lnTo>
                  <a:pt x="77052" y="201930"/>
                </a:lnTo>
                <a:lnTo>
                  <a:pt x="103779" y="166370"/>
                </a:lnTo>
                <a:lnTo>
                  <a:pt x="118436" y="149860"/>
                </a:lnTo>
                <a:lnTo>
                  <a:pt x="126071" y="140970"/>
                </a:lnTo>
                <a:lnTo>
                  <a:pt x="158566" y="110490"/>
                </a:lnTo>
                <a:lnTo>
                  <a:pt x="175918" y="96520"/>
                </a:lnTo>
                <a:lnTo>
                  <a:pt x="184846" y="88900"/>
                </a:lnTo>
                <a:lnTo>
                  <a:pt x="193937" y="82550"/>
                </a:lnTo>
                <a:lnTo>
                  <a:pt x="203193" y="76200"/>
                </a:lnTo>
                <a:lnTo>
                  <a:pt x="212601" y="69850"/>
                </a:lnTo>
                <a:lnTo>
                  <a:pt x="222152" y="64770"/>
                </a:lnTo>
                <a:lnTo>
                  <a:pt x="231843" y="58420"/>
                </a:lnTo>
                <a:lnTo>
                  <a:pt x="241677" y="53340"/>
                </a:lnTo>
                <a:lnTo>
                  <a:pt x="271920" y="38100"/>
                </a:lnTo>
                <a:lnTo>
                  <a:pt x="324481" y="19050"/>
                </a:lnTo>
                <a:lnTo>
                  <a:pt x="335262" y="16510"/>
                </a:lnTo>
                <a:lnTo>
                  <a:pt x="346109" y="12700"/>
                </a:lnTo>
                <a:lnTo>
                  <a:pt x="368004" y="7620"/>
                </a:lnTo>
                <a:lnTo>
                  <a:pt x="379039" y="6350"/>
                </a:lnTo>
                <a:lnTo>
                  <a:pt x="390114" y="3810"/>
                </a:lnTo>
                <a:lnTo>
                  <a:pt x="423569" y="0"/>
                </a:lnTo>
                <a:lnTo>
                  <a:pt x="490830" y="0"/>
                </a:lnTo>
                <a:lnTo>
                  <a:pt x="524285" y="3810"/>
                </a:lnTo>
                <a:lnTo>
                  <a:pt x="535360" y="6350"/>
                </a:lnTo>
                <a:lnTo>
                  <a:pt x="546395" y="7620"/>
                </a:lnTo>
                <a:lnTo>
                  <a:pt x="568290" y="12700"/>
                </a:lnTo>
                <a:lnTo>
                  <a:pt x="579137" y="16510"/>
                </a:lnTo>
                <a:lnTo>
                  <a:pt x="589918" y="19050"/>
                </a:lnTo>
                <a:lnTo>
                  <a:pt x="642479" y="38100"/>
                </a:lnTo>
                <a:lnTo>
                  <a:pt x="672722" y="53340"/>
                </a:lnTo>
                <a:lnTo>
                  <a:pt x="682556" y="58420"/>
                </a:lnTo>
                <a:lnTo>
                  <a:pt x="692247" y="64770"/>
                </a:lnTo>
                <a:lnTo>
                  <a:pt x="701798" y="69850"/>
                </a:lnTo>
                <a:lnTo>
                  <a:pt x="711206" y="76200"/>
                </a:lnTo>
                <a:lnTo>
                  <a:pt x="720462" y="82550"/>
                </a:lnTo>
                <a:lnTo>
                  <a:pt x="729553" y="88900"/>
                </a:lnTo>
                <a:lnTo>
                  <a:pt x="738481" y="96520"/>
                </a:lnTo>
                <a:lnTo>
                  <a:pt x="747244" y="102870"/>
                </a:lnTo>
                <a:lnTo>
                  <a:pt x="780489" y="133350"/>
                </a:lnTo>
                <a:lnTo>
                  <a:pt x="795963" y="149860"/>
                </a:lnTo>
                <a:lnTo>
                  <a:pt x="803393" y="157480"/>
                </a:lnTo>
                <a:lnTo>
                  <a:pt x="830997" y="193040"/>
                </a:lnTo>
                <a:lnTo>
                  <a:pt x="843468" y="212090"/>
                </a:lnTo>
                <a:lnTo>
                  <a:pt x="849353" y="220980"/>
                </a:lnTo>
                <a:lnTo>
                  <a:pt x="870504" y="261620"/>
                </a:lnTo>
                <a:lnTo>
                  <a:pt x="886697" y="299720"/>
                </a:lnTo>
                <a:lnTo>
                  <a:pt x="628627" y="299720"/>
                </a:lnTo>
                <a:lnTo>
                  <a:pt x="612495" y="302260"/>
                </a:lnTo>
                <a:lnTo>
                  <a:pt x="598289" y="312420"/>
                </a:lnTo>
                <a:lnTo>
                  <a:pt x="496628" y="414020"/>
                </a:lnTo>
                <a:lnTo>
                  <a:pt x="285906" y="414020"/>
                </a:lnTo>
                <a:lnTo>
                  <a:pt x="269774" y="416560"/>
                </a:lnTo>
                <a:lnTo>
                  <a:pt x="255567" y="426720"/>
                </a:lnTo>
                <a:lnTo>
                  <a:pt x="246124" y="440690"/>
                </a:lnTo>
                <a:lnTo>
                  <a:pt x="242976" y="457200"/>
                </a:lnTo>
                <a:lnTo>
                  <a:pt x="246124" y="472440"/>
                </a:lnTo>
                <a:lnTo>
                  <a:pt x="255567" y="486410"/>
                </a:lnTo>
                <a:lnTo>
                  <a:pt x="369867" y="600710"/>
                </a:lnTo>
                <a:lnTo>
                  <a:pt x="383973" y="610870"/>
                </a:lnTo>
                <a:lnTo>
                  <a:pt x="400072" y="613410"/>
                </a:lnTo>
                <a:lnTo>
                  <a:pt x="886697" y="613410"/>
                </a:lnTo>
                <a:lnTo>
                  <a:pt x="883765" y="621030"/>
                </a:lnTo>
                <a:lnTo>
                  <a:pt x="865583" y="661670"/>
                </a:lnTo>
                <a:lnTo>
                  <a:pt x="843468" y="701040"/>
                </a:lnTo>
                <a:lnTo>
                  <a:pt x="837347" y="711200"/>
                </a:lnTo>
                <a:lnTo>
                  <a:pt x="810620" y="746760"/>
                </a:lnTo>
                <a:lnTo>
                  <a:pt x="795963" y="763270"/>
                </a:lnTo>
                <a:lnTo>
                  <a:pt x="788328" y="772160"/>
                </a:lnTo>
                <a:lnTo>
                  <a:pt x="755833" y="802640"/>
                </a:lnTo>
                <a:lnTo>
                  <a:pt x="738481" y="816610"/>
                </a:lnTo>
                <a:lnTo>
                  <a:pt x="729553" y="824230"/>
                </a:lnTo>
                <a:lnTo>
                  <a:pt x="720462" y="830580"/>
                </a:lnTo>
                <a:lnTo>
                  <a:pt x="711206" y="836930"/>
                </a:lnTo>
                <a:lnTo>
                  <a:pt x="701798" y="843280"/>
                </a:lnTo>
                <a:lnTo>
                  <a:pt x="692247" y="848360"/>
                </a:lnTo>
                <a:lnTo>
                  <a:pt x="682556" y="854710"/>
                </a:lnTo>
                <a:lnTo>
                  <a:pt x="652678" y="869950"/>
                </a:lnTo>
                <a:lnTo>
                  <a:pt x="642479" y="875030"/>
                </a:lnTo>
                <a:lnTo>
                  <a:pt x="589918" y="894080"/>
                </a:lnTo>
                <a:lnTo>
                  <a:pt x="579137" y="896620"/>
                </a:lnTo>
                <a:lnTo>
                  <a:pt x="568290" y="900430"/>
                </a:lnTo>
                <a:lnTo>
                  <a:pt x="546395" y="905510"/>
                </a:lnTo>
                <a:lnTo>
                  <a:pt x="535360" y="906780"/>
                </a:lnTo>
                <a:lnTo>
                  <a:pt x="524285" y="909320"/>
                </a:lnTo>
                <a:lnTo>
                  <a:pt x="490830" y="913130"/>
                </a:lnTo>
                <a:close/>
              </a:path>
              <a:path w="914400" h="914400">
                <a:moveTo>
                  <a:pt x="886697" y="613410"/>
                </a:moveTo>
                <a:lnTo>
                  <a:pt x="400072" y="613410"/>
                </a:lnTo>
                <a:lnTo>
                  <a:pt x="416204" y="610870"/>
                </a:lnTo>
                <a:lnTo>
                  <a:pt x="430410" y="600710"/>
                </a:lnTo>
                <a:lnTo>
                  <a:pt x="658921" y="372199"/>
                </a:lnTo>
                <a:lnTo>
                  <a:pt x="658888" y="372027"/>
                </a:lnTo>
                <a:lnTo>
                  <a:pt x="668250" y="358140"/>
                </a:lnTo>
                <a:lnTo>
                  <a:pt x="658832" y="312420"/>
                </a:lnTo>
                <a:lnTo>
                  <a:pt x="628627" y="299720"/>
                </a:lnTo>
                <a:lnTo>
                  <a:pt x="886697" y="299720"/>
                </a:lnTo>
                <a:lnTo>
                  <a:pt x="887674" y="302260"/>
                </a:lnTo>
                <a:lnTo>
                  <a:pt x="891323" y="313690"/>
                </a:lnTo>
                <a:lnTo>
                  <a:pt x="894713" y="323850"/>
                </a:lnTo>
                <a:lnTo>
                  <a:pt x="897839" y="334010"/>
                </a:lnTo>
                <a:lnTo>
                  <a:pt x="900698" y="345440"/>
                </a:lnTo>
                <a:lnTo>
                  <a:pt x="905614" y="367030"/>
                </a:lnTo>
                <a:lnTo>
                  <a:pt x="906513" y="372027"/>
                </a:lnTo>
                <a:lnTo>
                  <a:pt x="906544" y="372199"/>
                </a:lnTo>
                <a:lnTo>
                  <a:pt x="658921" y="372199"/>
                </a:lnTo>
                <a:lnTo>
                  <a:pt x="658462" y="372658"/>
                </a:lnTo>
                <a:lnTo>
                  <a:pt x="906626" y="372658"/>
                </a:lnTo>
                <a:lnTo>
                  <a:pt x="907669" y="378460"/>
                </a:lnTo>
                <a:lnTo>
                  <a:pt x="913161" y="422910"/>
                </a:lnTo>
                <a:lnTo>
                  <a:pt x="914400" y="457200"/>
                </a:lnTo>
                <a:lnTo>
                  <a:pt x="914262" y="467360"/>
                </a:lnTo>
                <a:lnTo>
                  <a:pt x="910961" y="513080"/>
                </a:lnTo>
                <a:lnTo>
                  <a:pt x="900698" y="567690"/>
                </a:lnTo>
                <a:lnTo>
                  <a:pt x="891323" y="599440"/>
                </a:lnTo>
                <a:lnTo>
                  <a:pt x="887674" y="610870"/>
                </a:lnTo>
                <a:lnTo>
                  <a:pt x="886697" y="613410"/>
                </a:lnTo>
                <a:close/>
              </a:path>
              <a:path w="914400" h="914400">
                <a:moveTo>
                  <a:pt x="400050" y="510540"/>
                </a:moveTo>
                <a:lnTo>
                  <a:pt x="316110" y="426720"/>
                </a:lnTo>
                <a:lnTo>
                  <a:pt x="302004" y="416560"/>
                </a:lnTo>
                <a:lnTo>
                  <a:pt x="285906" y="414020"/>
                </a:lnTo>
                <a:lnTo>
                  <a:pt x="496628" y="414020"/>
                </a:lnTo>
                <a:lnTo>
                  <a:pt x="400050" y="510540"/>
                </a:lnTo>
                <a:close/>
              </a:path>
              <a:path w="914400" h="914400">
                <a:moveTo>
                  <a:pt x="457200" y="914400"/>
                </a:moveTo>
                <a:lnTo>
                  <a:pt x="445976" y="913130"/>
                </a:lnTo>
                <a:lnTo>
                  <a:pt x="468423" y="913130"/>
                </a:lnTo>
                <a:lnTo>
                  <a:pt x="457200" y="914400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80347" y="2125821"/>
            <a:ext cx="2031364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00" dirty="0"/>
              <a:t>Obrigado!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833562" y="2913539"/>
            <a:ext cx="836263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pt-BR" sz="2000" b="0" spc="-135" dirty="0">
                <a:solidFill>
                  <a:srgbClr val="3398DA"/>
                </a:solidFill>
                <a:latin typeface="Roboto Medium"/>
                <a:cs typeface="Roboto Medium"/>
              </a:rPr>
              <a:t>SPSO+AP+AD: Otimização por Enxame de Partículas Baseada em Espécies para Problemas Dinâmicos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828799" y="4133056"/>
            <a:ext cx="4038600" cy="1809750"/>
            <a:chOff x="1828799" y="3771899"/>
            <a:chExt cx="4038600" cy="1809750"/>
          </a:xfrm>
        </p:grpSpPr>
        <p:sp>
          <p:nvSpPr>
            <p:cNvPr id="6" name="object 6"/>
            <p:cNvSpPr/>
            <p:nvPr/>
          </p:nvSpPr>
          <p:spPr>
            <a:xfrm>
              <a:off x="1833562" y="3776662"/>
              <a:ext cx="4029075" cy="1800225"/>
            </a:xfrm>
            <a:custGeom>
              <a:avLst/>
              <a:gdLst/>
              <a:ahLst/>
              <a:cxnLst/>
              <a:rect l="l" t="t" r="r" b="b"/>
              <a:pathLst>
                <a:path w="4029075" h="1800225">
                  <a:moveTo>
                    <a:pt x="3962327" y="1800224"/>
                  </a:moveTo>
                  <a:lnTo>
                    <a:pt x="66746" y="1800224"/>
                  </a:lnTo>
                  <a:lnTo>
                    <a:pt x="62101" y="1799767"/>
                  </a:lnTo>
                  <a:lnTo>
                    <a:pt x="24240" y="1782617"/>
                  </a:lnTo>
                  <a:lnTo>
                    <a:pt x="2287" y="1747323"/>
                  </a:lnTo>
                  <a:lnTo>
                    <a:pt x="0" y="1733477"/>
                  </a:lnTo>
                  <a:lnTo>
                    <a:pt x="0" y="1728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3962327" y="0"/>
                  </a:lnTo>
                  <a:lnTo>
                    <a:pt x="4001225" y="14645"/>
                  </a:lnTo>
                  <a:lnTo>
                    <a:pt x="4025431" y="48432"/>
                  </a:lnTo>
                  <a:lnTo>
                    <a:pt x="4029074" y="66746"/>
                  </a:lnTo>
                  <a:lnTo>
                    <a:pt x="4029074" y="1733477"/>
                  </a:lnTo>
                  <a:lnTo>
                    <a:pt x="4014429" y="1772375"/>
                  </a:lnTo>
                  <a:lnTo>
                    <a:pt x="3980641" y="1796580"/>
                  </a:lnTo>
                  <a:lnTo>
                    <a:pt x="3966973" y="1799767"/>
                  </a:lnTo>
                  <a:lnTo>
                    <a:pt x="3962327" y="180022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33562" y="3776662"/>
              <a:ext cx="4029075" cy="1800225"/>
            </a:xfrm>
            <a:custGeom>
              <a:avLst/>
              <a:gdLst/>
              <a:ahLst/>
              <a:cxnLst/>
              <a:rect l="l" t="t" r="r" b="b"/>
              <a:pathLst>
                <a:path w="4029075" h="1800225">
                  <a:moveTo>
                    <a:pt x="0" y="1728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957637" y="0"/>
                  </a:lnTo>
                  <a:lnTo>
                    <a:pt x="3962327" y="0"/>
                  </a:lnTo>
                  <a:lnTo>
                    <a:pt x="3966973" y="457"/>
                  </a:lnTo>
                  <a:lnTo>
                    <a:pt x="4004833" y="17606"/>
                  </a:lnTo>
                  <a:lnTo>
                    <a:pt x="4026786" y="52899"/>
                  </a:lnTo>
                  <a:lnTo>
                    <a:pt x="4029074" y="66746"/>
                  </a:lnTo>
                  <a:lnTo>
                    <a:pt x="4029074" y="71437"/>
                  </a:lnTo>
                  <a:lnTo>
                    <a:pt x="4029074" y="1728787"/>
                  </a:lnTo>
                  <a:lnTo>
                    <a:pt x="4029074" y="1733477"/>
                  </a:lnTo>
                  <a:lnTo>
                    <a:pt x="4028617" y="1738123"/>
                  </a:lnTo>
                  <a:lnTo>
                    <a:pt x="4011467" y="1775983"/>
                  </a:lnTo>
                  <a:lnTo>
                    <a:pt x="3976173" y="1797935"/>
                  </a:lnTo>
                  <a:lnTo>
                    <a:pt x="3971573" y="1798851"/>
                  </a:lnTo>
                  <a:lnTo>
                    <a:pt x="3966973" y="1799767"/>
                  </a:lnTo>
                  <a:lnTo>
                    <a:pt x="3962327" y="1800224"/>
                  </a:lnTo>
                  <a:lnTo>
                    <a:pt x="3957637" y="1800224"/>
                  </a:lnTo>
                  <a:lnTo>
                    <a:pt x="71437" y="1800224"/>
                  </a:lnTo>
                  <a:lnTo>
                    <a:pt x="66746" y="1800224"/>
                  </a:lnTo>
                  <a:lnTo>
                    <a:pt x="62101" y="1799767"/>
                  </a:lnTo>
                  <a:lnTo>
                    <a:pt x="57500" y="1798851"/>
                  </a:lnTo>
                  <a:lnTo>
                    <a:pt x="52900" y="1797935"/>
                  </a:lnTo>
                  <a:lnTo>
                    <a:pt x="20923" y="1779300"/>
                  </a:lnTo>
                  <a:lnTo>
                    <a:pt x="17606" y="1775983"/>
                  </a:lnTo>
                  <a:lnTo>
                    <a:pt x="1372" y="1742723"/>
                  </a:lnTo>
                  <a:lnTo>
                    <a:pt x="457" y="1738123"/>
                  </a:lnTo>
                  <a:lnTo>
                    <a:pt x="0" y="1733477"/>
                  </a:lnTo>
                  <a:lnTo>
                    <a:pt x="0" y="1728787"/>
                  </a:lnTo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16100" y="3689350"/>
            <a:ext cx="1755139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b="1" spc="-85" dirty="0">
                <a:solidFill>
                  <a:srgbClr val="374050"/>
                </a:solidFill>
                <a:latin typeface="Roboto"/>
                <a:cs typeface="Roboto"/>
              </a:rPr>
              <a:t>Referência</a:t>
            </a:r>
            <a:r>
              <a:rPr sz="1650" b="1" spc="-10" dirty="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sz="1650" b="1" spc="-60" dirty="0">
                <a:solidFill>
                  <a:srgbClr val="374050"/>
                </a:solidFill>
                <a:latin typeface="Roboto"/>
                <a:cs typeface="Roboto"/>
              </a:rPr>
              <a:t>Principal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6125" y="4302427"/>
            <a:ext cx="3657600" cy="11684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150" spc="-85" dirty="0">
                <a:solidFill>
                  <a:srgbClr val="333A40"/>
                </a:solidFill>
                <a:latin typeface="Arial"/>
                <a:cs typeface="Arial"/>
              </a:rPr>
              <a:t>Yazdani,</a:t>
            </a:r>
            <a:r>
              <a:rPr sz="115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120" dirty="0">
                <a:solidFill>
                  <a:srgbClr val="333A40"/>
                </a:solidFill>
                <a:latin typeface="Arial"/>
                <a:cs typeface="Arial"/>
              </a:rPr>
              <a:t>D.,</a:t>
            </a:r>
            <a:r>
              <a:rPr sz="115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85" dirty="0">
                <a:solidFill>
                  <a:srgbClr val="333A40"/>
                </a:solidFill>
                <a:latin typeface="Arial"/>
                <a:cs typeface="Arial"/>
              </a:rPr>
              <a:t>Yazdani,</a:t>
            </a:r>
            <a:r>
              <a:rPr sz="115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120" dirty="0">
                <a:solidFill>
                  <a:srgbClr val="333A40"/>
                </a:solidFill>
                <a:latin typeface="Arial"/>
                <a:cs typeface="Arial"/>
              </a:rPr>
              <a:t>D.,</a:t>
            </a:r>
            <a:r>
              <a:rPr sz="115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85" dirty="0">
                <a:solidFill>
                  <a:srgbClr val="333A40"/>
                </a:solidFill>
                <a:latin typeface="Arial"/>
                <a:cs typeface="Arial"/>
              </a:rPr>
              <a:t>Yazdani,</a:t>
            </a:r>
            <a:r>
              <a:rPr sz="115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120" dirty="0">
                <a:solidFill>
                  <a:srgbClr val="333A40"/>
                </a:solidFill>
                <a:latin typeface="Arial"/>
                <a:cs typeface="Arial"/>
              </a:rPr>
              <a:t>D.,</a:t>
            </a:r>
            <a:r>
              <a:rPr sz="115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85" dirty="0">
                <a:solidFill>
                  <a:srgbClr val="333A40"/>
                </a:solidFill>
                <a:latin typeface="Arial"/>
                <a:cs typeface="Arial"/>
              </a:rPr>
              <a:t>Omidvar,</a:t>
            </a:r>
            <a:r>
              <a:rPr sz="115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55" dirty="0">
                <a:solidFill>
                  <a:srgbClr val="333A40"/>
                </a:solidFill>
                <a:latin typeface="Arial"/>
                <a:cs typeface="Arial"/>
              </a:rPr>
              <a:t>M.</a:t>
            </a:r>
            <a:r>
              <a:rPr sz="115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85" dirty="0">
                <a:solidFill>
                  <a:srgbClr val="333A40"/>
                </a:solidFill>
                <a:latin typeface="Arial"/>
                <a:cs typeface="Arial"/>
              </a:rPr>
              <a:t>N.,</a:t>
            </a:r>
            <a:r>
              <a:rPr sz="115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333A40"/>
                </a:solidFill>
                <a:latin typeface="Arial"/>
                <a:cs typeface="Arial"/>
              </a:rPr>
              <a:t>Gandomi,</a:t>
            </a:r>
            <a:endParaRPr sz="1150" dirty="0">
              <a:latin typeface="Arial"/>
              <a:cs typeface="Arial"/>
            </a:endParaRPr>
          </a:p>
          <a:p>
            <a:pPr marL="12700" marR="5080">
              <a:lnSpc>
                <a:spcPct val="106400"/>
              </a:lnSpc>
              <a:spcBef>
                <a:spcPts val="30"/>
              </a:spcBef>
            </a:pPr>
            <a:r>
              <a:rPr sz="1150" spc="-70" dirty="0">
                <a:solidFill>
                  <a:srgbClr val="333A40"/>
                </a:solidFill>
                <a:latin typeface="Arial"/>
                <a:cs typeface="Arial"/>
              </a:rPr>
              <a:t>A.</a:t>
            </a:r>
            <a:r>
              <a:rPr sz="1150" spc="-4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85" dirty="0">
                <a:solidFill>
                  <a:srgbClr val="333A40"/>
                </a:solidFill>
                <a:latin typeface="Arial"/>
                <a:cs typeface="Arial"/>
              </a:rPr>
              <a:t>H.,</a:t>
            </a:r>
            <a:r>
              <a:rPr sz="115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120" dirty="0">
                <a:solidFill>
                  <a:srgbClr val="333A40"/>
                </a:solidFill>
                <a:latin typeface="Arial"/>
                <a:cs typeface="Arial"/>
              </a:rPr>
              <a:t>&amp;</a:t>
            </a:r>
            <a:r>
              <a:rPr sz="115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105" dirty="0">
                <a:solidFill>
                  <a:srgbClr val="333A40"/>
                </a:solidFill>
                <a:latin typeface="Arial"/>
                <a:cs typeface="Arial"/>
              </a:rPr>
              <a:t>Yao,</a:t>
            </a:r>
            <a:r>
              <a:rPr sz="115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85" dirty="0">
                <a:solidFill>
                  <a:srgbClr val="333A40"/>
                </a:solidFill>
                <a:latin typeface="Arial"/>
                <a:cs typeface="Arial"/>
              </a:rPr>
              <a:t>X.</a:t>
            </a:r>
            <a:r>
              <a:rPr sz="115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50" dirty="0">
                <a:solidFill>
                  <a:srgbClr val="333A40"/>
                </a:solidFill>
                <a:latin typeface="Arial"/>
                <a:cs typeface="Arial"/>
              </a:rPr>
              <a:t>(2023).</a:t>
            </a:r>
            <a:r>
              <a:rPr sz="115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90" dirty="0">
                <a:solidFill>
                  <a:srgbClr val="333A40"/>
                </a:solidFill>
                <a:latin typeface="Arial"/>
                <a:cs typeface="Arial"/>
              </a:rPr>
              <a:t>A</a:t>
            </a:r>
            <a:r>
              <a:rPr sz="115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75" dirty="0">
                <a:solidFill>
                  <a:srgbClr val="333A40"/>
                </a:solidFill>
                <a:latin typeface="Arial"/>
                <a:cs typeface="Arial"/>
              </a:rPr>
              <a:t>Species-</a:t>
            </a:r>
            <a:r>
              <a:rPr sz="1150" spc="-65" dirty="0">
                <a:solidFill>
                  <a:srgbClr val="333A40"/>
                </a:solidFill>
                <a:latin typeface="Arial"/>
                <a:cs typeface="Arial"/>
              </a:rPr>
              <a:t>based</a:t>
            </a:r>
            <a:r>
              <a:rPr sz="1150" spc="-40" dirty="0">
                <a:solidFill>
                  <a:srgbClr val="333A40"/>
                </a:solidFill>
                <a:latin typeface="Arial"/>
                <a:cs typeface="Arial"/>
              </a:rPr>
              <a:t> Particle </a:t>
            </a:r>
            <a:r>
              <a:rPr sz="1150" spc="-20" dirty="0">
                <a:solidFill>
                  <a:srgbClr val="333A40"/>
                </a:solidFill>
                <a:latin typeface="Arial"/>
                <a:cs typeface="Arial"/>
              </a:rPr>
              <a:t>Swarm </a:t>
            </a:r>
            <a:r>
              <a:rPr sz="1150" spc="-45" dirty="0">
                <a:solidFill>
                  <a:srgbClr val="333A40"/>
                </a:solidFill>
                <a:latin typeface="Arial"/>
                <a:cs typeface="Arial"/>
              </a:rPr>
              <a:t>Optimization</a:t>
            </a:r>
            <a:r>
              <a:rPr sz="115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333A40"/>
                </a:solidFill>
                <a:latin typeface="Arial"/>
                <a:cs typeface="Arial"/>
              </a:rPr>
              <a:t>with</a:t>
            </a:r>
            <a:r>
              <a:rPr sz="115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55" dirty="0">
                <a:solidFill>
                  <a:srgbClr val="333A40"/>
                </a:solidFill>
                <a:latin typeface="Arial"/>
                <a:cs typeface="Arial"/>
              </a:rPr>
              <a:t>Adaptive</a:t>
            </a:r>
            <a:r>
              <a:rPr sz="115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50" dirty="0">
                <a:solidFill>
                  <a:srgbClr val="333A40"/>
                </a:solidFill>
                <a:latin typeface="Arial"/>
                <a:cs typeface="Arial"/>
              </a:rPr>
              <a:t>Population</a:t>
            </a:r>
            <a:r>
              <a:rPr sz="115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80" dirty="0">
                <a:solidFill>
                  <a:srgbClr val="333A40"/>
                </a:solidFill>
                <a:latin typeface="Arial"/>
                <a:cs typeface="Arial"/>
              </a:rPr>
              <a:t>Size</a:t>
            </a:r>
            <a:r>
              <a:rPr sz="115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65" dirty="0">
                <a:solidFill>
                  <a:srgbClr val="333A40"/>
                </a:solidFill>
                <a:latin typeface="Arial"/>
                <a:cs typeface="Arial"/>
              </a:rPr>
              <a:t>and</a:t>
            </a:r>
            <a:r>
              <a:rPr sz="1150" spc="-3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333A40"/>
                </a:solidFill>
                <a:latin typeface="Arial"/>
                <a:cs typeface="Arial"/>
              </a:rPr>
              <a:t>Deactivation </a:t>
            </a:r>
            <a:r>
              <a:rPr sz="1150" dirty="0">
                <a:solidFill>
                  <a:srgbClr val="333A40"/>
                </a:solidFill>
                <a:latin typeface="Arial"/>
                <a:cs typeface="Arial"/>
              </a:rPr>
              <a:t>of</a:t>
            </a:r>
            <a:r>
              <a:rPr sz="115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70" dirty="0">
                <a:solidFill>
                  <a:srgbClr val="333A40"/>
                </a:solidFill>
                <a:latin typeface="Arial"/>
                <a:cs typeface="Arial"/>
              </a:rPr>
              <a:t>Species</a:t>
            </a:r>
            <a:r>
              <a:rPr sz="1150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333A40"/>
                </a:solidFill>
                <a:latin typeface="Arial"/>
                <a:cs typeface="Arial"/>
              </a:rPr>
              <a:t>for</a:t>
            </a:r>
            <a:r>
              <a:rPr sz="1150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70" dirty="0">
                <a:solidFill>
                  <a:srgbClr val="333A40"/>
                </a:solidFill>
                <a:latin typeface="Arial"/>
                <a:cs typeface="Arial"/>
              </a:rPr>
              <a:t>Dynamic</a:t>
            </a:r>
            <a:r>
              <a:rPr sz="1150" spc="-3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45" dirty="0">
                <a:solidFill>
                  <a:srgbClr val="333A40"/>
                </a:solidFill>
                <a:latin typeface="Arial"/>
                <a:cs typeface="Arial"/>
              </a:rPr>
              <a:t>Optimization</a:t>
            </a:r>
            <a:r>
              <a:rPr sz="1150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55" dirty="0">
                <a:solidFill>
                  <a:srgbClr val="333A40"/>
                </a:solidFill>
                <a:latin typeface="Arial"/>
                <a:cs typeface="Arial"/>
              </a:rPr>
              <a:t>Problems.</a:t>
            </a:r>
            <a:r>
              <a:rPr sz="1150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200" i="1" spc="-25" dirty="0">
                <a:solidFill>
                  <a:srgbClr val="333A40"/>
                </a:solidFill>
                <a:latin typeface="Arial"/>
                <a:cs typeface="Arial"/>
              </a:rPr>
              <a:t>ACM </a:t>
            </a:r>
            <a:r>
              <a:rPr sz="1200" i="1" spc="-80" dirty="0">
                <a:solidFill>
                  <a:srgbClr val="333A40"/>
                </a:solidFill>
                <a:latin typeface="Arial"/>
                <a:cs typeface="Arial"/>
              </a:rPr>
              <a:t>Transactions</a:t>
            </a:r>
            <a:r>
              <a:rPr sz="1200" i="1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200" i="1" spc="-85" dirty="0">
                <a:solidFill>
                  <a:srgbClr val="333A40"/>
                </a:solidFill>
                <a:latin typeface="Arial"/>
                <a:cs typeface="Arial"/>
              </a:rPr>
              <a:t>on</a:t>
            </a:r>
            <a:r>
              <a:rPr sz="1200" i="1" spc="-2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200" i="1" spc="-85" dirty="0">
                <a:solidFill>
                  <a:srgbClr val="333A40"/>
                </a:solidFill>
                <a:latin typeface="Arial"/>
                <a:cs typeface="Arial"/>
              </a:rPr>
              <a:t>Evolutionary</a:t>
            </a:r>
            <a:r>
              <a:rPr sz="1200" i="1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200" i="1" spc="-90" dirty="0">
                <a:solidFill>
                  <a:srgbClr val="333A40"/>
                </a:solidFill>
                <a:latin typeface="Arial"/>
                <a:cs typeface="Arial"/>
              </a:rPr>
              <a:t>Learning</a:t>
            </a:r>
            <a:r>
              <a:rPr sz="1200" i="1" spc="-2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200" i="1" spc="-95" dirty="0">
                <a:solidFill>
                  <a:srgbClr val="333A40"/>
                </a:solidFill>
                <a:latin typeface="Arial"/>
                <a:cs typeface="Arial"/>
              </a:rPr>
              <a:t>and</a:t>
            </a:r>
            <a:r>
              <a:rPr sz="1200" i="1" spc="-2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333A40"/>
                </a:solidFill>
                <a:latin typeface="Arial"/>
                <a:cs typeface="Arial"/>
              </a:rPr>
              <a:t>Optimization</a:t>
            </a:r>
            <a:r>
              <a:rPr sz="1150" spc="-70" dirty="0">
                <a:solidFill>
                  <a:srgbClr val="333A40"/>
                </a:solidFill>
                <a:latin typeface="Arial"/>
                <a:cs typeface="Arial"/>
              </a:rPr>
              <a:t>,</a:t>
            </a:r>
            <a:r>
              <a:rPr sz="1150" spc="-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333A40"/>
                </a:solidFill>
                <a:latin typeface="Arial"/>
                <a:cs typeface="Arial"/>
              </a:rPr>
              <a:t>3(4), </a:t>
            </a:r>
            <a:r>
              <a:rPr sz="1150" spc="-30" dirty="0">
                <a:solidFill>
                  <a:srgbClr val="333A40"/>
                </a:solidFill>
                <a:latin typeface="Arial"/>
                <a:cs typeface="Arial"/>
              </a:rPr>
              <a:t>Article</a:t>
            </a:r>
            <a:r>
              <a:rPr sz="115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50" spc="-25" dirty="0">
                <a:solidFill>
                  <a:srgbClr val="333A40"/>
                </a:solidFill>
                <a:latin typeface="Arial"/>
                <a:cs typeface="Arial"/>
              </a:rPr>
              <a:t>14.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6125" y="5534104"/>
            <a:ext cx="1370965" cy="2038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105" dirty="0">
                <a:solidFill>
                  <a:srgbClr val="333A40"/>
                </a:solidFill>
                <a:latin typeface="Arial"/>
                <a:cs typeface="Arial"/>
              </a:rPr>
              <a:t>DOI:</a:t>
            </a:r>
            <a:r>
              <a:rPr sz="1150" spc="-6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100" b="0" spc="-40" dirty="0">
                <a:solidFill>
                  <a:srgbClr val="2562EB"/>
                </a:solidFill>
                <a:latin typeface="Ubuntu Light"/>
                <a:cs typeface="Ubuntu Light"/>
                <a:hlinkClick r:id="rId2"/>
              </a:rPr>
              <a:t>10.1145/3604812</a:t>
            </a:r>
            <a:endParaRPr sz="1100">
              <a:latin typeface="Ubuntu Light"/>
              <a:cs typeface="Ubuntu Ligh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24598" y="4133056"/>
            <a:ext cx="4038600" cy="1314450"/>
            <a:chOff x="6324598" y="3771899"/>
            <a:chExt cx="4038600" cy="1314450"/>
          </a:xfrm>
        </p:grpSpPr>
        <p:sp>
          <p:nvSpPr>
            <p:cNvPr id="17" name="object 17"/>
            <p:cNvSpPr/>
            <p:nvPr/>
          </p:nvSpPr>
          <p:spPr>
            <a:xfrm>
              <a:off x="6329360" y="3776662"/>
              <a:ext cx="4029075" cy="1304925"/>
            </a:xfrm>
            <a:custGeom>
              <a:avLst/>
              <a:gdLst/>
              <a:ahLst/>
              <a:cxnLst/>
              <a:rect l="l" t="t" r="r" b="b"/>
              <a:pathLst>
                <a:path w="4029075" h="1304925">
                  <a:moveTo>
                    <a:pt x="3962329" y="1304924"/>
                  </a:moveTo>
                  <a:lnTo>
                    <a:pt x="66747" y="1304924"/>
                  </a:lnTo>
                  <a:lnTo>
                    <a:pt x="62101" y="1304466"/>
                  </a:lnTo>
                  <a:lnTo>
                    <a:pt x="24240" y="1287317"/>
                  </a:lnTo>
                  <a:lnTo>
                    <a:pt x="2287" y="1252024"/>
                  </a:lnTo>
                  <a:lnTo>
                    <a:pt x="0" y="1238177"/>
                  </a:lnTo>
                  <a:lnTo>
                    <a:pt x="0" y="12334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3962329" y="0"/>
                  </a:lnTo>
                  <a:lnTo>
                    <a:pt x="4001225" y="14645"/>
                  </a:lnTo>
                  <a:lnTo>
                    <a:pt x="4025429" y="48432"/>
                  </a:lnTo>
                  <a:lnTo>
                    <a:pt x="4029075" y="66746"/>
                  </a:lnTo>
                  <a:lnTo>
                    <a:pt x="4029075" y="1238177"/>
                  </a:lnTo>
                  <a:lnTo>
                    <a:pt x="4014428" y="1277075"/>
                  </a:lnTo>
                  <a:lnTo>
                    <a:pt x="3980640" y="1301281"/>
                  </a:lnTo>
                  <a:lnTo>
                    <a:pt x="3966974" y="1304466"/>
                  </a:lnTo>
                  <a:lnTo>
                    <a:pt x="3962329" y="130492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29360" y="3776662"/>
              <a:ext cx="4029075" cy="1304925"/>
            </a:xfrm>
            <a:custGeom>
              <a:avLst/>
              <a:gdLst/>
              <a:ahLst/>
              <a:cxnLst/>
              <a:rect l="l" t="t" r="r" b="b"/>
              <a:pathLst>
                <a:path w="4029075" h="1304925">
                  <a:moveTo>
                    <a:pt x="0" y="12334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1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1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957637" y="0"/>
                  </a:lnTo>
                  <a:lnTo>
                    <a:pt x="3962329" y="0"/>
                  </a:lnTo>
                  <a:lnTo>
                    <a:pt x="3966974" y="457"/>
                  </a:lnTo>
                  <a:lnTo>
                    <a:pt x="4004833" y="17606"/>
                  </a:lnTo>
                  <a:lnTo>
                    <a:pt x="4017033" y="31748"/>
                  </a:lnTo>
                  <a:lnTo>
                    <a:pt x="4019640" y="35648"/>
                  </a:lnTo>
                  <a:lnTo>
                    <a:pt x="4029075" y="66746"/>
                  </a:lnTo>
                  <a:lnTo>
                    <a:pt x="4029075" y="71437"/>
                  </a:lnTo>
                  <a:lnTo>
                    <a:pt x="4029075" y="1233487"/>
                  </a:lnTo>
                  <a:lnTo>
                    <a:pt x="4029075" y="1238177"/>
                  </a:lnTo>
                  <a:lnTo>
                    <a:pt x="4028616" y="1242823"/>
                  </a:lnTo>
                  <a:lnTo>
                    <a:pt x="4027701" y="1247423"/>
                  </a:lnTo>
                  <a:lnTo>
                    <a:pt x="4026785" y="1252024"/>
                  </a:lnTo>
                  <a:lnTo>
                    <a:pt x="4025429" y="1256491"/>
                  </a:lnTo>
                  <a:lnTo>
                    <a:pt x="4023635" y="1260824"/>
                  </a:lnTo>
                  <a:lnTo>
                    <a:pt x="4021841" y="1265158"/>
                  </a:lnTo>
                  <a:lnTo>
                    <a:pt x="4019640" y="1269275"/>
                  </a:lnTo>
                  <a:lnTo>
                    <a:pt x="4017033" y="1273175"/>
                  </a:lnTo>
                  <a:lnTo>
                    <a:pt x="4014428" y="1277075"/>
                  </a:lnTo>
                  <a:lnTo>
                    <a:pt x="3997325" y="1292884"/>
                  </a:lnTo>
                  <a:lnTo>
                    <a:pt x="3993424" y="1295490"/>
                  </a:lnTo>
                  <a:lnTo>
                    <a:pt x="3989307" y="1297691"/>
                  </a:lnTo>
                  <a:lnTo>
                    <a:pt x="3984974" y="1299486"/>
                  </a:lnTo>
                  <a:lnTo>
                    <a:pt x="3980640" y="1301281"/>
                  </a:lnTo>
                  <a:lnTo>
                    <a:pt x="3976174" y="1302636"/>
                  </a:lnTo>
                  <a:lnTo>
                    <a:pt x="3971573" y="1303551"/>
                  </a:lnTo>
                  <a:lnTo>
                    <a:pt x="3966974" y="1304466"/>
                  </a:lnTo>
                  <a:lnTo>
                    <a:pt x="3962329" y="1304924"/>
                  </a:lnTo>
                  <a:lnTo>
                    <a:pt x="3957637" y="1304924"/>
                  </a:lnTo>
                  <a:lnTo>
                    <a:pt x="71438" y="1304924"/>
                  </a:lnTo>
                  <a:lnTo>
                    <a:pt x="66747" y="1304924"/>
                  </a:lnTo>
                  <a:lnTo>
                    <a:pt x="62101" y="1304466"/>
                  </a:lnTo>
                  <a:lnTo>
                    <a:pt x="57501" y="1303551"/>
                  </a:lnTo>
                  <a:lnTo>
                    <a:pt x="52900" y="1302636"/>
                  </a:lnTo>
                  <a:lnTo>
                    <a:pt x="48433" y="1301281"/>
                  </a:lnTo>
                  <a:lnTo>
                    <a:pt x="44099" y="1299486"/>
                  </a:lnTo>
                  <a:lnTo>
                    <a:pt x="39765" y="1297691"/>
                  </a:lnTo>
                  <a:lnTo>
                    <a:pt x="35648" y="1295490"/>
                  </a:lnTo>
                  <a:lnTo>
                    <a:pt x="31748" y="1292884"/>
                  </a:lnTo>
                  <a:lnTo>
                    <a:pt x="27848" y="1290279"/>
                  </a:lnTo>
                  <a:lnTo>
                    <a:pt x="24240" y="1287317"/>
                  </a:lnTo>
                  <a:lnTo>
                    <a:pt x="20923" y="1284001"/>
                  </a:lnTo>
                  <a:lnTo>
                    <a:pt x="17606" y="1280683"/>
                  </a:lnTo>
                  <a:lnTo>
                    <a:pt x="14645" y="1277075"/>
                  </a:lnTo>
                  <a:lnTo>
                    <a:pt x="12039" y="1273175"/>
                  </a:lnTo>
                  <a:lnTo>
                    <a:pt x="9433" y="1269275"/>
                  </a:lnTo>
                  <a:lnTo>
                    <a:pt x="7232" y="1265158"/>
                  </a:lnTo>
                  <a:lnTo>
                    <a:pt x="5437" y="1260824"/>
                  </a:lnTo>
                  <a:lnTo>
                    <a:pt x="3642" y="1256491"/>
                  </a:lnTo>
                  <a:lnTo>
                    <a:pt x="2287" y="1252024"/>
                  </a:lnTo>
                  <a:lnTo>
                    <a:pt x="1371" y="1247423"/>
                  </a:lnTo>
                  <a:lnTo>
                    <a:pt x="457" y="1242823"/>
                  </a:lnTo>
                  <a:lnTo>
                    <a:pt x="0" y="1238177"/>
                  </a:lnTo>
                  <a:lnTo>
                    <a:pt x="0" y="1233487"/>
                  </a:lnTo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4624" y="3990974"/>
              <a:ext cx="190499" cy="19049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311899" y="3689350"/>
            <a:ext cx="700405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b="1" spc="-80" dirty="0">
                <a:solidFill>
                  <a:srgbClr val="374050"/>
                </a:solidFill>
                <a:latin typeface="Roboto"/>
                <a:cs typeface="Roboto"/>
              </a:rPr>
              <a:t>Contato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16725" y="4312761"/>
            <a:ext cx="2021205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75" dirty="0">
                <a:solidFill>
                  <a:srgbClr val="333A40"/>
                </a:solidFill>
                <a:latin typeface="Arial"/>
                <a:cs typeface="Arial"/>
              </a:rPr>
              <a:t>Pável</a:t>
            </a:r>
            <a:r>
              <a:rPr sz="1300" spc="-4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333A40"/>
                </a:solidFill>
                <a:latin typeface="Arial"/>
                <a:cs typeface="Arial"/>
              </a:rPr>
              <a:t>Emmanuel</a:t>
            </a:r>
            <a:r>
              <a:rPr sz="13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300" spc="-70" dirty="0">
                <a:solidFill>
                  <a:srgbClr val="333A40"/>
                </a:solidFill>
                <a:latin typeface="Arial"/>
                <a:cs typeface="Arial"/>
              </a:rPr>
              <a:t>Pereira</a:t>
            </a:r>
            <a:r>
              <a:rPr sz="1300" spc="-45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300" spc="-30" dirty="0">
                <a:solidFill>
                  <a:srgbClr val="333A40"/>
                </a:solidFill>
                <a:latin typeface="Arial"/>
                <a:cs typeface="Arial"/>
              </a:rPr>
              <a:t>Lelis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523582" y="4718844"/>
            <a:ext cx="193040" cy="509905"/>
            <a:chOff x="6523582" y="4357687"/>
            <a:chExt cx="193040" cy="509905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4624" y="4357687"/>
              <a:ext cx="190499" cy="14287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23582" y="4676477"/>
              <a:ext cx="192546" cy="190797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816725" y="4655661"/>
            <a:ext cx="1257300" cy="2173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75" dirty="0" err="1">
                <a:solidFill>
                  <a:srgbClr val="333A40"/>
                </a:solidFill>
                <a:latin typeface="Arial"/>
                <a:cs typeface="Arial"/>
              </a:rPr>
              <a:t>pavel</a:t>
            </a:r>
            <a:r>
              <a:rPr sz="1300" spc="-75" dirty="0">
                <a:solidFill>
                  <a:srgbClr val="333A40"/>
                </a:solidFill>
                <a:latin typeface="Arial"/>
                <a:cs typeface="Arial"/>
              </a:rPr>
              <a:t>@</a:t>
            </a:r>
            <a:r>
              <a:rPr sz="1300" spc="-16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300" spc="-45" dirty="0">
                <a:solidFill>
                  <a:srgbClr val="333A40"/>
                </a:solidFill>
                <a:latin typeface="Arial"/>
                <a:cs typeface="Arial"/>
              </a:rPr>
              <a:t>usp.br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16725" y="4998561"/>
            <a:ext cx="1828800" cy="2292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00" spc="-60" dirty="0">
                <a:solidFill>
                  <a:srgbClr val="333A40"/>
                </a:solidFill>
                <a:latin typeface="Arial"/>
                <a:cs typeface="Arial"/>
              </a:rPr>
              <a:t>Universidade</a:t>
            </a:r>
            <a:r>
              <a:rPr sz="13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300" spc="-75" dirty="0">
                <a:solidFill>
                  <a:srgbClr val="333A40"/>
                </a:solidFill>
                <a:latin typeface="Arial"/>
                <a:cs typeface="Arial"/>
              </a:rPr>
              <a:t>de</a:t>
            </a:r>
            <a:r>
              <a:rPr sz="13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300" spc="-95" dirty="0">
                <a:solidFill>
                  <a:srgbClr val="333A40"/>
                </a:solidFill>
                <a:latin typeface="Arial"/>
                <a:cs typeface="Arial"/>
              </a:rPr>
              <a:t>São</a:t>
            </a:r>
            <a:r>
              <a:rPr sz="1300" spc="-40" dirty="0">
                <a:solidFill>
                  <a:srgbClr val="333A40"/>
                </a:solidFill>
                <a:latin typeface="Arial"/>
                <a:cs typeface="Arial"/>
              </a:rPr>
              <a:t> </a:t>
            </a:r>
            <a:r>
              <a:rPr sz="1300" spc="-60" dirty="0">
                <a:solidFill>
                  <a:srgbClr val="333A40"/>
                </a:solidFill>
                <a:latin typeface="Arial"/>
                <a:cs typeface="Arial"/>
              </a:rPr>
              <a:t>Paulo</a:t>
            </a:r>
            <a:endParaRPr sz="13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242736" y="29127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49" y="571499"/>
                </a:moveTo>
                <a:lnTo>
                  <a:pt x="243821" y="568407"/>
                </a:lnTo>
                <a:lnTo>
                  <a:pt x="202801" y="559195"/>
                </a:lnTo>
                <a:lnTo>
                  <a:pt x="163576" y="544064"/>
                </a:lnTo>
                <a:lnTo>
                  <a:pt x="126995" y="523342"/>
                </a:lnTo>
                <a:lnTo>
                  <a:pt x="93851" y="497476"/>
                </a:lnTo>
                <a:lnTo>
                  <a:pt x="64862" y="467027"/>
                </a:lnTo>
                <a:lnTo>
                  <a:pt x="40653" y="432654"/>
                </a:lnTo>
                <a:lnTo>
                  <a:pt x="21751" y="395101"/>
                </a:lnTo>
                <a:lnTo>
                  <a:pt x="8563" y="355181"/>
                </a:lnTo>
                <a:lnTo>
                  <a:pt x="1375" y="313758"/>
                </a:lnTo>
                <a:lnTo>
                  <a:pt x="0" y="285749"/>
                </a:lnTo>
                <a:lnTo>
                  <a:pt x="343" y="271728"/>
                </a:lnTo>
                <a:lnTo>
                  <a:pt x="5490" y="230002"/>
                </a:lnTo>
                <a:lnTo>
                  <a:pt x="16703" y="189483"/>
                </a:lnTo>
                <a:lnTo>
                  <a:pt x="33740" y="151048"/>
                </a:lnTo>
                <a:lnTo>
                  <a:pt x="56233" y="115528"/>
                </a:lnTo>
                <a:lnTo>
                  <a:pt x="83694" y="83694"/>
                </a:lnTo>
                <a:lnTo>
                  <a:pt x="115528" y="56233"/>
                </a:lnTo>
                <a:lnTo>
                  <a:pt x="151048" y="33740"/>
                </a:lnTo>
                <a:lnTo>
                  <a:pt x="189483" y="16703"/>
                </a:lnTo>
                <a:lnTo>
                  <a:pt x="230002" y="5490"/>
                </a:lnTo>
                <a:lnTo>
                  <a:pt x="271728" y="343"/>
                </a:lnTo>
                <a:lnTo>
                  <a:pt x="285749" y="0"/>
                </a:lnTo>
                <a:lnTo>
                  <a:pt x="299771" y="343"/>
                </a:lnTo>
                <a:lnTo>
                  <a:pt x="341496" y="5490"/>
                </a:lnTo>
                <a:lnTo>
                  <a:pt x="382016" y="16703"/>
                </a:lnTo>
                <a:lnTo>
                  <a:pt x="420451" y="33740"/>
                </a:lnTo>
                <a:lnTo>
                  <a:pt x="455971" y="56233"/>
                </a:lnTo>
                <a:lnTo>
                  <a:pt x="487805" y="83694"/>
                </a:lnTo>
                <a:lnTo>
                  <a:pt x="515266" y="115528"/>
                </a:lnTo>
                <a:lnTo>
                  <a:pt x="537758" y="151048"/>
                </a:lnTo>
                <a:lnTo>
                  <a:pt x="554796" y="189483"/>
                </a:lnTo>
                <a:lnTo>
                  <a:pt x="566009" y="230002"/>
                </a:lnTo>
                <a:lnTo>
                  <a:pt x="571155" y="271728"/>
                </a:lnTo>
                <a:lnTo>
                  <a:pt x="571499" y="285749"/>
                </a:lnTo>
                <a:lnTo>
                  <a:pt x="571155" y="299771"/>
                </a:lnTo>
                <a:lnTo>
                  <a:pt x="566009" y="341496"/>
                </a:lnTo>
                <a:lnTo>
                  <a:pt x="554796" y="382016"/>
                </a:lnTo>
                <a:lnTo>
                  <a:pt x="537758" y="420451"/>
                </a:lnTo>
                <a:lnTo>
                  <a:pt x="515266" y="455971"/>
                </a:lnTo>
                <a:lnTo>
                  <a:pt x="487805" y="487805"/>
                </a:lnTo>
                <a:lnTo>
                  <a:pt x="455971" y="515266"/>
                </a:lnTo>
                <a:lnTo>
                  <a:pt x="420451" y="537758"/>
                </a:lnTo>
                <a:lnTo>
                  <a:pt x="382016" y="554796"/>
                </a:lnTo>
                <a:lnTo>
                  <a:pt x="341496" y="566009"/>
                </a:lnTo>
                <a:lnTo>
                  <a:pt x="299771" y="571155"/>
                </a:lnTo>
                <a:lnTo>
                  <a:pt x="285749" y="571499"/>
                </a:lnTo>
                <a:close/>
              </a:path>
            </a:pathLst>
          </a:custGeom>
          <a:solidFill>
            <a:srgbClr val="3398DA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762321" y="587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5" y="296336"/>
                </a:lnTo>
                <a:lnTo>
                  <a:pt x="11130" y="254667"/>
                </a:lnTo>
                <a:lnTo>
                  <a:pt x="915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200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2"/>
                </a:lnTo>
                <a:lnTo>
                  <a:pt x="372799" y="135200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7"/>
                </a:lnTo>
                <a:lnTo>
                  <a:pt x="325203" y="325203"/>
                </a:lnTo>
                <a:lnTo>
                  <a:pt x="288427" y="353904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3398DA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658476" y="74447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245923" y="476249"/>
                </a:moveTo>
                <a:lnTo>
                  <a:pt x="230326" y="476249"/>
                </a:lnTo>
                <a:lnTo>
                  <a:pt x="222545" y="475867"/>
                </a:lnTo>
                <a:lnTo>
                  <a:pt x="184020" y="470152"/>
                </a:lnTo>
                <a:lnTo>
                  <a:pt x="139793" y="455139"/>
                </a:lnTo>
                <a:lnTo>
                  <a:pt x="99345" y="431785"/>
                </a:lnTo>
                <a:lnTo>
                  <a:pt x="64230" y="400990"/>
                </a:lnTo>
                <a:lnTo>
                  <a:pt x="35798" y="363935"/>
                </a:lnTo>
                <a:lnTo>
                  <a:pt x="15141" y="322046"/>
                </a:lnTo>
                <a:lnTo>
                  <a:pt x="3054" y="276931"/>
                </a:lnTo>
                <a:lnTo>
                  <a:pt x="0" y="245923"/>
                </a:lnTo>
                <a:lnTo>
                  <a:pt x="0" y="230326"/>
                </a:lnTo>
                <a:lnTo>
                  <a:pt x="6096" y="184020"/>
                </a:lnTo>
                <a:lnTo>
                  <a:pt x="21110" y="139793"/>
                </a:lnTo>
                <a:lnTo>
                  <a:pt x="44464" y="99345"/>
                </a:lnTo>
                <a:lnTo>
                  <a:pt x="75259" y="64230"/>
                </a:lnTo>
                <a:lnTo>
                  <a:pt x="112314" y="35798"/>
                </a:lnTo>
                <a:lnTo>
                  <a:pt x="154203" y="15141"/>
                </a:lnTo>
                <a:lnTo>
                  <a:pt x="199318" y="3054"/>
                </a:lnTo>
                <a:lnTo>
                  <a:pt x="230326" y="0"/>
                </a:lnTo>
                <a:lnTo>
                  <a:pt x="245923" y="0"/>
                </a:lnTo>
                <a:lnTo>
                  <a:pt x="292229" y="6096"/>
                </a:lnTo>
                <a:lnTo>
                  <a:pt x="336456" y="21110"/>
                </a:lnTo>
                <a:lnTo>
                  <a:pt x="376904" y="44464"/>
                </a:lnTo>
                <a:lnTo>
                  <a:pt x="412019" y="75259"/>
                </a:lnTo>
                <a:lnTo>
                  <a:pt x="440451" y="112314"/>
                </a:lnTo>
                <a:lnTo>
                  <a:pt x="461108" y="154203"/>
                </a:lnTo>
                <a:lnTo>
                  <a:pt x="473195" y="199318"/>
                </a:lnTo>
                <a:lnTo>
                  <a:pt x="476249" y="230326"/>
                </a:lnTo>
                <a:lnTo>
                  <a:pt x="476249" y="238124"/>
                </a:lnTo>
                <a:lnTo>
                  <a:pt x="476249" y="245923"/>
                </a:lnTo>
                <a:lnTo>
                  <a:pt x="470152" y="292229"/>
                </a:lnTo>
                <a:lnTo>
                  <a:pt x="455139" y="336456"/>
                </a:lnTo>
                <a:lnTo>
                  <a:pt x="431785" y="376904"/>
                </a:lnTo>
                <a:lnTo>
                  <a:pt x="400990" y="412019"/>
                </a:lnTo>
                <a:lnTo>
                  <a:pt x="363935" y="440451"/>
                </a:lnTo>
                <a:lnTo>
                  <a:pt x="322046" y="461108"/>
                </a:lnTo>
                <a:lnTo>
                  <a:pt x="276931" y="473195"/>
                </a:lnTo>
                <a:lnTo>
                  <a:pt x="253703" y="475867"/>
                </a:lnTo>
                <a:lnTo>
                  <a:pt x="245923" y="476249"/>
                </a:lnTo>
                <a:close/>
              </a:path>
            </a:pathLst>
          </a:custGeom>
          <a:solidFill>
            <a:srgbClr val="3398DA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534399" y="76200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221331" y="428624"/>
                </a:moveTo>
                <a:lnTo>
                  <a:pt x="207293" y="428624"/>
                </a:lnTo>
                <a:lnTo>
                  <a:pt x="200291" y="428280"/>
                </a:lnTo>
                <a:lnTo>
                  <a:pt x="158817" y="421434"/>
                </a:lnTo>
                <a:lnTo>
                  <a:pt x="119476" y="406627"/>
                </a:lnTo>
                <a:lnTo>
                  <a:pt x="83779" y="384431"/>
                </a:lnTo>
                <a:lnTo>
                  <a:pt x="53099" y="355696"/>
                </a:lnTo>
                <a:lnTo>
                  <a:pt x="28614" y="321528"/>
                </a:lnTo>
                <a:lnTo>
                  <a:pt x="11265" y="283240"/>
                </a:lnTo>
                <a:lnTo>
                  <a:pt x="1719" y="242303"/>
                </a:lnTo>
                <a:lnTo>
                  <a:pt x="0" y="221331"/>
                </a:lnTo>
                <a:lnTo>
                  <a:pt x="0" y="207293"/>
                </a:lnTo>
                <a:lnTo>
                  <a:pt x="5487" y="165618"/>
                </a:lnTo>
                <a:lnTo>
                  <a:pt x="18999" y="125813"/>
                </a:lnTo>
                <a:lnTo>
                  <a:pt x="40017" y="89410"/>
                </a:lnTo>
                <a:lnTo>
                  <a:pt x="67733" y="57807"/>
                </a:lnTo>
                <a:lnTo>
                  <a:pt x="101082" y="32218"/>
                </a:lnTo>
                <a:lnTo>
                  <a:pt x="138783" y="13627"/>
                </a:lnTo>
                <a:lnTo>
                  <a:pt x="179386" y="2748"/>
                </a:lnTo>
                <a:lnTo>
                  <a:pt x="207293" y="0"/>
                </a:lnTo>
                <a:lnTo>
                  <a:pt x="221331" y="0"/>
                </a:lnTo>
                <a:lnTo>
                  <a:pt x="263006" y="5487"/>
                </a:lnTo>
                <a:lnTo>
                  <a:pt x="302810" y="18999"/>
                </a:lnTo>
                <a:lnTo>
                  <a:pt x="339214" y="40017"/>
                </a:lnTo>
                <a:lnTo>
                  <a:pt x="370817" y="67733"/>
                </a:lnTo>
                <a:lnTo>
                  <a:pt x="396406" y="101082"/>
                </a:lnTo>
                <a:lnTo>
                  <a:pt x="414997" y="138783"/>
                </a:lnTo>
                <a:lnTo>
                  <a:pt x="425876" y="179386"/>
                </a:lnTo>
                <a:lnTo>
                  <a:pt x="428624" y="207293"/>
                </a:lnTo>
                <a:lnTo>
                  <a:pt x="428624" y="214312"/>
                </a:lnTo>
                <a:lnTo>
                  <a:pt x="428624" y="221331"/>
                </a:lnTo>
                <a:lnTo>
                  <a:pt x="423137" y="263006"/>
                </a:lnTo>
                <a:lnTo>
                  <a:pt x="409625" y="302810"/>
                </a:lnTo>
                <a:lnTo>
                  <a:pt x="388607" y="339214"/>
                </a:lnTo>
                <a:lnTo>
                  <a:pt x="360891" y="370817"/>
                </a:lnTo>
                <a:lnTo>
                  <a:pt x="327541" y="396406"/>
                </a:lnTo>
                <a:lnTo>
                  <a:pt x="289841" y="414997"/>
                </a:lnTo>
                <a:lnTo>
                  <a:pt x="249238" y="425876"/>
                </a:lnTo>
                <a:lnTo>
                  <a:pt x="228333" y="428280"/>
                </a:lnTo>
                <a:lnTo>
                  <a:pt x="221331" y="428624"/>
                </a:lnTo>
                <a:close/>
              </a:path>
            </a:pathLst>
          </a:custGeom>
          <a:solidFill>
            <a:srgbClr val="3398DA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315199" y="76200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166687" y="333374"/>
                </a:moveTo>
                <a:lnTo>
                  <a:pt x="126175" y="328378"/>
                </a:lnTo>
                <a:lnTo>
                  <a:pt x="88110" y="313694"/>
                </a:lnTo>
                <a:lnTo>
                  <a:pt x="54753" y="290202"/>
                </a:lnTo>
                <a:lnTo>
                  <a:pt x="28091" y="259294"/>
                </a:lnTo>
                <a:lnTo>
                  <a:pt x="9739" y="222833"/>
                </a:lnTo>
                <a:lnTo>
                  <a:pt x="800" y="183025"/>
                </a:lnTo>
                <a:lnTo>
                  <a:pt x="0" y="166687"/>
                </a:lnTo>
                <a:lnTo>
                  <a:pt x="200" y="158498"/>
                </a:lnTo>
                <a:lnTo>
                  <a:pt x="7175" y="118300"/>
                </a:lnTo>
                <a:lnTo>
                  <a:pt x="23708" y="81000"/>
                </a:lnTo>
                <a:lnTo>
                  <a:pt x="48821" y="48821"/>
                </a:lnTo>
                <a:lnTo>
                  <a:pt x="81000" y="23708"/>
                </a:lnTo>
                <a:lnTo>
                  <a:pt x="118300" y="7175"/>
                </a:lnTo>
                <a:lnTo>
                  <a:pt x="158498" y="200"/>
                </a:lnTo>
                <a:lnTo>
                  <a:pt x="166687" y="0"/>
                </a:lnTo>
                <a:lnTo>
                  <a:pt x="174876" y="200"/>
                </a:lnTo>
                <a:lnTo>
                  <a:pt x="215074" y="7175"/>
                </a:lnTo>
                <a:lnTo>
                  <a:pt x="252373" y="23708"/>
                </a:lnTo>
                <a:lnTo>
                  <a:pt x="284553" y="48821"/>
                </a:lnTo>
                <a:lnTo>
                  <a:pt x="309666" y="81000"/>
                </a:lnTo>
                <a:lnTo>
                  <a:pt x="326199" y="118300"/>
                </a:lnTo>
                <a:lnTo>
                  <a:pt x="333174" y="158498"/>
                </a:lnTo>
                <a:lnTo>
                  <a:pt x="333374" y="166687"/>
                </a:lnTo>
                <a:lnTo>
                  <a:pt x="333174" y="174876"/>
                </a:lnTo>
                <a:lnTo>
                  <a:pt x="326199" y="215074"/>
                </a:lnTo>
                <a:lnTo>
                  <a:pt x="309666" y="252373"/>
                </a:lnTo>
                <a:lnTo>
                  <a:pt x="284553" y="284553"/>
                </a:lnTo>
                <a:lnTo>
                  <a:pt x="252373" y="309666"/>
                </a:lnTo>
                <a:lnTo>
                  <a:pt x="215074" y="326199"/>
                </a:lnTo>
                <a:lnTo>
                  <a:pt x="174876" y="333174"/>
                </a:lnTo>
                <a:lnTo>
                  <a:pt x="166687" y="333374"/>
                </a:lnTo>
                <a:close/>
              </a:path>
            </a:pathLst>
          </a:custGeom>
          <a:solidFill>
            <a:srgbClr val="3398DA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562E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2177</TotalTime>
  <Words>1168</Words>
  <Application>Microsoft Office PowerPoint</Application>
  <PresentationFormat>Personalizar</PresentationFormat>
  <Paragraphs>163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5" baseType="lpstr">
      <vt:lpstr>Aptos</vt:lpstr>
      <vt:lpstr>Arial</vt:lpstr>
      <vt:lpstr>Arial Nova</vt:lpstr>
      <vt:lpstr>Bookman Old Style</vt:lpstr>
      <vt:lpstr>Calibri</vt:lpstr>
      <vt:lpstr>Candara</vt:lpstr>
      <vt:lpstr>Gadugi</vt:lpstr>
      <vt:lpstr>Lucida Sans</vt:lpstr>
      <vt:lpstr>Roboto</vt:lpstr>
      <vt:lpstr>Roboto Medium</vt:lpstr>
      <vt:lpstr>Times New Roman</vt:lpstr>
      <vt:lpstr>Trebuchet MS</vt:lpstr>
      <vt:lpstr>Ubuntu Light</vt:lpstr>
      <vt:lpstr>Office Theme</vt:lpstr>
      <vt:lpstr>Apresentação do PowerPoint</vt:lpstr>
      <vt:lpstr>Problemas de Otimização Dinâmica</vt:lpstr>
      <vt:lpstr>Histórico do trabalho</vt:lpstr>
      <vt:lpstr>Histórico do trabalho</vt:lpstr>
      <vt:lpstr>Estrutura e Implementação em Python</vt:lpstr>
      <vt:lpstr>Configuração Experimental &amp; Benchmark</vt:lpstr>
      <vt:lpstr>Configuração Experimental &amp; Benchmark</vt:lpstr>
      <vt:lpstr>Configuração Experimental &amp; Benchmark</vt:lpstr>
      <vt:lpstr>Validação Estatística dos Resultados</vt:lpstr>
      <vt:lpstr>Conclusão e Perspectivas Futuras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Pável Lelis</dc:creator>
  <cp:lastModifiedBy>Pável Lelis</cp:lastModifiedBy>
  <cp:revision>3</cp:revision>
  <dcterms:created xsi:type="dcterms:W3CDTF">2025-06-11T02:38:42Z</dcterms:created>
  <dcterms:modified xsi:type="dcterms:W3CDTF">2025-06-18T17:38:17Z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2025-06-11T00:00:00Z</vt:filetime>
  </property>
  <property fmtid="{D5CDD505-2E9C-101B-9397-08002B2CF9AE}" pid="3" name="Producer">
    <vt:lpwstr>pypdf</vt:lpwstr>
  </property>
  <property fmtid="{D5CDD505-2E9C-101B-9397-08002B2CF9AE}" pid="4" name="LastSaved">
    <vt:filetime>2025-06-11T00:00:00Z</vt:filetime>
  </property>
</Properties>
</file>